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 id="2147483671" r:id="rId2"/>
  </p:sldMasterIdLst>
  <p:notesMasterIdLst>
    <p:notesMasterId r:id="rId19"/>
  </p:notesMasterIdLst>
  <p:sldIdLst>
    <p:sldId id="256" r:id="rId3"/>
    <p:sldId id="257" r:id="rId4"/>
    <p:sldId id="258" r:id="rId5"/>
    <p:sldId id="259" r:id="rId6"/>
    <p:sldId id="260" r:id="rId7"/>
    <p:sldId id="261" r:id="rId8"/>
    <p:sldId id="262" r:id="rId9"/>
    <p:sldId id="263" r:id="rId10"/>
    <p:sldId id="264" r:id="rId11"/>
    <p:sldId id="265" r:id="rId12"/>
    <p:sldId id="270" r:id="rId13"/>
    <p:sldId id="271" r:id="rId14"/>
    <p:sldId id="266" r:id="rId15"/>
    <p:sldId id="267" r:id="rId16"/>
    <p:sldId id="268" r:id="rId17"/>
    <p:sldId id="269"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691" y="5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b0657ca3e8_2_7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7" name="Google Shape;127;g3b0657ca3e8_2_7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Bienvenue à cette présentation sur l'algorithme d'arbre de décision QUEST.</a:t>
            </a:r>
            <a:endParaRPr/>
          </a:p>
          <a:p>
            <a:pPr marL="0" lvl="0" indent="0" algn="l" rtl="0">
              <a:spcBef>
                <a:spcPts val="0"/>
              </a:spcBef>
              <a:spcAft>
                <a:spcPts val="0"/>
              </a:spcAft>
              <a:buNone/>
            </a:pPr>
            <a:r>
              <a:rPr lang="en"/>
              <a:t>    </a:t>
            </a:r>
            <a:endParaRPr/>
          </a:p>
          <a:p>
            <a:pPr marL="0" lvl="0" indent="0" algn="l" rtl="0">
              <a:spcBef>
                <a:spcPts val="0"/>
              </a:spcBef>
              <a:spcAft>
                <a:spcPts val="0"/>
              </a:spcAft>
              <a:buNone/>
            </a:pPr>
            <a:r>
              <a:rPr lang="en"/>
              <a:t>QUEST signifie Quick, Unbiased, Efficient Statistical Tree (Arbre Statistique Rapide, Non Biaisé et Efficace) — un algorithme d'arbre de classification développé par Wei-Yin Loh et Yu-Shan Shih en 1997.</a:t>
            </a:r>
            <a:endParaRPr/>
          </a:p>
          <a:p>
            <a:pPr marL="0" lvl="0" indent="0" algn="l" rtl="0">
              <a:spcBef>
                <a:spcPts val="0"/>
              </a:spcBef>
              <a:spcAft>
                <a:spcPts val="0"/>
              </a:spcAft>
              <a:buNone/>
            </a:pPr>
            <a:endParaRPr/>
          </a:p>
          <a:p>
            <a:pPr marL="0" lvl="0" indent="0" algn="l" rtl="0">
              <a:spcBef>
                <a:spcPts val="0"/>
              </a:spcBef>
              <a:spcAft>
                <a:spcPts val="0"/>
              </a:spcAft>
              <a:buNone/>
            </a:pPr>
            <a:r>
              <a:rPr lang="en"/>
              <a:t>Cette présentation expliquera les concepts clés, les algorithmes et les avantages de QUEST par rapport aux méthodes traditionnelles d'arbres de décision comme CART et C4.5.</a:t>
            </a:r>
            <a:endParaRPr/>
          </a:p>
          <a:p>
            <a:pPr marL="0" lvl="0" indent="0" algn="l" rtl="0">
              <a:spcBef>
                <a:spcPts val="0"/>
              </a:spcBef>
              <a:spcAft>
                <a:spcPts val="0"/>
              </a:spcAft>
              <a:buNone/>
            </a:pPr>
            <a:endParaRPr/>
          </a:p>
          <a:p>
            <a:pPr marL="0" lvl="0" indent="0" algn="l" rtl="0">
              <a:spcBef>
                <a:spcPts val="0"/>
              </a:spcBef>
              <a:spcAft>
                <a:spcPts val="0"/>
              </a:spcAft>
              <a:buNone/>
            </a:pPr>
            <a:r>
              <a:rPr lang="en"/>
              <a:t>L'accent sera mis sur la compréhension des fondements statistiques et de l'approche innovante de QUEST pour obtenir une sélection de variables non biaisée.</a:t>
            </a:r>
            <a:endParaRPr/>
          </a:p>
        </p:txBody>
      </p:sp>
      <p:sp>
        <p:nvSpPr>
          <p:cNvPr id="128" name="Google Shape;128;g3b0657ca3e8_2_7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b0657ca3e8_2_8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8" name="Google Shape;138;g3b0657ca3e8_2_8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La motivation derrière QUEST provient de problèmes bien documentés des algorithmes d'arbres de décision classiques.</a:t>
            </a:r>
            <a:endParaRPr/>
          </a:p>
          <a:p>
            <a:pPr marL="0" lvl="0" indent="0" algn="l" rtl="0">
              <a:spcBef>
                <a:spcPts val="0"/>
              </a:spcBef>
              <a:spcAft>
                <a:spcPts val="0"/>
              </a:spcAft>
              <a:buNone/>
            </a:pPr>
            <a:endParaRPr/>
          </a:p>
          <a:p>
            <a:pPr marL="0" lvl="0" indent="0" algn="l" rtl="0">
              <a:spcBef>
                <a:spcPts val="0"/>
              </a:spcBef>
              <a:spcAft>
                <a:spcPts val="0"/>
              </a:spcAft>
              <a:buNone/>
            </a:pPr>
            <a:r>
              <a:rPr lang="en"/>
              <a:t>CART, C4.5 et ID3 utilisent tous des méthodes de recherche exhaustive pour trouver la meilleure coupure, ce qui crée plusieurs problèmes :</a:t>
            </a:r>
            <a:endParaRPr/>
          </a:p>
          <a:p>
            <a:pPr marL="0" lvl="0" indent="0" algn="l" rtl="0">
              <a:spcBef>
                <a:spcPts val="0"/>
              </a:spcBef>
              <a:spcAft>
                <a:spcPts val="0"/>
              </a:spcAft>
              <a:buNone/>
            </a:pPr>
            <a:endParaRPr/>
          </a:p>
          <a:p>
            <a:pPr marL="0" lvl="0" indent="0" algn="l" rtl="0">
              <a:spcBef>
                <a:spcPts val="0"/>
              </a:spcBef>
              <a:spcAft>
                <a:spcPts val="0"/>
              </a:spcAft>
              <a:buNone/>
            </a:pPr>
            <a:r>
              <a:rPr lang="en"/>
              <a:t>1. BIAIS DE SÉLECTION DE VARIABLES : Les variables avec plus de valeurs uniques ou de catégories ont plus de chances d'être sélectionnées, non parce qu'elles sont plus prédictives, mais parce qu'elles offrent plus d'opportunités de coupure.</a:t>
            </a:r>
            <a:endParaRPr/>
          </a:p>
          <a:p>
            <a:pPr marL="0" lvl="0" indent="0" algn="l" rtl="0">
              <a:spcBef>
                <a:spcPts val="0"/>
              </a:spcBef>
              <a:spcAft>
                <a:spcPts val="0"/>
              </a:spcAft>
              <a:buNone/>
            </a:pPr>
            <a:endParaRPr/>
          </a:p>
          <a:p>
            <a:pPr marL="0" lvl="0" indent="0" algn="l" rtl="0">
              <a:spcBef>
                <a:spcPts val="0"/>
              </a:spcBef>
              <a:spcAft>
                <a:spcPts val="0"/>
              </a:spcAft>
              <a:buNone/>
            </a:pPr>
            <a:r>
              <a:rPr lang="en"/>
              <a:t>2. DOMINANCE CATÉGORIELLE : Une variable catégorique à 10 niveaux a exponentiellement plus de coupures potentielles qu'une à 2 niveaux, lui donnant un avantage injuste.</a:t>
            </a:r>
            <a:endParaRPr/>
          </a:p>
          <a:p>
            <a:pPr marL="0" lvl="0" indent="0" algn="l" rtl="0">
              <a:spcBef>
                <a:spcPts val="0"/>
              </a:spcBef>
              <a:spcAft>
                <a:spcPts val="0"/>
              </a:spcAft>
              <a:buNone/>
            </a:pPr>
            <a:endParaRPr/>
          </a:p>
          <a:p>
            <a:pPr marL="0" lvl="0" indent="0" algn="l" rtl="0">
              <a:spcBef>
                <a:spcPts val="0"/>
              </a:spcBef>
              <a:spcAft>
                <a:spcPts val="0"/>
              </a:spcAft>
              <a:buNone/>
            </a:pPr>
            <a:r>
              <a:rPr lang="en"/>
              <a:t>3. SURAPPRENTISSAGE : La recherche exhaustive tend à trouver des coupures qui s'adaptent parfaitement aux données d'entraînement mais ne généralisent pas bien.</a:t>
            </a:r>
            <a:endParaRPr/>
          </a:p>
          <a:p>
            <a:pPr marL="0" lvl="0" indent="0" algn="l" rtl="0">
              <a:spcBef>
                <a:spcPts val="0"/>
              </a:spcBef>
              <a:spcAft>
                <a:spcPts val="0"/>
              </a:spcAft>
              <a:buNone/>
            </a:pPr>
            <a:endParaRPr/>
          </a:p>
          <a:p>
            <a:pPr marL="0" lvl="0" indent="0" algn="l" rtl="0">
              <a:spcBef>
                <a:spcPts val="0"/>
              </a:spcBef>
              <a:spcAft>
                <a:spcPts val="0"/>
              </a:spcAft>
              <a:buNone/>
            </a:pPr>
            <a:r>
              <a:rPr lang="en"/>
              <a:t>Wei-Yin Loh et Yu-Shan Shih ont développé QUEST spécifiquement pour éliminer le biais de sélection tout en maintenant l'efficacité computationnelle. Leur idée clé était de séparer la sélection de variable de la détermination du point de coupure en utilisant des tests statistiques.</a:t>
            </a:r>
            <a:endParaRPr/>
          </a:p>
        </p:txBody>
      </p:sp>
      <p:sp>
        <p:nvSpPr>
          <p:cNvPr id="139" name="Google Shape;139;g3b0657ca3e8_2_8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b0657ca3e8_2_9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g3b0657ca3e8_2_9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QUEST est fondamentalement un algorithme de classification supervisée — il apprend à partir d'exemples étiquetés pour construire un arbre capable de classifier de nouvelles instances.</a:t>
            </a:r>
            <a:endParaRPr/>
          </a:p>
          <a:p>
            <a:pPr marL="0" lvl="0" indent="0" algn="l" rtl="0">
              <a:spcBef>
                <a:spcPts val="0"/>
              </a:spcBef>
              <a:spcAft>
                <a:spcPts val="0"/>
              </a:spcAft>
              <a:buNone/>
            </a:pPr>
            <a:endParaRPr/>
          </a:p>
          <a:p>
            <a:pPr marL="0" lvl="0" indent="0" algn="l" rtl="0">
              <a:spcBef>
                <a:spcPts val="0"/>
              </a:spcBef>
              <a:spcAft>
                <a:spcPts val="0"/>
              </a:spcAft>
              <a:buNone/>
            </a:pPr>
            <a:r>
              <a:rPr lang="en"/>
              <a:t>CARACTÉRISTIQUES CLÉS :</a:t>
            </a:r>
            <a:endParaRPr/>
          </a:p>
          <a:p>
            <a:pPr marL="0" lvl="0" indent="0" algn="l" rtl="0">
              <a:spcBef>
                <a:spcPts val="0"/>
              </a:spcBef>
              <a:spcAft>
                <a:spcPts val="0"/>
              </a:spcAft>
              <a:buNone/>
            </a:pPr>
            <a:endParaRPr/>
          </a:p>
          <a:p>
            <a:pPr marL="0" lvl="0" indent="0" algn="l" rtl="0">
              <a:spcBef>
                <a:spcPts val="0"/>
              </a:spcBef>
              <a:spcAft>
                <a:spcPts val="0"/>
              </a:spcAft>
              <a:buNone/>
            </a:pPr>
            <a:r>
              <a:rPr lang="en"/>
              <a:t>1. COUPURES BINAIRES : Contrairement à certains algorithmes qui permettent des coupures multi-voies, QUEST produit toujours des arbres binaires. Cela simplifie la structure de l'arbre et le processus de recherche de coupure.</a:t>
            </a:r>
            <a:endParaRPr/>
          </a:p>
          <a:p>
            <a:pPr marL="0" lvl="0" indent="0" algn="l" rtl="0">
              <a:spcBef>
                <a:spcPts val="0"/>
              </a:spcBef>
              <a:spcAft>
                <a:spcPts val="0"/>
              </a:spcAft>
              <a:buNone/>
            </a:pPr>
            <a:endParaRPr/>
          </a:p>
          <a:p>
            <a:pPr marL="0" lvl="0" indent="0" algn="l" rtl="0">
              <a:spcBef>
                <a:spcPts val="0"/>
              </a:spcBef>
              <a:spcAft>
                <a:spcPts val="0"/>
              </a:spcAft>
              <a:buNone/>
            </a:pPr>
            <a:r>
              <a:rPr lang="en"/>
              <a:t>2. FONDEMENT STATISTIQUE : QUEST utilise des tests statistiques bien établis :</a:t>
            </a:r>
            <a:endParaRPr/>
          </a:p>
          <a:p>
            <a:pPr marL="0" lvl="0" indent="0" algn="l" rtl="0">
              <a:spcBef>
                <a:spcPts val="0"/>
              </a:spcBef>
              <a:spcAft>
                <a:spcPts val="0"/>
              </a:spcAft>
              <a:buNone/>
            </a:pPr>
            <a:r>
              <a:rPr lang="en"/>
              <a:t>   - Test F d'ANOVA pour les variables continues</a:t>
            </a:r>
            <a:endParaRPr/>
          </a:p>
          <a:p>
            <a:pPr marL="0" lvl="0" indent="0" algn="l" rtl="0">
              <a:spcBef>
                <a:spcPts val="0"/>
              </a:spcBef>
              <a:spcAft>
                <a:spcPts val="0"/>
              </a:spcAft>
              <a:buNone/>
            </a:pPr>
            <a:r>
              <a:rPr lang="en"/>
              <a:t>   - Test du Chi-deux pour les variables catégorielles</a:t>
            </a:r>
            <a:endParaRPr/>
          </a:p>
          <a:p>
            <a:pPr marL="0" lvl="0" indent="0" algn="l" rtl="0">
              <a:spcBef>
                <a:spcPts val="0"/>
              </a:spcBef>
              <a:spcAft>
                <a:spcPts val="0"/>
              </a:spcAft>
              <a:buNone/>
            </a:pPr>
            <a:r>
              <a:rPr lang="en"/>
              <a:t>   - Test de Levene comme alternative lorsque les hypothèses de l'ANOVA sont violées</a:t>
            </a:r>
            <a:endParaRPr/>
          </a:p>
          <a:p>
            <a:pPr marL="0" lvl="0" indent="0" algn="l" rtl="0">
              <a:spcBef>
                <a:spcPts val="0"/>
              </a:spcBef>
              <a:spcAft>
                <a:spcPts val="0"/>
              </a:spcAft>
              <a:buNone/>
            </a:pPr>
            <a:endParaRPr/>
          </a:p>
          <a:p>
            <a:pPr marL="0" lvl="0" indent="0" algn="l" rtl="0">
              <a:spcBef>
                <a:spcPts val="0"/>
              </a:spcBef>
              <a:spcAft>
                <a:spcPts val="0"/>
              </a:spcAft>
              <a:buNone/>
            </a:pPr>
            <a:r>
              <a:rPr lang="en"/>
              <a:t>3. SÉLECTION NON BIAISÉE : L'utilisation des p-valeurs des tests statistiques garantit que les variables sont sélectionnées en fonction de leur association avec la cible, et non de leur nombre de catégories ou valeurs uniques.</a:t>
            </a:r>
            <a:endParaRPr/>
          </a:p>
          <a:p>
            <a:pPr marL="0" lvl="0" indent="0" algn="l" rtl="0">
              <a:spcBef>
                <a:spcPts val="0"/>
              </a:spcBef>
              <a:spcAft>
                <a:spcPts val="0"/>
              </a:spcAft>
              <a:buNone/>
            </a:pPr>
            <a:endParaRPr/>
          </a:p>
          <a:p>
            <a:pPr marL="0" lvl="0" indent="0" algn="l" rtl="0">
              <a:spcBef>
                <a:spcPts val="0"/>
              </a:spcBef>
              <a:spcAft>
                <a:spcPts val="0"/>
              </a:spcAft>
              <a:buNone/>
            </a:pPr>
            <a:r>
              <a:rPr lang="en"/>
              <a:t>4. EFFICACITÉ : La complexité computationnelle est O(np) où n est le nombre d'observations et p le nombre de variables prédictives — bien plus rapide que la recherche exhaustive de CART.</a:t>
            </a:r>
            <a:endParaRPr/>
          </a:p>
        </p:txBody>
      </p:sp>
      <p:sp>
        <p:nvSpPr>
          <p:cNvPr id="147" name="Google Shape;147;g3b0657ca3e8_2_9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0657ca3e8_2_10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5" name="Google Shape;155;g3b0657ca3e8_2_10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This comparison highlights the fundamental differences between QUEST and traditional algorithms.</a:t>
            </a:r>
            <a:endParaRPr/>
          </a:p>
          <a:p>
            <a:pPr marL="0" lvl="0" indent="0" algn="l" rtl="0">
              <a:spcBef>
                <a:spcPts val="0"/>
              </a:spcBef>
              <a:spcAft>
                <a:spcPts val="0"/>
              </a:spcAft>
              <a:buNone/>
            </a:pPr>
            <a:endParaRPr/>
          </a:p>
          <a:p>
            <a:pPr marL="0" lvl="0" indent="0" algn="l" rtl="0">
              <a:spcBef>
                <a:spcPts val="0"/>
              </a:spcBef>
              <a:spcAft>
                <a:spcPts val="0"/>
              </a:spcAft>
              <a:buNone/>
            </a:pPr>
            <a:r>
              <a:rPr lang="en"/>
              <a:t>VARIABLE SELECTION:</a:t>
            </a:r>
            <a:endParaRPr/>
          </a:p>
          <a:p>
            <a:pPr marL="0" lvl="0" indent="0" algn="l" rtl="0">
              <a:spcBef>
                <a:spcPts val="0"/>
              </a:spcBef>
              <a:spcAft>
                <a:spcPts val="0"/>
              </a:spcAft>
              <a:buNone/>
            </a:pPr>
            <a:r>
              <a:rPr lang="en"/>
              <a:t>- CART examines all possible splits for all variables - this is computationally expensive and biased toward variables with more potential split points</a:t>
            </a:r>
            <a:endParaRPr/>
          </a:p>
          <a:p>
            <a:pPr marL="0" lvl="0" indent="0" algn="l" rtl="0">
              <a:spcBef>
                <a:spcPts val="0"/>
              </a:spcBef>
              <a:spcAft>
                <a:spcPts val="0"/>
              </a:spcAft>
              <a:buNone/>
            </a:pPr>
            <a:r>
              <a:rPr lang="en"/>
              <a:t>- C4.5 uses information gain which is similarly biased</a:t>
            </a:r>
            <a:endParaRPr/>
          </a:p>
          <a:p>
            <a:pPr marL="0" lvl="0" indent="0" algn="l" rtl="0">
              <a:spcBef>
                <a:spcPts val="0"/>
              </a:spcBef>
              <a:spcAft>
                <a:spcPts val="0"/>
              </a:spcAft>
              <a:buNone/>
            </a:pPr>
            <a:r>
              <a:rPr lang="en"/>
              <a:t>- QUEST uses p-values from statistical tests, treating all variables fairly</a:t>
            </a:r>
            <a:endParaRPr/>
          </a:p>
          <a:p>
            <a:pPr marL="0" lvl="0" indent="0" algn="l" rtl="0">
              <a:spcBef>
                <a:spcPts val="0"/>
              </a:spcBef>
              <a:spcAft>
                <a:spcPts val="0"/>
              </a:spcAft>
              <a:buNone/>
            </a:pPr>
            <a:endParaRPr/>
          </a:p>
          <a:p>
            <a:pPr marL="0" lvl="0" indent="0" algn="l" rtl="0">
              <a:spcBef>
                <a:spcPts val="0"/>
              </a:spcBef>
              <a:spcAft>
                <a:spcPts val="0"/>
              </a:spcAft>
              <a:buNone/>
            </a:pPr>
            <a:r>
              <a:rPr lang="en"/>
              <a:t>SPLIT SELECTION:</a:t>
            </a:r>
            <a:endParaRPr/>
          </a:p>
          <a:p>
            <a:pPr marL="0" lvl="0" indent="0" algn="l" rtl="0">
              <a:spcBef>
                <a:spcPts val="0"/>
              </a:spcBef>
              <a:spcAft>
                <a:spcPts val="0"/>
              </a:spcAft>
              <a:buNone/>
            </a:pPr>
            <a:r>
              <a:rPr lang="en"/>
              <a:t>- CART uses Gini impurity to find the best split point</a:t>
            </a:r>
            <a:endParaRPr/>
          </a:p>
          <a:p>
            <a:pPr marL="0" lvl="0" indent="0" algn="l" rtl="0">
              <a:spcBef>
                <a:spcPts val="0"/>
              </a:spcBef>
              <a:spcAft>
                <a:spcPts val="0"/>
              </a:spcAft>
              <a:buNone/>
            </a:pPr>
            <a:r>
              <a:rPr lang="en"/>
              <a:t>- QUEST uses Quadratic Discriminant Analysis, which finds the optimal split point assuming class distributions are normal</a:t>
            </a:r>
            <a:endParaRPr/>
          </a:p>
          <a:p>
            <a:pPr marL="0" lvl="0" indent="0" algn="l" rtl="0">
              <a:spcBef>
                <a:spcPts val="0"/>
              </a:spcBef>
              <a:spcAft>
                <a:spcPts val="0"/>
              </a:spcAft>
              <a:buNone/>
            </a:pPr>
            <a:endParaRPr/>
          </a:p>
          <a:p>
            <a:pPr marL="0" lvl="0" indent="0" algn="l" rtl="0">
              <a:spcBef>
                <a:spcPts val="0"/>
              </a:spcBef>
              <a:spcAft>
                <a:spcPts val="0"/>
              </a:spcAft>
              <a:buNone/>
            </a:pPr>
            <a:r>
              <a:rPr lang="en"/>
              <a:t>CATEGORICAL HANDLING:</a:t>
            </a:r>
            <a:endParaRPr/>
          </a:p>
          <a:p>
            <a:pPr marL="0" lvl="0" indent="0" algn="l" rtl="0">
              <a:spcBef>
                <a:spcPts val="0"/>
              </a:spcBef>
              <a:spcAft>
                <a:spcPts val="0"/>
              </a:spcAft>
              <a:buNone/>
            </a:pPr>
            <a:r>
              <a:rPr lang="en"/>
              <a:t>- CART enumerates all possible subsets (2^(k-1) - 1 possibilities for k categories)</a:t>
            </a:r>
            <a:endParaRPr/>
          </a:p>
          <a:p>
            <a:pPr marL="0" lvl="0" indent="0" algn="l" rtl="0">
              <a:spcBef>
                <a:spcPts val="0"/>
              </a:spcBef>
              <a:spcAft>
                <a:spcPts val="0"/>
              </a:spcAft>
              <a:buNone/>
            </a:pPr>
            <a:r>
              <a:rPr lang="en"/>
              <a:t>- C4.5 creates one branch per category (can lead to data fragmentation)</a:t>
            </a:r>
            <a:endParaRPr/>
          </a:p>
          <a:p>
            <a:pPr marL="0" lvl="0" indent="0" algn="l" rtl="0">
              <a:spcBef>
                <a:spcPts val="0"/>
              </a:spcBef>
              <a:spcAft>
                <a:spcPts val="0"/>
              </a:spcAft>
              <a:buNone/>
            </a:pPr>
            <a:r>
              <a:rPr lang="en"/>
              <a:t>- QUEST transforms categorical variables to continuous using CRIMCOORDS, then treats them like continuous variables</a:t>
            </a:r>
            <a:endParaRPr/>
          </a:p>
          <a:p>
            <a:pPr marL="0" lvl="0" indent="0" algn="l" rtl="0">
              <a:spcBef>
                <a:spcPts val="0"/>
              </a:spcBef>
              <a:spcAft>
                <a:spcPts val="0"/>
              </a:spcAft>
              <a:buNone/>
            </a:pPr>
            <a:endParaRPr/>
          </a:p>
          <a:p>
            <a:pPr marL="0" lvl="0" indent="0" algn="l" rtl="0">
              <a:spcBef>
                <a:spcPts val="0"/>
              </a:spcBef>
              <a:spcAft>
                <a:spcPts val="0"/>
              </a:spcAft>
              <a:buNone/>
            </a:pPr>
            <a:r>
              <a:rPr lang="en"/>
              <a:t>COMPLEXITY:</a:t>
            </a:r>
            <a:endParaRPr/>
          </a:p>
          <a:p>
            <a:pPr marL="0" lvl="0" indent="0" algn="l" rtl="0">
              <a:spcBef>
                <a:spcPts val="0"/>
              </a:spcBef>
              <a:spcAft>
                <a:spcPts val="0"/>
              </a:spcAft>
              <a:buNone/>
            </a:pPr>
            <a:r>
              <a:rPr lang="en"/>
              <a:t>- QUEST's O(np) complexity makes it significantly faster on large datasets compared to CART's O(n²p)</a:t>
            </a:r>
            <a:endParaRPr/>
          </a:p>
          <a:p>
            <a:pPr marL="0" lvl="0" indent="0" algn="l" rtl="0">
              <a:spcBef>
                <a:spcPts val="0"/>
              </a:spcBef>
              <a:spcAft>
                <a:spcPts val="0"/>
              </a:spcAft>
              <a:buNone/>
            </a:pPr>
            <a:endParaRPr/>
          </a:p>
          <a:p>
            <a:pPr marL="0" lvl="0" indent="0" algn="l" rtl="0">
              <a:spcBef>
                <a:spcPts val="0"/>
              </a:spcBef>
              <a:spcAft>
                <a:spcPts val="0"/>
              </a:spcAft>
              <a:buNone/>
            </a:pPr>
            <a:r>
              <a:rPr lang="en"/>
              <a:t>BIAS:</a:t>
            </a:r>
            <a:endParaRPr/>
          </a:p>
          <a:p>
            <a:pPr marL="0" lvl="0" indent="0" algn="l" rtl="0">
              <a:spcBef>
                <a:spcPts val="0"/>
              </a:spcBef>
              <a:spcAft>
                <a:spcPts val="0"/>
              </a:spcAft>
              <a:buNone/>
            </a:pPr>
            <a:r>
              <a:rPr lang="en"/>
              <a:t>- Empirical studies show QUEST has negligible variable selection bias, while CART strongly favors variables with many categories or unique values.</a:t>
            </a:r>
            <a:endParaRPr/>
          </a:p>
        </p:txBody>
      </p:sp>
      <p:sp>
        <p:nvSpPr>
          <p:cNvPr id="156" name="Google Shape;156;g3b0657ca3e8_2_10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b0657ca3e8_2_13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7" name="Google Shape;187;g3b0657ca3e8_2_13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The DECOUPLING PRINCIPLE is the fundamental innovation of QUEST.</a:t>
            </a:r>
            <a:endParaRPr/>
          </a:p>
          <a:p>
            <a:pPr marL="0" lvl="0" indent="0" algn="l" rtl="0">
              <a:spcBef>
                <a:spcPts val="0"/>
              </a:spcBef>
              <a:spcAft>
                <a:spcPts val="0"/>
              </a:spcAft>
              <a:buNone/>
            </a:pPr>
            <a:endParaRPr/>
          </a:p>
          <a:p>
            <a:pPr marL="0" lvl="0" indent="0" algn="l" rtl="0">
              <a:spcBef>
                <a:spcPts val="0"/>
              </a:spcBef>
              <a:spcAft>
                <a:spcPts val="0"/>
              </a:spcAft>
              <a:buNone/>
            </a:pPr>
            <a:r>
              <a:rPr lang="en"/>
              <a:t>Traditional algorithms like CART combine variable selection and split point selection into a single exhaustive search - they try every possible split for every variable and pick the overall best.</a:t>
            </a:r>
            <a:endParaRPr/>
          </a:p>
          <a:p>
            <a:pPr marL="0" lvl="0" indent="0" algn="l" rtl="0">
              <a:spcBef>
                <a:spcPts val="0"/>
              </a:spcBef>
              <a:spcAft>
                <a:spcPts val="0"/>
              </a:spcAft>
              <a:buNone/>
            </a:pPr>
            <a:endParaRPr/>
          </a:p>
          <a:p>
            <a:pPr marL="0" lvl="0" indent="0" algn="l" rtl="0">
              <a:spcBef>
                <a:spcPts val="0"/>
              </a:spcBef>
              <a:spcAft>
                <a:spcPts val="0"/>
              </a:spcAft>
              <a:buNone/>
            </a:pPr>
            <a:r>
              <a:rPr lang="en"/>
              <a:t>QUEST separates these into two distinct phases:</a:t>
            </a:r>
            <a:endParaRPr/>
          </a:p>
          <a:p>
            <a:pPr marL="0" lvl="0" indent="0" algn="l" rtl="0">
              <a:spcBef>
                <a:spcPts val="0"/>
              </a:spcBef>
              <a:spcAft>
                <a:spcPts val="0"/>
              </a:spcAft>
              <a:buNone/>
            </a:pPr>
            <a:endParaRPr/>
          </a:p>
          <a:p>
            <a:pPr marL="0" lvl="0" indent="0" algn="l" rtl="0">
              <a:spcBef>
                <a:spcPts val="0"/>
              </a:spcBef>
              <a:spcAft>
                <a:spcPts val="0"/>
              </a:spcAft>
              <a:buNone/>
            </a:pPr>
            <a:r>
              <a:rPr lang="en"/>
              <a:t>PHASE 1 - VARIABLE SELECTION:</a:t>
            </a:r>
            <a:endParaRPr/>
          </a:p>
          <a:p>
            <a:pPr marL="0" lvl="0" indent="0" algn="l" rtl="0">
              <a:spcBef>
                <a:spcPts val="0"/>
              </a:spcBef>
              <a:spcAft>
                <a:spcPts val="0"/>
              </a:spcAft>
              <a:buNone/>
            </a:pPr>
            <a:r>
              <a:rPr lang="en"/>
              <a:t>- Each variable is tested for its association with the target class using statistical tests</a:t>
            </a:r>
            <a:endParaRPr/>
          </a:p>
          <a:p>
            <a:pPr marL="0" lvl="0" indent="0" algn="l" rtl="0">
              <a:spcBef>
                <a:spcPts val="0"/>
              </a:spcBef>
              <a:spcAft>
                <a:spcPts val="0"/>
              </a:spcAft>
              <a:buNone/>
            </a:pPr>
            <a:r>
              <a:rPr lang="en"/>
              <a:t>- ANOVA F-test for continuous variables</a:t>
            </a:r>
            <a:endParaRPr/>
          </a:p>
          <a:p>
            <a:pPr marL="0" lvl="0" indent="0" algn="l" rtl="0">
              <a:spcBef>
                <a:spcPts val="0"/>
              </a:spcBef>
              <a:spcAft>
                <a:spcPts val="0"/>
              </a:spcAft>
              <a:buNone/>
            </a:pPr>
            <a:r>
              <a:rPr lang="en"/>
              <a:t>- Chi-square test for categorical variables</a:t>
            </a:r>
            <a:endParaRPr/>
          </a:p>
          <a:p>
            <a:pPr marL="0" lvl="0" indent="0" algn="l" rtl="0">
              <a:spcBef>
                <a:spcPts val="0"/>
              </a:spcBef>
              <a:spcAft>
                <a:spcPts val="0"/>
              </a:spcAft>
              <a:buNone/>
            </a:pPr>
            <a:r>
              <a:rPr lang="en"/>
              <a:t>- The variable with the strongest association (smallest p-value) is selected</a:t>
            </a:r>
            <a:endParaRPr/>
          </a:p>
          <a:p>
            <a:pPr marL="0" lvl="0" indent="0" algn="l" rtl="0">
              <a:spcBef>
                <a:spcPts val="0"/>
              </a:spcBef>
              <a:spcAft>
                <a:spcPts val="0"/>
              </a:spcAft>
              <a:buNone/>
            </a:pPr>
            <a:r>
              <a:rPr lang="en"/>
              <a:t>- This is done WITHOUT considering any specific split points</a:t>
            </a:r>
            <a:endParaRPr/>
          </a:p>
          <a:p>
            <a:pPr marL="0" lvl="0" indent="0" algn="l" rtl="0">
              <a:spcBef>
                <a:spcPts val="0"/>
              </a:spcBef>
              <a:spcAft>
                <a:spcPts val="0"/>
              </a:spcAft>
              <a:buNone/>
            </a:pPr>
            <a:endParaRPr/>
          </a:p>
          <a:p>
            <a:pPr marL="0" lvl="0" indent="0" algn="l" rtl="0">
              <a:spcBef>
                <a:spcPts val="0"/>
              </a:spcBef>
              <a:spcAft>
                <a:spcPts val="0"/>
              </a:spcAft>
              <a:buNone/>
            </a:pPr>
            <a:r>
              <a:rPr lang="en"/>
              <a:t>PHASE 2 - SPLIT POINT SELECTION:</a:t>
            </a:r>
            <a:endParaRPr/>
          </a:p>
          <a:p>
            <a:pPr marL="0" lvl="0" indent="0" algn="l" rtl="0">
              <a:spcBef>
                <a:spcPts val="0"/>
              </a:spcBef>
              <a:spcAft>
                <a:spcPts val="0"/>
              </a:spcAft>
              <a:buNone/>
            </a:pPr>
            <a:r>
              <a:rPr lang="en"/>
              <a:t>- Only after a variable is selected do we find where to split</a:t>
            </a:r>
            <a:endParaRPr/>
          </a:p>
          <a:p>
            <a:pPr marL="0" lvl="0" indent="0" algn="l" rtl="0">
              <a:spcBef>
                <a:spcPts val="0"/>
              </a:spcBef>
              <a:spcAft>
                <a:spcPts val="0"/>
              </a:spcAft>
              <a:buNone/>
            </a:pPr>
            <a:r>
              <a:rPr lang="en"/>
              <a:t>- Uses Quadratic Discriminant Analysis</a:t>
            </a:r>
            <a:endParaRPr/>
          </a:p>
          <a:p>
            <a:pPr marL="0" lvl="0" indent="0" algn="l" rtl="0">
              <a:spcBef>
                <a:spcPts val="0"/>
              </a:spcBef>
              <a:spcAft>
                <a:spcPts val="0"/>
              </a:spcAft>
              <a:buNone/>
            </a:pPr>
            <a:r>
              <a:rPr lang="en"/>
              <a:t>- Finds the optimal boundary between classes</a:t>
            </a:r>
            <a:endParaRPr/>
          </a:p>
          <a:p>
            <a:pPr marL="0" lvl="0" indent="0" algn="l" rtl="0">
              <a:spcBef>
                <a:spcPts val="0"/>
              </a:spcBef>
              <a:spcAft>
                <a:spcPts val="0"/>
              </a:spcAft>
              <a:buNone/>
            </a:pPr>
            <a:endParaRPr/>
          </a:p>
          <a:p>
            <a:pPr marL="0" lvl="0" indent="0" algn="l" rtl="0">
              <a:spcBef>
                <a:spcPts val="0"/>
              </a:spcBef>
              <a:spcAft>
                <a:spcPts val="0"/>
              </a:spcAft>
              <a:buNone/>
            </a:pPr>
            <a:r>
              <a:rPr lang="en"/>
              <a:t>WHY THIS WORKS:</a:t>
            </a:r>
            <a:endParaRPr/>
          </a:p>
          <a:p>
            <a:pPr marL="0" lvl="0" indent="0" algn="l" rtl="0">
              <a:spcBef>
                <a:spcPts val="0"/>
              </a:spcBef>
              <a:spcAft>
                <a:spcPts val="0"/>
              </a:spcAft>
              <a:buNone/>
            </a:pPr>
            <a:r>
              <a:rPr lang="en"/>
              <a:t>1. By using p-values, every variable is on an equal footing regardless of its number of categories</a:t>
            </a:r>
            <a:endParaRPr/>
          </a:p>
          <a:p>
            <a:pPr marL="0" lvl="0" indent="0" algn="l" rtl="0">
              <a:spcBef>
                <a:spcPts val="0"/>
              </a:spcBef>
              <a:spcAft>
                <a:spcPts val="0"/>
              </a:spcAft>
              <a:buNone/>
            </a:pPr>
            <a:r>
              <a:rPr lang="en"/>
              <a:t>2. The statistical tests have known null distributions, so we can properly calibrate significance</a:t>
            </a:r>
            <a:endParaRPr/>
          </a:p>
          <a:p>
            <a:pPr marL="0" lvl="0" indent="0" algn="l" rtl="0">
              <a:spcBef>
                <a:spcPts val="0"/>
              </a:spcBef>
              <a:spcAft>
                <a:spcPts val="0"/>
              </a:spcAft>
              <a:buNone/>
            </a:pPr>
            <a:r>
              <a:rPr lang="en"/>
              <a:t>3. We only need to compute split points for one variable instead of all variables</a:t>
            </a:r>
            <a:endParaRPr/>
          </a:p>
        </p:txBody>
      </p:sp>
      <p:sp>
        <p:nvSpPr>
          <p:cNvPr id="188" name="Google Shape;188;g3b0657ca3e8_2_13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b0657ca3e8_2_14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8" name="Google Shape;198;g3b0657ca3e8_2_14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This slide shows the overall flow of the QUEST algorithm.</a:t>
            </a:r>
            <a:endParaRPr/>
          </a:p>
          <a:p>
            <a:pPr marL="0" lvl="0" indent="0" algn="l" rtl="0">
              <a:spcBef>
                <a:spcPts val="0"/>
              </a:spcBef>
              <a:spcAft>
                <a:spcPts val="0"/>
              </a:spcAft>
              <a:buNone/>
            </a:pPr>
            <a:endParaRPr/>
          </a:p>
          <a:p>
            <a:pPr marL="0" lvl="0" indent="0" algn="l" rtl="0">
              <a:spcBef>
                <a:spcPts val="0"/>
              </a:spcBef>
              <a:spcAft>
                <a:spcPts val="0"/>
              </a:spcAft>
              <a:buNone/>
            </a:pPr>
            <a:r>
              <a:rPr lang="en"/>
              <a:t>THE PROCESS:</a:t>
            </a:r>
            <a:endParaRPr/>
          </a:p>
          <a:p>
            <a:pPr marL="0" lvl="0" indent="0" algn="l" rtl="0">
              <a:spcBef>
                <a:spcPts val="0"/>
              </a:spcBef>
              <a:spcAft>
                <a:spcPts val="0"/>
              </a:spcAft>
              <a:buNone/>
            </a:pPr>
            <a:endParaRPr/>
          </a:p>
          <a:p>
            <a:pPr marL="0" lvl="0" indent="0" algn="l" rtl="0">
              <a:spcBef>
                <a:spcPts val="0"/>
              </a:spcBef>
              <a:spcAft>
                <a:spcPts val="0"/>
              </a:spcAft>
              <a:buNone/>
            </a:pPr>
            <a:r>
              <a:rPr lang="en"/>
              <a:t>1. START with a node containing training data</a:t>
            </a:r>
            <a:endParaRPr/>
          </a:p>
          <a:p>
            <a:pPr marL="0" lvl="0" indent="0" algn="l" rtl="0">
              <a:spcBef>
                <a:spcPts val="0"/>
              </a:spcBef>
              <a:spcAft>
                <a:spcPts val="0"/>
              </a:spcAft>
              <a:buNone/>
            </a:pPr>
            <a:endParaRPr/>
          </a:p>
          <a:p>
            <a:pPr marL="0" lvl="0" indent="0" algn="l" rtl="0">
              <a:spcBef>
                <a:spcPts val="0"/>
              </a:spcBef>
              <a:spcAft>
                <a:spcPts val="0"/>
              </a:spcAft>
              <a:buNone/>
            </a:pPr>
            <a:r>
              <a:rPr lang="en"/>
              <a:t>2. ALGORITHM 3 (Variable Selection):</a:t>
            </a:r>
            <a:endParaRPr/>
          </a:p>
          <a:p>
            <a:pPr marL="0" lvl="0" indent="0" algn="l" rtl="0">
              <a:spcBef>
                <a:spcPts val="0"/>
              </a:spcBef>
              <a:spcAft>
                <a:spcPts val="0"/>
              </a:spcAft>
              <a:buNone/>
            </a:pPr>
            <a:r>
              <a:rPr lang="en"/>
              <a:t>   - Apply ANOVA F-test to each continuous variable</a:t>
            </a:r>
            <a:endParaRPr/>
          </a:p>
          <a:p>
            <a:pPr marL="0" lvl="0" indent="0" algn="l" rtl="0">
              <a:spcBef>
                <a:spcPts val="0"/>
              </a:spcBef>
              <a:spcAft>
                <a:spcPts val="0"/>
              </a:spcAft>
              <a:buNone/>
            </a:pPr>
            <a:r>
              <a:rPr lang="en"/>
              <a:t>   - Apply Chi-square test to each categorical variable</a:t>
            </a:r>
            <a:endParaRPr/>
          </a:p>
          <a:p>
            <a:pPr marL="0" lvl="0" indent="0" algn="l" rtl="0">
              <a:spcBef>
                <a:spcPts val="0"/>
              </a:spcBef>
              <a:spcAft>
                <a:spcPts val="0"/>
              </a:spcAft>
              <a:buNone/>
            </a:pPr>
            <a:r>
              <a:rPr lang="en"/>
              <a:t>   - Select the variable with the smallest p-value (after Bonferroni correction)</a:t>
            </a:r>
            <a:endParaRPr/>
          </a:p>
          <a:p>
            <a:pPr marL="0" lvl="0" indent="0" algn="l" rtl="0">
              <a:spcBef>
                <a:spcPts val="0"/>
              </a:spcBef>
              <a:spcAft>
                <a:spcPts val="0"/>
              </a:spcAft>
              <a:buNone/>
            </a:pPr>
            <a:endParaRPr/>
          </a:p>
          <a:p>
            <a:pPr marL="0" lvl="0" indent="0" algn="l" rtl="0">
              <a:spcBef>
                <a:spcPts val="0"/>
              </a:spcBef>
              <a:spcAft>
                <a:spcPts val="0"/>
              </a:spcAft>
              <a:buNone/>
            </a:pPr>
            <a:r>
              <a:rPr lang="en"/>
              <a:t>3. CHECK if selected variable is categorical:</a:t>
            </a:r>
            <a:endParaRPr/>
          </a:p>
          <a:p>
            <a:pPr marL="0" lvl="0" indent="0" algn="l" rtl="0">
              <a:spcBef>
                <a:spcPts val="0"/>
              </a:spcBef>
              <a:spcAft>
                <a:spcPts val="0"/>
              </a:spcAft>
              <a:buNone/>
            </a:pPr>
            <a:r>
              <a:rPr lang="en"/>
              <a:t>   - If YES: Go to Algorithm 2 (CRIMCOORDS) to transform it to numeric</a:t>
            </a:r>
            <a:endParaRPr/>
          </a:p>
          <a:p>
            <a:pPr marL="0" lvl="0" indent="0" algn="l" rtl="0">
              <a:spcBef>
                <a:spcPts val="0"/>
              </a:spcBef>
              <a:spcAft>
                <a:spcPts val="0"/>
              </a:spcAft>
              <a:buNone/>
            </a:pPr>
            <a:r>
              <a:rPr lang="en"/>
              <a:t>   - If NO: Proceed directly to split point selection</a:t>
            </a:r>
            <a:endParaRPr/>
          </a:p>
          <a:p>
            <a:pPr marL="0" lvl="0" indent="0" algn="l" rtl="0">
              <a:spcBef>
                <a:spcPts val="0"/>
              </a:spcBef>
              <a:spcAft>
                <a:spcPts val="0"/>
              </a:spcAft>
              <a:buNone/>
            </a:pPr>
            <a:endParaRPr/>
          </a:p>
          <a:p>
            <a:pPr marL="0" lvl="0" indent="0" algn="l" rtl="0">
              <a:spcBef>
                <a:spcPts val="0"/>
              </a:spcBef>
              <a:spcAft>
                <a:spcPts val="0"/>
              </a:spcAft>
              <a:buNone/>
            </a:pPr>
            <a:r>
              <a:rPr lang="en"/>
              <a:t>4. ALGORITHM 2 (CRIMCOORDS):</a:t>
            </a:r>
            <a:endParaRPr/>
          </a:p>
          <a:p>
            <a:pPr marL="0" lvl="0" indent="0" algn="l" rtl="0">
              <a:spcBef>
                <a:spcPts val="0"/>
              </a:spcBef>
              <a:spcAft>
                <a:spcPts val="0"/>
              </a:spcAft>
              <a:buNone/>
            </a:pPr>
            <a:r>
              <a:rPr lang="en"/>
              <a:t>   - Transform categorical variable to continuous scores</a:t>
            </a:r>
            <a:endParaRPr/>
          </a:p>
          <a:p>
            <a:pPr marL="0" lvl="0" indent="0" algn="l" rtl="0">
              <a:spcBef>
                <a:spcPts val="0"/>
              </a:spcBef>
              <a:spcAft>
                <a:spcPts val="0"/>
              </a:spcAft>
              <a:buNone/>
            </a:pPr>
            <a:r>
              <a:rPr lang="en"/>
              <a:t>   - Uses discriminant coordinates based on class means</a:t>
            </a:r>
            <a:endParaRPr/>
          </a:p>
          <a:p>
            <a:pPr marL="0" lvl="0" indent="0" algn="l" rtl="0">
              <a:spcBef>
                <a:spcPts val="0"/>
              </a:spcBef>
              <a:spcAft>
                <a:spcPts val="0"/>
              </a:spcAft>
              <a:buNone/>
            </a:pPr>
            <a:r>
              <a:rPr lang="en"/>
              <a:t>   - Handles singular matrices through SVD</a:t>
            </a:r>
            <a:endParaRPr/>
          </a:p>
          <a:p>
            <a:pPr marL="0" lvl="0" indent="0" algn="l" rtl="0">
              <a:spcBef>
                <a:spcPts val="0"/>
              </a:spcBef>
              <a:spcAft>
                <a:spcPts val="0"/>
              </a:spcAft>
              <a:buNone/>
            </a:pPr>
            <a:endParaRPr/>
          </a:p>
          <a:p>
            <a:pPr marL="0" lvl="0" indent="0" algn="l" rtl="0">
              <a:spcBef>
                <a:spcPts val="0"/>
              </a:spcBef>
              <a:spcAft>
                <a:spcPts val="0"/>
              </a:spcAft>
              <a:buNone/>
            </a:pPr>
            <a:r>
              <a:rPr lang="en"/>
              <a:t>5. ALGORITHM 1 (Split Point Selection):</a:t>
            </a:r>
            <a:endParaRPr/>
          </a:p>
          <a:p>
            <a:pPr marL="0" lvl="0" indent="0" algn="l" rtl="0">
              <a:spcBef>
                <a:spcPts val="0"/>
              </a:spcBef>
              <a:spcAft>
                <a:spcPts val="0"/>
              </a:spcAft>
              <a:buNone/>
            </a:pPr>
            <a:r>
              <a:rPr lang="en"/>
              <a:t>   - Use Quadratic Discriminant Analysis</a:t>
            </a:r>
            <a:endParaRPr/>
          </a:p>
          <a:p>
            <a:pPr marL="0" lvl="0" indent="0" algn="l" rtl="0">
              <a:spcBef>
                <a:spcPts val="0"/>
              </a:spcBef>
              <a:spcAft>
                <a:spcPts val="0"/>
              </a:spcAft>
              <a:buNone/>
            </a:pPr>
            <a:r>
              <a:rPr lang="en"/>
              <a:t>   - Find the boundary between the two largest classes</a:t>
            </a:r>
            <a:endParaRPr/>
          </a:p>
          <a:p>
            <a:pPr marL="0" lvl="0" indent="0" algn="l" rtl="0">
              <a:spcBef>
                <a:spcPts val="0"/>
              </a:spcBef>
              <a:spcAft>
                <a:spcPts val="0"/>
              </a:spcAft>
              <a:buNone/>
            </a:pPr>
            <a:r>
              <a:rPr lang="en"/>
              <a:t>   - Solve quadratic equation for the split threshold</a:t>
            </a:r>
            <a:endParaRPr/>
          </a:p>
          <a:p>
            <a:pPr marL="0" lvl="0" indent="0" algn="l" rtl="0">
              <a:spcBef>
                <a:spcPts val="0"/>
              </a:spcBef>
              <a:spcAft>
                <a:spcPts val="0"/>
              </a:spcAft>
              <a:buNone/>
            </a:pPr>
            <a:endParaRPr/>
          </a:p>
          <a:p>
            <a:pPr marL="0" lvl="0" indent="0" algn="l" rtl="0">
              <a:spcBef>
                <a:spcPts val="0"/>
              </a:spcBef>
              <a:spcAft>
                <a:spcPts val="0"/>
              </a:spcAft>
              <a:buNone/>
            </a:pPr>
            <a:r>
              <a:rPr lang="en"/>
              <a:t>6. CREATE CHILD NODES:</a:t>
            </a:r>
            <a:endParaRPr/>
          </a:p>
          <a:p>
            <a:pPr marL="0" lvl="0" indent="0" algn="l" rtl="0">
              <a:spcBef>
                <a:spcPts val="0"/>
              </a:spcBef>
              <a:spcAft>
                <a:spcPts val="0"/>
              </a:spcAft>
              <a:buNone/>
            </a:pPr>
            <a:r>
              <a:rPr lang="en"/>
              <a:t>   - Left child: observations where variable ≤ threshold</a:t>
            </a:r>
            <a:endParaRPr/>
          </a:p>
          <a:p>
            <a:pPr marL="0" lvl="0" indent="0" algn="l" rtl="0">
              <a:spcBef>
                <a:spcPts val="0"/>
              </a:spcBef>
              <a:spcAft>
                <a:spcPts val="0"/>
              </a:spcAft>
              <a:buNone/>
            </a:pPr>
            <a:r>
              <a:rPr lang="en"/>
              <a:t>   - Right child: observations where variable &gt; threshold</a:t>
            </a:r>
            <a:endParaRPr/>
          </a:p>
          <a:p>
            <a:pPr marL="0" lvl="0" indent="0" algn="l" rtl="0">
              <a:spcBef>
                <a:spcPts val="0"/>
              </a:spcBef>
              <a:spcAft>
                <a:spcPts val="0"/>
              </a:spcAft>
              <a:buNone/>
            </a:pPr>
            <a:endParaRPr/>
          </a:p>
          <a:p>
            <a:pPr marL="0" lvl="0" indent="0" algn="l" rtl="0">
              <a:spcBef>
                <a:spcPts val="0"/>
              </a:spcBef>
              <a:spcAft>
                <a:spcPts val="0"/>
              </a:spcAft>
              <a:buNone/>
            </a:pPr>
            <a:r>
              <a:rPr lang="en"/>
              <a:t>7. RECURSE on each child node until stopping criteria are met</a:t>
            </a:r>
            <a:endParaRPr/>
          </a:p>
        </p:txBody>
      </p:sp>
      <p:sp>
        <p:nvSpPr>
          <p:cNvPr id="199" name="Google Shape;199;g3b0657ca3e8_2_14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b0657ca3e8_2_16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4" name="Google Shape;224;g3b0657ca3e8_2_16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Algorithm 3 is the heart of QUEST's unbiased variable selection.</a:t>
            </a:r>
            <a:endParaRPr/>
          </a:p>
          <a:p>
            <a:pPr marL="0" lvl="0" indent="0" algn="l" rtl="0">
              <a:spcBef>
                <a:spcPts val="0"/>
              </a:spcBef>
              <a:spcAft>
                <a:spcPts val="0"/>
              </a:spcAft>
              <a:buNone/>
            </a:pPr>
            <a:endParaRPr/>
          </a:p>
          <a:p>
            <a:pPr marL="0" lvl="0" indent="0" algn="l" rtl="0">
              <a:spcBef>
                <a:spcPts val="0"/>
              </a:spcBef>
              <a:spcAft>
                <a:spcPts val="0"/>
              </a:spcAft>
              <a:buNone/>
            </a:pPr>
            <a:r>
              <a:rPr lang="en"/>
              <a:t>FOR CONTINUOUS VARIABLES - ANOVA F-TEST:</a:t>
            </a:r>
            <a:endParaRPr/>
          </a:p>
          <a:p>
            <a:pPr marL="0" lvl="0" indent="0" algn="l" rtl="0">
              <a:spcBef>
                <a:spcPts val="0"/>
              </a:spcBef>
              <a:spcAft>
                <a:spcPts val="0"/>
              </a:spcAft>
              <a:buNone/>
            </a:pPr>
            <a:r>
              <a:rPr lang="en"/>
              <a:t>- Null hypothesis: All class means are equal</a:t>
            </a:r>
            <a:endParaRPr/>
          </a:p>
          <a:p>
            <a:pPr marL="0" lvl="0" indent="0" algn="l" rtl="0">
              <a:spcBef>
                <a:spcPts val="0"/>
              </a:spcBef>
              <a:spcAft>
                <a:spcPts val="0"/>
              </a:spcAft>
              <a:buNone/>
            </a:pPr>
            <a:r>
              <a:rPr lang="en"/>
              <a:t>- If F is large (p-value small), the variable discriminates well between classes</a:t>
            </a:r>
            <a:endParaRPr/>
          </a:p>
          <a:p>
            <a:pPr marL="0" lvl="0" indent="0" algn="l" rtl="0">
              <a:spcBef>
                <a:spcPts val="0"/>
              </a:spcBef>
              <a:spcAft>
                <a:spcPts val="0"/>
              </a:spcAft>
              <a:buNone/>
            </a:pPr>
            <a:r>
              <a:rPr lang="en"/>
              <a:t>- F = (Between-group variance) / (Within-group variance)</a:t>
            </a:r>
            <a:endParaRPr/>
          </a:p>
          <a:p>
            <a:pPr marL="0" lvl="0" indent="0" algn="l" rtl="0">
              <a:spcBef>
                <a:spcPts val="0"/>
              </a:spcBef>
              <a:spcAft>
                <a:spcPts val="0"/>
              </a:spcAft>
              <a:buNone/>
            </a:pPr>
            <a:r>
              <a:rPr lang="en"/>
              <a:t>- Under the null, F follows an F-distribution with (J-1) and (n-J) degrees of freedom</a:t>
            </a:r>
            <a:endParaRPr/>
          </a:p>
          <a:p>
            <a:pPr marL="0" lvl="0" indent="0" algn="l" rtl="0">
              <a:spcBef>
                <a:spcPts val="0"/>
              </a:spcBef>
              <a:spcAft>
                <a:spcPts val="0"/>
              </a:spcAft>
              <a:buNone/>
            </a:pPr>
            <a:endParaRPr/>
          </a:p>
          <a:p>
            <a:pPr marL="0" lvl="0" indent="0" algn="l" rtl="0">
              <a:spcBef>
                <a:spcPts val="0"/>
              </a:spcBef>
              <a:spcAft>
                <a:spcPts val="0"/>
              </a:spcAft>
              <a:buNone/>
            </a:pPr>
            <a:r>
              <a:rPr lang="en"/>
              <a:t>FOR CATEGORICAL VARIABLES - CHI-SQUARE TEST:</a:t>
            </a:r>
            <a:endParaRPr/>
          </a:p>
          <a:p>
            <a:pPr marL="0" lvl="0" indent="0" algn="l" rtl="0">
              <a:spcBef>
                <a:spcPts val="0"/>
              </a:spcBef>
              <a:spcAft>
                <a:spcPts val="0"/>
              </a:spcAft>
              <a:buNone/>
            </a:pPr>
            <a:r>
              <a:rPr lang="en"/>
              <a:t>- Null hypothesis: The variable is independent of the class</a:t>
            </a:r>
            <a:endParaRPr/>
          </a:p>
          <a:p>
            <a:pPr marL="0" lvl="0" indent="0" algn="l" rtl="0">
              <a:spcBef>
                <a:spcPts val="0"/>
              </a:spcBef>
              <a:spcAft>
                <a:spcPts val="0"/>
              </a:spcAft>
              <a:buNone/>
            </a:pPr>
            <a:r>
              <a:rPr lang="en"/>
              <a:t>- Build a contingency table of variable categories vs class labels</a:t>
            </a:r>
            <a:endParaRPr/>
          </a:p>
          <a:p>
            <a:pPr marL="0" lvl="0" indent="0" algn="l" rtl="0">
              <a:spcBef>
                <a:spcPts val="0"/>
              </a:spcBef>
              <a:spcAft>
                <a:spcPts val="0"/>
              </a:spcAft>
              <a:buNone/>
            </a:pPr>
            <a:r>
              <a:rPr lang="en"/>
              <a:t>- Compare observed frequencies to expected frequencies under independence</a:t>
            </a:r>
            <a:endParaRPr/>
          </a:p>
          <a:p>
            <a:pPr marL="0" lvl="0" indent="0" algn="l" rtl="0">
              <a:spcBef>
                <a:spcPts val="0"/>
              </a:spcBef>
              <a:spcAft>
                <a:spcPts val="0"/>
              </a:spcAft>
              <a:buNone/>
            </a:pPr>
            <a:r>
              <a:rPr lang="en"/>
              <a:t>- Under the null, χ² follows a chi-square distribution with (r-1)(c-1) degrees of freedom</a:t>
            </a:r>
            <a:endParaRPr/>
          </a:p>
          <a:p>
            <a:pPr marL="0" lvl="0" indent="0" algn="l" rtl="0">
              <a:spcBef>
                <a:spcPts val="0"/>
              </a:spcBef>
              <a:spcAft>
                <a:spcPts val="0"/>
              </a:spcAft>
              <a:buNone/>
            </a:pPr>
            <a:endParaRPr/>
          </a:p>
          <a:p>
            <a:pPr marL="0" lvl="0" indent="0" algn="l" rtl="0">
              <a:spcBef>
                <a:spcPts val="0"/>
              </a:spcBef>
              <a:spcAft>
                <a:spcPts val="0"/>
              </a:spcAft>
              <a:buNone/>
            </a:pPr>
            <a:r>
              <a:rPr lang="en"/>
              <a:t>BONFERRONI CORRECTION:</a:t>
            </a:r>
            <a:endParaRPr/>
          </a:p>
          <a:p>
            <a:pPr marL="0" lvl="0" indent="0" algn="l" rtl="0">
              <a:spcBef>
                <a:spcPts val="0"/>
              </a:spcBef>
              <a:spcAft>
                <a:spcPts val="0"/>
              </a:spcAft>
              <a:buNone/>
            </a:pPr>
            <a:r>
              <a:rPr lang="en"/>
              <a:t>- When testing multiple variables, we need to adjust for multiple comparisons</a:t>
            </a:r>
            <a:endParaRPr/>
          </a:p>
          <a:p>
            <a:pPr marL="0" lvl="0" indent="0" algn="l" rtl="0">
              <a:spcBef>
                <a:spcPts val="0"/>
              </a:spcBef>
              <a:spcAft>
                <a:spcPts val="0"/>
              </a:spcAft>
              <a:buNone/>
            </a:pPr>
            <a:r>
              <a:rPr lang="en"/>
              <a:t>- If we test p variables at significance level α, we use α* = α/p for each test</a:t>
            </a:r>
            <a:endParaRPr/>
          </a:p>
          <a:p>
            <a:pPr marL="0" lvl="0" indent="0" algn="l" rtl="0">
              <a:spcBef>
                <a:spcPts val="0"/>
              </a:spcBef>
              <a:spcAft>
                <a:spcPts val="0"/>
              </a:spcAft>
              <a:buNone/>
            </a:pPr>
            <a:r>
              <a:rPr lang="en"/>
              <a:t>- This controls the probability of falsely selecting any variable</a:t>
            </a:r>
            <a:endParaRPr/>
          </a:p>
          <a:p>
            <a:pPr marL="0" lvl="0" indent="0" algn="l" rtl="0">
              <a:spcBef>
                <a:spcPts val="0"/>
              </a:spcBef>
              <a:spcAft>
                <a:spcPts val="0"/>
              </a:spcAft>
              <a:buNone/>
            </a:pPr>
            <a:endParaRPr/>
          </a:p>
          <a:p>
            <a:pPr marL="0" lvl="0" indent="0" algn="l" rtl="0">
              <a:spcBef>
                <a:spcPts val="0"/>
              </a:spcBef>
              <a:spcAft>
                <a:spcPts val="0"/>
              </a:spcAft>
              <a:buNone/>
            </a:pPr>
            <a:r>
              <a:rPr lang="en"/>
              <a:t>LEVENE'S TEST FALLBACK:</a:t>
            </a:r>
            <a:endParaRPr/>
          </a:p>
          <a:p>
            <a:pPr marL="0" lvl="0" indent="0" algn="l" rtl="0">
              <a:spcBef>
                <a:spcPts val="0"/>
              </a:spcBef>
              <a:spcAft>
                <a:spcPts val="0"/>
              </a:spcAft>
              <a:buNone/>
            </a:pPr>
            <a:r>
              <a:rPr lang="en"/>
              <a:t>- ANOVA assumes equal variances across classes</a:t>
            </a:r>
            <a:endParaRPr/>
          </a:p>
          <a:p>
            <a:pPr marL="0" lvl="0" indent="0" algn="l" rtl="0">
              <a:spcBef>
                <a:spcPts val="0"/>
              </a:spcBef>
              <a:spcAft>
                <a:spcPts val="0"/>
              </a:spcAft>
              <a:buNone/>
            </a:pPr>
            <a:r>
              <a:rPr lang="en"/>
              <a:t>- If ANOVA p-value &gt; α* but Levene's test shows unequal variances, use Levene's test</a:t>
            </a:r>
            <a:endParaRPr/>
          </a:p>
          <a:p>
            <a:pPr marL="0" lvl="0" indent="0" algn="l" rtl="0">
              <a:spcBef>
                <a:spcPts val="0"/>
              </a:spcBef>
              <a:spcAft>
                <a:spcPts val="0"/>
              </a:spcAft>
              <a:buNone/>
            </a:pPr>
            <a:r>
              <a:rPr lang="en"/>
              <a:t>- This catches variables where class differences are in variance, not means</a:t>
            </a:r>
            <a:endParaRPr/>
          </a:p>
          <a:p>
            <a:pPr marL="0" lvl="0" indent="0" algn="l" rtl="0">
              <a:spcBef>
                <a:spcPts val="0"/>
              </a:spcBef>
              <a:spcAft>
                <a:spcPts val="0"/>
              </a:spcAft>
              <a:buNone/>
            </a:pPr>
            <a:endParaRPr/>
          </a:p>
          <a:p>
            <a:pPr marL="0" lvl="0" indent="0" algn="l" rtl="0">
              <a:spcBef>
                <a:spcPts val="0"/>
              </a:spcBef>
              <a:spcAft>
                <a:spcPts val="0"/>
              </a:spcAft>
              <a:buNone/>
            </a:pPr>
            <a:r>
              <a:rPr lang="en"/>
              <a:t>WHY THIS IS UNBIASED:</a:t>
            </a:r>
            <a:endParaRPr/>
          </a:p>
          <a:p>
            <a:pPr marL="0" lvl="0" indent="0" algn="l" rtl="0">
              <a:spcBef>
                <a:spcPts val="0"/>
              </a:spcBef>
              <a:spcAft>
                <a:spcPts val="0"/>
              </a:spcAft>
              <a:buNone/>
            </a:pPr>
            <a:r>
              <a:rPr lang="en"/>
              <a:t>- Both tests produce p-values with known null distributions</a:t>
            </a:r>
            <a:endParaRPr/>
          </a:p>
          <a:p>
            <a:pPr marL="0" lvl="0" indent="0" algn="l" rtl="0">
              <a:spcBef>
                <a:spcPts val="0"/>
              </a:spcBef>
              <a:spcAft>
                <a:spcPts val="0"/>
              </a:spcAft>
              <a:buNone/>
            </a:pPr>
            <a:r>
              <a:rPr lang="en"/>
              <a:t>- A categorical variable with 100 categories produces the SAME p-value distribution under the null as one with 2 categories</a:t>
            </a:r>
            <a:endParaRPr/>
          </a:p>
          <a:p>
            <a:pPr marL="0" lvl="0" indent="0" algn="l" rtl="0">
              <a:spcBef>
                <a:spcPts val="0"/>
              </a:spcBef>
              <a:spcAft>
                <a:spcPts val="0"/>
              </a:spcAft>
              <a:buNone/>
            </a:pPr>
            <a:r>
              <a:rPr lang="en"/>
              <a:t>- No variable gets an unfair advantage due to its number of unique values</a:t>
            </a:r>
            <a:endParaRPr/>
          </a:p>
        </p:txBody>
      </p:sp>
      <p:sp>
        <p:nvSpPr>
          <p:cNvPr id="225" name="Google Shape;225;g3b0657ca3e8_2_16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b0657ca3e8_2_17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5" name="Google Shape;235;g3b0657ca3e8_2_17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CRIMCOORDS (Régression Catégorielle sur Matrices Indicatrices avec Coordonnées) résout un problème fondamental.</a:t>
            </a:r>
            <a:endParaRPr/>
          </a:p>
          <a:p>
            <a:pPr marL="0" lvl="0" indent="0" algn="l" rtl="0">
              <a:spcBef>
                <a:spcPts val="0"/>
              </a:spcBef>
              <a:spcAft>
                <a:spcPts val="0"/>
              </a:spcAft>
              <a:buNone/>
            </a:pPr>
            <a:endParaRPr/>
          </a:p>
          <a:p>
            <a:pPr marL="0" lvl="0" indent="0" algn="l" rtl="0">
              <a:spcBef>
                <a:spcPts val="0"/>
              </a:spcBef>
              <a:spcAft>
                <a:spcPts val="0"/>
              </a:spcAft>
              <a:buNone/>
            </a:pPr>
            <a:r>
              <a:rPr lang="en"/>
              <a:t>LE PROBLÈME :</a:t>
            </a:r>
            <a:endParaRPr/>
          </a:p>
          <a:p>
            <a:pPr marL="0" lvl="0" indent="0" algn="l" rtl="0">
              <a:spcBef>
                <a:spcPts val="0"/>
              </a:spcBef>
              <a:spcAft>
                <a:spcPts val="0"/>
              </a:spcAft>
              <a:buNone/>
            </a:pPr>
            <a:r>
              <a:rPr lang="en"/>
              <a:t>- Les variables catégorielles comme {Rouge, Vert, Bleu} ne peuvent pas être directement comparées avec un seuil numérique</a:t>
            </a:r>
            <a:endParaRPr/>
          </a:p>
          <a:p>
            <a:pPr marL="0" lvl="0" indent="0" algn="l" rtl="0">
              <a:spcBef>
                <a:spcPts val="0"/>
              </a:spcBef>
              <a:spcAft>
                <a:spcPts val="0"/>
              </a:spcAft>
              <a:buNone/>
            </a:pPr>
            <a:r>
              <a:rPr lang="en"/>
              <a:t>- L'ADQ (utilisée pour la recherche de coupure) nécessite une entrée numérique</a:t>
            </a:r>
            <a:endParaRPr/>
          </a:p>
          <a:p>
            <a:pPr marL="0" lvl="0" indent="0" algn="l" rtl="0">
              <a:spcBef>
                <a:spcPts val="0"/>
              </a:spcBef>
              <a:spcAft>
                <a:spcPts val="0"/>
              </a:spcAft>
              <a:buNone/>
            </a:pPr>
            <a:r>
              <a:rPr lang="en"/>
              <a:t>- L'approche naïve d'essayer tous les groupements de sous-ensembles possibles est exponentiellement complexe et biaisée</a:t>
            </a:r>
            <a:endParaRPr/>
          </a:p>
          <a:p>
            <a:pPr marL="0" lvl="0" indent="0" algn="l" rtl="0">
              <a:spcBef>
                <a:spcPts val="0"/>
              </a:spcBef>
              <a:spcAft>
                <a:spcPts val="0"/>
              </a:spcAft>
              <a:buNone/>
            </a:pPr>
            <a:endParaRPr/>
          </a:p>
          <a:p>
            <a:pPr marL="0" lvl="0" indent="0" algn="l" rtl="0">
              <a:spcBef>
                <a:spcPts val="0"/>
              </a:spcBef>
              <a:spcAft>
                <a:spcPts val="0"/>
              </a:spcAft>
              <a:buNone/>
            </a:pPr>
            <a:r>
              <a:rPr lang="en"/>
              <a:t>LA SOLUTION - CRIMCOORDS :</a:t>
            </a:r>
            <a:endParaRPr/>
          </a:p>
          <a:p>
            <a:pPr marL="0" lvl="0" indent="0" algn="l" rtl="0">
              <a:spcBef>
                <a:spcPts val="0"/>
              </a:spcBef>
              <a:spcAft>
                <a:spcPts val="0"/>
              </a:spcAft>
              <a:buNone/>
            </a:pPr>
            <a:endParaRPr/>
          </a:p>
          <a:p>
            <a:pPr marL="0" lvl="0" indent="0" algn="l" rtl="0">
              <a:spcBef>
                <a:spcPts val="0"/>
              </a:spcBef>
              <a:spcAft>
                <a:spcPts val="0"/>
              </a:spcAft>
              <a:buNone/>
            </a:pPr>
            <a:r>
              <a:rPr lang="en"/>
              <a:t>ÉTAPE 1 - ENCODAGE ONE-HOT :</a:t>
            </a:r>
            <a:endParaRPr/>
          </a:p>
          <a:p>
            <a:pPr marL="0" lvl="0" indent="0" algn="l" rtl="0">
              <a:spcBef>
                <a:spcPts val="0"/>
              </a:spcBef>
              <a:spcAft>
                <a:spcPts val="0"/>
              </a:spcAft>
              <a:buNone/>
            </a:pPr>
            <a:r>
              <a:rPr lang="en"/>
              <a:t>- Convertir la variable catégorielle en matrice d'indicateurs binaires</a:t>
            </a:r>
            <a:endParaRPr/>
          </a:p>
          <a:p>
            <a:pPr marL="0" lvl="0" indent="0" algn="l" rtl="0">
              <a:spcBef>
                <a:spcPts val="0"/>
              </a:spcBef>
              <a:spcAft>
                <a:spcPts val="0"/>
              </a:spcAft>
              <a:buNone/>
            </a:pPr>
            <a:r>
              <a:rPr lang="en"/>
              <a:t>- Si la variable a k catégories, créer k colonnes où la colonne j = 1 si l'observation a la catégorie j</a:t>
            </a:r>
            <a:endParaRPr/>
          </a:p>
          <a:p>
            <a:pPr marL="0" lvl="0" indent="0" algn="l" rtl="0">
              <a:spcBef>
                <a:spcPts val="0"/>
              </a:spcBef>
              <a:spcAft>
                <a:spcPts val="0"/>
              </a:spcAft>
              <a:buNone/>
            </a:pPr>
            <a:endParaRPr/>
          </a:p>
          <a:p>
            <a:pPr marL="0" lvl="0" indent="0" algn="l" rtl="0">
              <a:spcBef>
                <a:spcPts val="0"/>
              </a:spcBef>
              <a:spcAft>
                <a:spcPts val="0"/>
              </a:spcAft>
              <a:buNone/>
            </a:pPr>
            <a:r>
              <a:rPr lang="en"/>
              <a:t>ÉTAPE 2 - CENTRER LA MATRICE :</a:t>
            </a:r>
            <a:endParaRPr/>
          </a:p>
          <a:p>
            <a:pPr marL="0" lvl="0" indent="0" algn="l" rtl="0">
              <a:spcBef>
                <a:spcPts val="0"/>
              </a:spcBef>
              <a:spcAft>
                <a:spcPts val="0"/>
              </a:spcAft>
              <a:buNone/>
            </a:pPr>
            <a:r>
              <a:rPr lang="en"/>
              <a:t>- Soustraire la moyenne intra-classe de chaque observation</a:t>
            </a:r>
            <a:endParaRPr/>
          </a:p>
          <a:p>
            <a:pPr marL="0" lvl="0" indent="0" algn="l" rtl="0">
              <a:spcBef>
                <a:spcPts val="0"/>
              </a:spcBef>
              <a:spcAft>
                <a:spcPts val="0"/>
              </a:spcAft>
              <a:buNone/>
            </a:pPr>
            <a:r>
              <a:rPr lang="en"/>
              <a:t>- Ceci centre les données pour l'analyse discriminante</a:t>
            </a:r>
            <a:endParaRPr/>
          </a:p>
          <a:p>
            <a:pPr marL="0" lvl="0" indent="0" algn="l" rtl="0">
              <a:spcBef>
                <a:spcPts val="0"/>
              </a:spcBef>
              <a:spcAft>
                <a:spcPts val="0"/>
              </a:spcAft>
              <a:buNone/>
            </a:pPr>
            <a:endParaRPr/>
          </a:p>
          <a:p>
            <a:pPr marL="0" lvl="0" indent="0" algn="l" rtl="0">
              <a:spcBef>
                <a:spcPts val="0"/>
              </a:spcBef>
              <a:spcAft>
                <a:spcPts val="0"/>
              </a:spcAft>
              <a:buNone/>
            </a:pPr>
            <a:r>
              <a:rPr lang="en"/>
              <a:t>ÉTAPE 3 - DÉCOMPOSITION EN VALEURS SINGULIÈRES (SVD) :</a:t>
            </a:r>
            <a:endParaRPr/>
          </a:p>
          <a:p>
            <a:pPr marL="0" lvl="0" indent="0" algn="l" rtl="0">
              <a:spcBef>
                <a:spcPts val="0"/>
              </a:spcBef>
              <a:spcAft>
                <a:spcPts val="0"/>
              </a:spcAft>
              <a:buNone/>
            </a:pPr>
            <a:r>
              <a:rPr lang="en"/>
              <a:t>- La matrice d'indicateurs centrée est souvent singulière (les colonnes somment à 1, créant une dépendance linéaire)</a:t>
            </a:r>
            <a:endParaRPr/>
          </a:p>
          <a:p>
            <a:pPr marL="0" lvl="0" indent="0" algn="l" rtl="0">
              <a:spcBef>
                <a:spcPts val="0"/>
              </a:spcBef>
              <a:spcAft>
                <a:spcPts val="0"/>
              </a:spcAft>
              <a:buNone/>
            </a:pPr>
            <a:r>
              <a:rPr lang="en"/>
              <a:t>- SVD : Z = UΣVᵀ décompose la matrice en composantes orthogonales</a:t>
            </a:r>
            <a:endParaRPr/>
          </a:p>
          <a:p>
            <a:pPr marL="0" lvl="0" indent="0" algn="l" rtl="0">
              <a:spcBef>
                <a:spcPts val="0"/>
              </a:spcBef>
              <a:spcAft>
                <a:spcPts val="0"/>
              </a:spcAft>
              <a:buNone/>
            </a:pPr>
            <a:r>
              <a:rPr lang="en"/>
              <a:t>- Ceci gère la singularité avec élégance</a:t>
            </a:r>
            <a:endParaRPr/>
          </a:p>
          <a:p>
            <a:pPr marL="0" lvl="0" indent="0" algn="l" rtl="0">
              <a:spcBef>
                <a:spcPts val="0"/>
              </a:spcBef>
              <a:spcAft>
                <a:spcPts val="0"/>
              </a:spcAft>
              <a:buNone/>
            </a:pPr>
            <a:endParaRPr/>
          </a:p>
          <a:p>
            <a:pPr marL="0" lvl="0" indent="0" algn="l" rtl="0">
              <a:spcBef>
                <a:spcPts val="0"/>
              </a:spcBef>
              <a:spcAft>
                <a:spcPts val="0"/>
              </a:spcAft>
              <a:buNone/>
            </a:pPr>
            <a:r>
              <a:rPr lang="en"/>
              <a:t>ÉTAPE 4 - PROJETER EN UNE DIMENSION :</a:t>
            </a:r>
            <a:endParaRPr/>
          </a:p>
          <a:p>
            <a:pPr marL="0" lvl="0" indent="0" algn="l" rtl="0">
              <a:spcBef>
                <a:spcPts val="0"/>
              </a:spcBef>
              <a:spcAft>
                <a:spcPts val="0"/>
              </a:spcAft>
              <a:buNone/>
            </a:pPr>
            <a:r>
              <a:rPr lang="en"/>
              <a:t>- Prendre le premier vecteur singulier droit v₁ (la direction de variance maximale)</a:t>
            </a:r>
            <a:endParaRPr/>
          </a:p>
          <a:p>
            <a:pPr marL="0" lvl="0" indent="0" algn="l" rtl="0">
              <a:spcBef>
                <a:spcPts val="0"/>
              </a:spcBef>
              <a:spcAft>
                <a:spcPts val="0"/>
              </a:spcAft>
              <a:buNone/>
            </a:pPr>
            <a:r>
              <a:rPr lang="en"/>
              <a:t>- Calculer x* = Z · v₁ pour chaque observation</a:t>
            </a:r>
            <a:endParaRPr/>
          </a:p>
          <a:p>
            <a:pPr marL="0" lvl="0" indent="0" algn="l" rtl="0">
              <a:spcBef>
                <a:spcPts val="0"/>
              </a:spcBef>
              <a:spcAft>
                <a:spcPts val="0"/>
              </a:spcAft>
              <a:buNone/>
            </a:pPr>
            <a:r>
              <a:rPr lang="en"/>
              <a:t>- Ceci donne un score numérique unique pour chaque observation</a:t>
            </a:r>
            <a:endParaRPr/>
          </a:p>
          <a:p>
            <a:pPr marL="0" lvl="0" indent="0" algn="l" rtl="0">
              <a:spcBef>
                <a:spcPts val="0"/>
              </a:spcBef>
              <a:spcAft>
                <a:spcPts val="0"/>
              </a:spcAft>
              <a:buNone/>
            </a:pPr>
            <a:endParaRPr/>
          </a:p>
          <a:p>
            <a:pPr marL="0" lvl="0" indent="0" algn="l" rtl="0">
              <a:spcBef>
                <a:spcPts val="0"/>
              </a:spcBef>
              <a:spcAft>
                <a:spcPts val="0"/>
              </a:spcAft>
              <a:buNone/>
            </a:pPr>
            <a:r>
              <a:rPr lang="en"/>
              <a:t>RÉSULTAT :</a:t>
            </a:r>
            <a:endParaRPr/>
          </a:p>
          <a:p>
            <a:pPr marL="0" lvl="0" indent="0" algn="l" rtl="0">
              <a:spcBef>
                <a:spcPts val="0"/>
              </a:spcBef>
              <a:spcAft>
                <a:spcPts val="0"/>
              </a:spcAft>
              <a:buNone/>
            </a:pPr>
            <a:r>
              <a:rPr lang="en"/>
              <a:t>- Chaque catégorie est mappée à un score numérique</a:t>
            </a:r>
            <a:endParaRPr/>
          </a:p>
          <a:p>
            <a:pPr marL="0" lvl="0" indent="0" algn="l" rtl="0">
              <a:spcBef>
                <a:spcPts val="0"/>
              </a:spcBef>
              <a:spcAft>
                <a:spcPts val="0"/>
              </a:spcAft>
              <a:buNone/>
            </a:pPr>
            <a:r>
              <a:rPr lang="en"/>
              <a:t>- La transformation préserve l'information discriminante de classe</a:t>
            </a:r>
            <a:endParaRPr/>
          </a:p>
          <a:p>
            <a:pPr marL="0" lvl="0" indent="0" algn="l" rtl="0">
              <a:spcBef>
                <a:spcPts val="0"/>
              </a:spcBef>
              <a:spcAft>
                <a:spcPts val="0"/>
              </a:spcAft>
              <a:buNone/>
            </a:pPr>
            <a:r>
              <a:rPr lang="en"/>
              <a:t>- On peut maintenant appliquer l'ADQ standard pour trouver un seuil de coupure</a:t>
            </a:r>
            <a:endParaRPr/>
          </a:p>
        </p:txBody>
      </p:sp>
      <p:sp>
        <p:nvSpPr>
          <p:cNvPr id="236" name="Google Shape;236;g3b0657ca3e8_2_17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b0657ca3e8_2_19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2" name="Google Shape;252;g3b0657ca3e8_2_19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L'Algorithme 1 détermine OÙ couper une fois qu'une variable a été sélectionnée.</a:t>
            </a:r>
            <a:endParaRPr/>
          </a:p>
          <a:p>
            <a:pPr marL="0" lvl="0" indent="0" algn="l" rtl="0">
              <a:spcBef>
                <a:spcPts val="0"/>
              </a:spcBef>
              <a:spcAft>
                <a:spcPts val="0"/>
              </a:spcAft>
              <a:buNone/>
            </a:pPr>
            <a:endParaRPr/>
          </a:p>
          <a:p>
            <a:pPr marL="0" lvl="0" indent="0" algn="l" rtl="0">
              <a:spcBef>
                <a:spcPts val="0"/>
              </a:spcBef>
              <a:spcAft>
                <a:spcPts val="0"/>
              </a:spcAft>
              <a:buNone/>
            </a:pPr>
            <a:r>
              <a:rPr lang="en"/>
              <a:t>L'APPROCHE - ANALYSE DISCRIMINANTE QUADRATIQUE (ADQ) :</a:t>
            </a:r>
            <a:endParaRPr/>
          </a:p>
          <a:p>
            <a:pPr marL="0" lvl="0" indent="0" algn="l" rtl="0">
              <a:spcBef>
                <a:spcPts val="0"/>
              </a:spcBef>
              <a:spcAft>
                <a:spcPts val="0"/>
              </a:spcAft>
              <a:buNone/>
            </a:pPr>
            <a:endParaRPr/>
          </a:p>
          <a:p>
            <a:pPr marL="0" lvl="0" indent="0" algn="l" rtl="0">
              <a:spcBef>
                <a:spcPts val="0"/>
              </a:spcBef>
              <a:spcAft>
                <a:spcPts val="0"/>
              </a:spcAft>
              <a:buNone/>
            </a:pPr>
            <a:r>
              <a:rPr lang="en"/>
              <a:t>HYPOTHÈSE : Chaque classe suit une distribution normale (gaussienne) avec sa propre moyenne et variance.</a:t>
            </a:r>
            <a:endParaRPr/>
          </a:p>
          <a:p>
            <a:pPr marL="0" lvl="0" indent="0" algn="l" rtl="0">
              <a:spcBef>
                <a:spcPts val="0"/>
              </a:spcBef>
              <a:spcAft>
                <a:spcPts val="0"/>
              </a:spcAft>
              <a:buNone/>
            </a:pPr>
            <a:endParaRPr/>
          </a:p>
          <a:p>
            <a:pPr marL="0" lvl="0" indent="0" algn="l" rtl="0">
              <a:spcBef>
                <a:spcPts val="0"/>
              </a:spcBef>
              <a:spcAft>
                <a:spcPts val="0"/>
              </a:spcAft>
              <a:buNone/>
            </a:pPr>
            <a:r>
              <a:rPr lang="en"/>
              <a:t>Pour deux classes, on cherche le point x* où une observation a la même probabilité d'appartenir à l'une ou l'autre classe :</a:t>
            </a:r>
            <a:endParaRPr/>
          </a:p>
          <a:p>
            <a:pPr marL="0" lvl="0" indent="0" algn="l" rtl="0">
              <a:spcBef>
                <a:spcPts val="0"/>
              </a:spcBef>
              <a:spcAft>
                <a:spcPts val="0"/>
              </a:spcAft>
              <a:buNone/>
            </a:pPr>
            <a:r>
              <a:rPr lang="en"/>
              <a:t>P(Classe 1 | x*) = P(Classe 2 | x*)</a:t>
            </a:r>
            <a:endParaRPr/>
          </a:p>
          <a:p>
            <a:pPr marL="0" lvl="0" indent="0" algn="l" rtl="0">
              <a:spcBef>
                <a:spcPts val="0"/>
              </a:spcBef>
              <a:spcAft>
                <a:spcPts val="0"/>
              </a:spcAft>
              <a:buNone/>
            </a:pPr>
            <a:endParaRPr/>
          </a:p>
          <a:p>
            <a:pPr marL="0" lvl="0" indent="0" algn="l" rtl="0">
              <a:spcBef>
                <a:spcPts val="0"/>
              </a:spcBef>
              <a:spcAft>
                <a:spcPts val="0"/>
              </a:spcAft>
              <a:buNone/>
            </a:pPr>
            <a:r>
              <a:rPr lang="en"/>
              <a:t>En utilisant le théorème de Bayes et la fonction de densité normale, cela mène à une équation quadratique.</a:t>
            </a:r>
            <a:endParaRPr/>
          </a:p>
          <a:p>
            <a:pPr marL="0" lvl="0" indent="0" algn="l" rtl="0">
              <a:spcBef>
                <a:spcPts val="0"/>
              </a:spcBef>
              <a:spcAft>
                <a:spcPts val="0"/>
              </a:spcAft>
              <a:buNone/>
            </a:pPr>
            <a:endParaRPr/>
          </a:p>
          <a:p>
            <a:pPr marL="0" lvl="0" indent="0" algn="l" rtl="0">
              <a:spcBef>
                <a:spcPts val="0"/>
              </a:spcBef>
              <a:spcAft>
                <a:spcPts val="0"/>
              </a:spcAft>
              <a:buNone/>
            </a:pPr>
            <a:r>
              <a:rPr lang="en"/>
              <a:t>L'ÉQUATION QUADRATIQUE :</a:t>
            </a:r>
            <a:endParaRPr/>
          </a:p>
          <a:p>
            <a:pPr marL="0" lvl="0" indent="0" algn="l" rtl="0">
              <a:spcBef>
                <a:spcPts val="0"/>
              </a:spcBef>
              <a:spcAft>
                <a:spcPts val="0"/>
              </a:spcAft>
              <a:buNone/>
            </a:pPr>
            <a:r>
              <a:rPr lang="en"/>
              <a:t>ax² + bx + c = 0</a:t>
            </a:r>
            <a:endParaRPr/>
          </a:p>
          <a:p>
            <a:pPr marL="0" lvl="0" indent="0" algn="l" rtl="0">
              <a:spcBef>
                <a:spcPts val="0"/>
              </a:spcBef>
              <a:spcAft>
                <a:spcPts val="0"/>
              </a:spcAft>
              <a:buNone/>
            </a:pPr>
            <a:endParaRPr/>
          </a:p>
          <a:p>
            <a:pPr marL="0" lvl="0" indent="0" algn="l" rtl="0">
              <a:spcBef>
                <a:spcPts val="0"/>
              </a:spcBef>
              <a:spcAft>
                <a:spcPts val="0"/>
              </a:spcAft>
              <a:buNone/>
            </a:pPr>
            <a:r>
              <a:rPr lang="en"/>
              <a:t>Où :</a:t>
            </a:r>
            <a:endParaRPr/>
          </a:p>
          <a:p>
            <a:pPr marL="0" lvl="0" indent="0" algn="l" rtl="0">
              <a:spcBef>
                <a:spcPts val="0"/>
              </a:spcBef>
              <a:spcAft>
                <a:spcPts val="0"/>
              </a:spcAft>
              <a:buNone/>
            </a:pPr>
            <a:r>
              <a:rPr lang="en"/>
              <a:t>- a = σ₁² - σ₂² (différence des variances)</a:t>
            </a:r>
            <a:endParaRPr/>
          </a:p>
          <a:p>
            <a:pPr marL="0" lvl="0" indent="0" algn="l" rtl="0">
              <a:spcBef>
                <a:spcPts val="0"/>
              </a:spcBef>
              <a:spcAft>
                <a:spcPts val="0"/>
              </a:spcAft>
              <a:buNone/>
            </a:pPr>
            <a:r>
              <a:rPr lang="en"/>
              <a:t>- b = 2(μ₁σ₂² - μ₂σ₁²)</a:t>
            </a:r>
            <a:endParaRPr/>
          </a:p>
          <a:p>
            <a:pPr marL="0" lvl="0" indent="0" algn="l" rtl="0">
              <a:spcBef>
                <a:spcPts val="0"/>
              </a:spcBef>
              <a:spcAft>
                <a:spcPts val="0"/>
              </a:spcAft>
              <a:buNone/>
            </a:pPr>
            <a:r>
              <a:rPr lang="en"/>
              <a:t>- c implique les moyennes, variances et probabilités a priori</a:t>
            </a:r>
            <a:endParaRPr/>
          </a:p>
          <a:p>
            <a:pPr marL="0" lvl="0" indent="0" algn="l" rtl="0">
              <a:spcBef>
                <a:spcPts val="0"/>
              </a:spcBef>
              <a:spcAft>
                <a:spcPts val="0"/>
              </a:spcAft>
              <a:buNone/>
            </a:pPr>
            <a:endParaRPr/>
          </a:p>
          <a:p>
            <a:pPr marL="0" lvl="0" indent="0" algn="l" rtl="0">
              <a:spcBef>
                <a:spcPts val="0"/>
              </a:spcBef>
              <a:spcAft>
                <a:spcPts val="0"/>
              </a:spcAft>
              <a:buNone/>
            </a:pPr>
            <a:r>
              <a:rPr lang="en"/>
              <a:t>RÉSOLUTION :</a:t>
            </a:r>
            <a:endParaRPr/>
          </a:p>
          <a:p>
            <a:pPr marL="0" lvl="0" indent="0" algn="l" rtl="0">
              <a:spcBef>
                <a:spcPts val="0"/>
              </a:spcBef>
              <a:spcAft>
                <a:spcPts val="0"/>
              </a:spcAft>
              <a:buNone/>
            </a:pPr>
            <a:r>
              <a:rPr lang="en"/>
              <a:t>- Utiliser la formule quadratique standard : x = (-b ± √(b² - 4ac)) / 2a</a:t>
            </a:r>
            <a:endParaRPr/>
          </a:p>
          <a:p>
            <a:pPr marL="0" lvl="0" indent="0" algn="l" rtl="0">
              <a:spcBef>
                <a:spcPts val="0"/>
              </a:spcBef>
              <a:spcAft>
                <a:spcPts val="0"/>
              </a:spcAft>
              <a:buNone/>
            </a:pPr>
            <a:r>
              <a:rPr lang="en"/>
              <a:t>- Ceci donne 0, 1 ou 2 racines</a:t>
            </a:r>
            <a:endParaRPr/>
          </a:p>
          <a:p>
            <a:pPr marL="0" lvl="0" indent="0" algn="l" rtl="0">
              <a:spcBef>
                <a:spcPts val="0"/>
              </a:spcBef>
              <a:spcAft>
                <a:spcPts val="0"/>
              </a:spcAft>
              <a:buNone/>
            </a:pPr>
            <a:endParaRPr/>
          </a:p>
          <a:p>
            <a:pPr marL="0" lvl="0" indent="0" algn="l" rtl="0">
              <a:spcBef>
                <a:spcPts val="0"/>
              </a:spcBef>
              <a:spcAft>
                <a:spcPts val="0"/>
              </a:spcAft>
              <a:buNone/>
            </a:pPr>
            <a:r>
              <a:rPr lang="en"/>
              <a:t>SÉLECTION DE LA BONNE RACINE :</a:t>
            </a:r>
            <a:endParaRPr/>
          </a:p>
          <a:p>
            <a:pPr marL="0" lvl="0" indent="0" algn="l" rtl="0">
              <a:spcBef>
                <a:spcPts val="0"/>
              </a:spcBef>
              <a:spcAft>
                <a:spcPts val="0"/>
              </a:spcAft>
              <a:buNone/>
            </a:pPr>
            <a:r>
              <a:rPr lang="en"/>
              <a:t>- On a besoin d'une racine qui sépare réellement les classes</a:t>
            </a:r>
            <a:endParaRPr/>
          </a:p>
          <a:p>
            <a:pPr marL="0" lvl="0" indent="0" algn="l" rtl="0">
              <a:spcBef>
                <a:spcPts val="0"/>
              </a:spcBef>
              <a:spcAft>
                <a:spcPts val="0"/>
              </a:spcAft>
              <a:buNone/>
            </a:pPr>
            <a:r>
              <a:rPr lang="en"/>
              <a:t>- Elle doit se situer entre les deux moyennes de classe</a:t>
            </a:r>
            <a:endParaRPr/>
          </a:p>
          <a:p>
            <a:pPr marL="0" lvl="0" indent="0" algn="l" rtl="0">
              <a:spcBef>
                <a:spcPts val="0"/>
              </a:spcBef>
              <a:spcAft>
                <a:spcPts val="0"/>
              </a:spcAft>
              <a:buNone/>
            </a:pPr>
            <a:r>
              <a:rPr lang="en"/>
              <a:t>- Si les deux racines sont valides, choisir celle plus proche de la moyenne pondérée des moyennes</a:t>
            </a:r>
            <a:endParaRPr/>
          </a:p>
          <a:p>
            <a:pPr marL="0" lvl="0" indent="0" algn="l" rtl="0">
              <a:spcBef>
                <a:spcPts val="0"/>
              </a:spcBef>
              <a:spcAft>
                <a:spcPts val="0"/>
              </a:spcAft>
              <a:buNone/>
            </a:pPr>
            <a:endParaRPr/>
          </a:p>
          <a:p>
            <a:pPr marL="0" lvl="0" indent="0" algn="l" rtl="0">
              <a:spcBef>
                <a:spcPts val="0"/>
              </a:spcBef>
              <a:spcAft>
                <a:spcPts val="0"/>
              </a:spcAft>
              <a:buNone/>
            </a:pPr>
            <a:r>
              <a:rPr lang="en"/>
              <a:t>CAS PARTICULIERS :</a:t>
            </a:r>
            <a:endParaRPr/>
          </a:p>
          <a:p>
            <a:pPr marL="0" lvl="0" indent="0" algn="l" rtl="0">
              <a:spcBef>
                <a:spcPts val="0"/>
              </a:spcBef>
              <a:spcAft>
                <a:spcPts val="0"/>
              </a:spcAft>
              <a:buNone/>
            </a:pPr>
            <a:r>
              <a:rPr lang="en"/>
              <a:t>- Si σ₁² = σ₂² (variances égales) : Se réduit à l'Analyse Discriminante Linéaire (ADL), un simple point médian</a:t>
            </a:r>
            <a:endParaRPr/>
          </a:p>
          <a:p>
            <a:pPr marL="0" lvl="0" indent="0" algn="l" rtl="0">
              <a:spcBef>
                <a:spcPts val="0"/>
              </a:spcBef>
              <a:spcAft>
                <a:spcPts val="0"/>
              </a:spcAft>
              <a:buNone/>
            </a:pPr>
            <a:r>
              <a:rPr lang="en"/>
              <a:t>- Si aucune racine valide n'existe : Utiliser le point médian des moyennes</a:t>
            </a:r>
            <a:endParaRPr/>
          </a:p>
          <a:p>
            <a:pPr marL="0" lvl="0" indent="0" algn="l" rtl="0">
              <a:spcBef>
                <a:spcPts val="0"/>
              </a:spcBef>
              <a:spcAft>
                <a:spcPts val="0"/>
              </a:spcAft>
              <a:buNone/>
            </a:pPr>
            <a:r>
              <a:rPr lang="en"/>
              <a:t>- Si le discriminant est négatif : Les distributions ne se croisent pas ; utiliser le point médian</a:t>
            </a:r>
            <a:endParaRPr/>
          </a:p>
          <a:p>
            <a:pPr marL="0" lvl="0" indent="0" algn="l" rtl="0">
              <a:spcBef>
                <a:spcPts val="0"/>
              </a:spcBef>
              <a:spcAft>
                <a:spcPts val="0"/>
              </a:spcAft>
              <a:buNone/>
            </a:pPr>
            <a:endParaRPr/>
          </a:p>
          <a:p>
            <a:pPr marL="0" lvl="0" indent="0" algn="l" rtl="0">
              <a:spcBef>
                <a:spcPts val="0"/>
              </a:spcBef>
              <a:spcAft>
                <a:spcPts val="0"/>
              </a:spcAft>
              <a:buNone/>
            </a:pPr>
            <a:r>
              <a:rPr lang="en"/>
              <a:t>POUR LES PROBLÈMES MULTICLASSES :</a:t>
            </a:r>
            <a:endParaRPr/>
          </a:p>
          <a:p>
            <a:pPr marL="0" lvl="0" indent="0" algn="l" rtl="0">
              <a:spcBef>
                <a:spcPts val="0"/>
              </a:spcBef>
              <a:spcAft>
                <a:spcPts val="0"/>
              </a:spcAft>
              <a:buNone/>
            </a:pPr>
            <a:r>
              <a:rPr lang="en"/>
              <a:t>- QUEST utilise une simplification : considérer uniquement les deux plus grandes classes</a:t>
            </a:r>
            <a:endParaRPr/>
          </a:p>
          <a:p>
            <a:pPr marL="0" lvl="0" indent="0" algn="l" rtl="0">
              <a:spcBef>
                <a:spcPts val="0"/>
              </a:spcBef>
              <a:spcAft>
                <a:spcPts val="0"/>
              </a:spcAft>
              <a:buNone/>
            </a:pPr>
            <a:r>
              <a:rPr lang="en"/>
              <a:t>- Ceci réduit le problème à une discrimination binaire</a:t>
            </a:r>
            <a:endParaRPr/>
          </a:p>
          <a:p>
            <a:pPr marL="0" lvl="0" indent="0" algn="l" rtl="0">
              <a:spcBef>
                <a:spcPts val="0"/>
              </a:spcBef>
              <a:spcAft>
                <a:spcPts val="0"/>
              </a:spcAft>
              <a:buNone/>
            </a:pPr>
            <a:r>
              <a:rPr lang="en"/>
              <a:t>- Le point de coupure sépare ces deux classes ; les autres classes vont du côté auquel elles sont les plus proches</a:t>
            </a:r>
            <a:endParaRPr/>
          </a:p>
        </p:txBody>
      </p:sp>
      <p:sp>
        <p:nvSpPr>
          <p:cNvPr id="253" name="Google Shape;253;g3b0657ca3e8_2_19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b0657ca3e8_2_19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2" name="Google Shape;262;g3b0657ca3e8_2_19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La construction de l'arbre suit une approche récursive descendante.</a:t>
            </a:r>
            <a:endParaRPr/>
          </a:p>
          <a:p>
            <a:pPr marL="0" lvl="0" indent="0" algn="l" rtl="0">
              <a:spcBef>
                <a:spcPts val="0"/>
              </a:spcBef>
              <a:spcAft>
                <a:spcPts val="0"/>
              </a:spcAft>
              <a:buNone/>
            </a:pPr>
            <a:endParaRPr/>
          </a:p>
          <a:p>
            <a:pPr marL="0" lvl="0" indent="0" algn="l" rtl="0">
              <a:spcBef>
                <a:spcPts val="0"/>
              </a:spcBef>
              <a:spcAft>
                <a:spcPts val="0"/>
              </a:spcAft>
              <a:buNone/>
            </a:pPr>
            <a:r>
              <a:rPr lang="en"/>
              <a:t>LE PROCESSUS RÉCURSIF :</a:t>
            </a:r>
            <a:endParaRPr/>
          </a:p>
          <a:p>
            <a:pPr marL="0" lvl="0" indent="0" algn="l" rtl="0">
              <a:spcBef>
                <a:spcPts val="0"/>
              </a:spcBef>
              <a:spcAft>
                <a:spcPts val="0"/>
              </a:spcAft>
              <a:buNone/>
            </a:pPr>
            <a:endParaRPr/>
          </a:p>
          <a:p>
            <a:pPr marL="0" lvl="0" indent="0" algn="l" rtl="0">
              <a:spcBef>
                <a:spcPts val="0"/>
              </a:spcBef>
              <a:spcAft>
                <a:spcPts val="0"/>
              </a:spcAft>
              <a:buNone/>
            </a:pPr>
            <a:r>
              <a:rPr lang="en"/>
              <a:t>1. DÉBUTER À LA RACINE : Commencer avec toutes les observations d'entraînement dans un nœud unique</a:t>
            </a:r>
            <a:endParaRPr/>
          </a:p>
          <a:p>
            <a:pPr marL="0" lvl="0" indent="0" algn="l" rtl="0">
              <a:spcBef>
                <a:spcPts val="0"/>
              </a:spcBef>
              <a:spcAft>
                <a:spcPts val="0"/>
              </a:spcAft>
              <a:buNone/>
            </a:pPr>
            <a:endParaRPr/>
          </a:p>
          <a:p>
            <a:pPr marL="0" lvl="0" indent="0" algn="l" rtl="0">
              <a:spcBef>
                <a:spcPts val="0"/>
              </a:spcBef>
              <a:spcAft>
                <a:spcPts val="0"/>
              </a:spcAft>
              <a:buNone/>
            </a:pPr>
            <a:r>
              <a:rPr lang="en"/>
              <a:t>2. SÉLECTION DE VARIABLE (Algorithme 3) :</a:t>
            </a:r>
            <a:endParaRPr/>
          </a:p>
          <a:p>
            <a:pPr marL="0" lvl="0" indent="0" algn="l" rtl="0">
              <a:spcBef>
                <a:spcPts val="0"/>
              </a:spcBef>
              <a:spcAft>
                <a:spcPts val="0"/>
              </a:spcAft>
              <a:buNone/>
            </a:pPr>
            <a:r>
              <a:rPr lang="en"/>
              <a:t>   - Tester chaque variable pour l'association avec la classe</a:t>
            </a:r>
            <a:endParaRPr/>
          </a:p>
          <a:p>
            <a:pPr marL="0" lvl="0" indent="0" algn="l" rtl="0">
              <a:spcBef>
                <a:spcPts val="0"/>
              </a:spcBef>
              <a:spcAft>
                <a:spcPts val="0"/>
              </a:spcAft>
              <a:buNone/>
            </a:pPr>
            <a:r>
              <a:rPr lang="en"/>
              <a:t>   - Sélectionner celle avec la plus petite p-valeur</a:t>
            </a:r>
            <a:endParaRPr/>
          </a:p>
          <a:p>
            <a:pPr marL="0" lvl="0" indent="0" algn="l" rtl="0">
              <a:spcBef>
                <a:spcPts val="0"/>
              </a:spcBef>
              <a:spcAft>
                <a:spcPts val="0"/>
              </a:spcAft>
              <a:buNone/>
            </a:pPr>
            <a:endParaRPr/>
          </a:p>
          <a:p>
            <a:pPr marL="0" lvl="0" indent="0" algn="l" rtl="0">
              <a:spcBef>
                <a:spcPts val="0"/>
              </a:spcBef>
              <a:spcAft>
                <a:spcPts val="0"/>
              </a:spcAft>
              <a:buNone/>
            </a:pPr>
            <a:r>
              <a:rPr lang="en"/>
              <a:t>3. GÉRER LES CATÉGORIELLES (Algorithme 2) :</a:t>
            </a:r>
            <a:endParaRPr/>
          </a:p>
          <a:p>
            <a:pPr marL="0" lvl="0" indent="0" algn="l" rtl="0">
              <a:spcBef>
                <a:spcPts val="0"/>
              </a:spcBef>
              <a:spcAft>
                <a:spcPts val="0"/>
              </a:spcAft>
              <a:buNone/>
            </a:pPr>
            <a:r>
              <a:rPr lang="en"/>
              <a:t>   - Si la variable sélectionnée est catégorielle, la transformer via CRIMCOORDS</a:t>
            </a:r>
            <a:endParaRPr/>
          </a:p>
          <a:p>
            <a:pPr marL="0" lvl="0" indent="0" algn="l" rtl="0">
              <a:spcBef>
                <a:spcPts val="0"/>
              </a:spcBef>
              <a:spcAft>
                <a:spcPts val="0"/>
              </a:spcAft>
              <a:buNone/>
            </a:pPr>
            <a:r>
              <a:rPr lang="en"/>
              <a:t>   - Ceci produit un score numérique pour la recherche de coupure</a:t>
            </a:r>
            <a:endParaRPr/>
          </a:p>
          <a:p>
            <a:pPr marL="0" lvl="0" indent="0" algn="l" rtl="0">
              <a:spcBef>
                <a:spcPts val="0"/>
              </a:spcBef>
              <a:spcAft>
                <a:spcPts val="0"/>
              </a:spcAft>
              <a:buNone/>
            </a:pPr>
            <a:endParaRPr/>
          </a:p>
          <a:p>
            <a:pPr marL="0" lvl="0" indent="0" algn="l" rtl="0">
              <a:spcBef>
                <a:spcPts val="0"/>
              </a:spcBef>
              <a:spcAft>
                <a:spcPts val="0"/>
              </a:spcAft>
              <a:buNone/>
            </a:pPr>
            <a:r>
              <a:rPr lang="en"/>
              <a:t>4. TROUVER LE POINT DE COUPURE (Algorithme 1) :</a:t>
            </a:r>
            <a:endParaRPr/>
          </a:p>
          <a:p>
            <a:pPr marL="0" lvl="0" indent="0" algn="l" rtl="0">
              <a:spcBef>
                <a:spcPts val="0"/>
              </a:spcBef>
              <a:spcAft>
                <a:spcPts val="0"/>
              </a:spcAft>
              <a:buNone/>
            </a:pPr>
            <a:r>
              <a:rPr lang="en"/>
              <a:t>   - Utiliser l'ADQ pour trouver le seuil optimal</a:t>
            </a:r>
            <a:endParaRPr/>
          </a:p>
          <a:p>
            <a:pPr marL="0" lvl="0" indent="0" algn="l" rtl="0">
              <a:spcBef>
                <a:spcPts val="0"/>
              </a:spcBef>
              <a:spcAft>
                <a:spcPts val="0"/>
              </a:spcAft>
              <a:buNone/>
            </a:pPr>
            <a:r>
              <a:rPr lang="en"/>
              <a:t>   - Les observations ≤ seuil vont à gauche ; &gt; seuil vont à droite</a:t>
            </a:r>
            <a:endParaRPr/>
          </a:p>
          <a:p>
            <a:pPr marL="0" lvl="0" indent="0" algn="l" rtl="0">
              <a:spcBef>
                <a:spcPts val="0"/>
              </a:spcBef>
              <a:spcAft>
                <a:spcPts val="0"/>
              </a:spcAft>
              <a:buNone/>
            </a:pPr>
            <a:endParaRPr/>
          </a:p>
          <a:p>
            <a:pPr marL="0" lvl="0" indent="0" algn="l" rtl="0">
              <a:spcBef>
                <a:spcPts val="0"/>
              </a:spcBef>
              <a:spcAft>
                <a:spcPts val="0"/>
              </a:spcAft>
              <a:buNone/>
            </a:pPr>
            <a:r>
              <a:rPr lang="en"/>
              <a:t>5. CRÉER LES ENFANTS :</a:t>
            </a:r>
            <a:endParaRPr/>
          </a:p>
          <a:p>
            <a:pPr marL="0" lvl="0" indent="0" algn="l" rtl="0">
              <a:spcBef>
                <a:spcPts val="0"/>
              </a:spcBef>
              <a:spcAft>
                <a:spcPts val="0"/>
              </a:spcAft>
              <a:buNone/>
            </a:pPr>
            <a:r>
              <a:rPr lang="en"/>
              <a:t>   - Partitionner les données selon la coupure</a:t>
            </a:r>
            <a:endParaRPr/>
          </a:p>
          <a:p>
            <a:pPr marL="0" lvl="0" indent="0" algn="l" rtl="0">
              <a:spcBef>
                <a:spcPts val="0"/>
              </a:spcBef>
              <a:spcAft>
                <a:spcPts val="0"/>
              </a:spcAft>
              <a:buNone/>
            </a:pPr>
            <a:r>
              <a:rPr lang="en"/>
              <a:t>   - Créer les nœuds fils gauche et droit</a:t>
            </a:r>
            <a:endParaRPr/>
          </a:p>
          <a:p>
            <a:pPr marL="0" lvl="0" indent="0" algn="l" rtl="0">
              <a:spcBef>
                <a:spcPts val="0"/>
              </a:spcBef>
              <a:spcAft>
                <a:spcPts val="0"/>
              </a:spcAft>
              <a:buNone/>
            </a:pPr>
            <a:endParaRPr/>
          </a:p>
          <a:p>
            <a:pPr marL="0" lvl="0" indent="0" algn="l" rtl="0">
              <a:spcBef>
                <a:spcPts val="0"/>
              </a:spcBef>
              <a:spcAft>
                <a:spcPts val="0"/>
              </a:spcAft>
              <a:buNone/>
            </a:pPr>
            <a:r>
              <a:rPr lang="en"/>
              <a:t>6. RÉCURSER :</a:t>
            </a:r>
            <a:endParaRPr/>
          </a:p>
          <a:p>
            <a:pPr marL="0" lvl="0" indent="0" algn="l" rtl="0">
              <a:spcBef>
                <a:spcPts val="0"/>
              </a:spcBef>
              <a:spcAft>
                <a:spcPts val="0"/>
              </a:spcAft>
              <a:buNone/>
            </a:pPr>
            <a:r>
              <a:rPr lang="en"/>
              <a:t>   - Répéter le processus pour chaque nœud fils</a:t>
            </a:r>
            <a:endParaRPr/>
          </a:p>
          <a:p>
            <a:pPr marL="0" lvl="0" indent="0" algn="l" rtl="0">
              <a:spcBef>
                <a:spcPts val="0"/>
              </a:spcBef>
              <a:spcAft>
                <a:spcPts val="0"/>
              </a:spcAft>
              <a:buNone/>
            </a:pPr>
            <a:r>
              <a:rPr lang="en"/>
              <a:t>   - Chaque enfant devient un parent potentiel de futures coupures</a:t>
            </a:r>
            <a:endParaRPr/>
          </a:p>
          <a:p>
            <a:pPr marL="0" lvl="0" indent="0" algn="l" rtl="0">
              <a:spcBef>
                <a:spcPts val="0"/>
              </a:spcBef>
              <a:spcAft>
                <a:spcPts val="0"/>
              </a:spcAft>
              <a:buNone/>
            </a:pPr>
            <a:endParaRPr/>
          </a:p>
          <a:p>
            <a:pPr marL="0" lvl="0" indent="0" algn="l" rtl="0">
              <a:spcBef>
                <a:spcPts val="0"/>
              </a:spcBef>
              <a:spcAft>
                <a:spcPts val="0"/>
              </a:spcAft>
              <a:buNone/>
            </a:pPr>
            <a:r>
              <a:rPr lang="en"/>
              <a:t>CONDITIONS D'ARRÊT :</a:t>
            </a:r>
            <a:endParaRPr/>
          </a:p>
          <a:p>
            <a:pPr marL="0" lvl="0" indent="0" algn="l" rtl="0">
              <a:spcBef>
                <a:spcPts val="0"/>
              </a:spcBef>
              <a:spcAft>
                <a:spcPts val="0"/>
              </a:spcAft>
              <a:buNone/>
            </a:pPr>
            <a:endParaRPr/>
          </a:p>
          <a:p>
            <a:pPr marL="0" lvl="0" indent="0" algn="l" rtl="0">
              <a:spcBef>
                <a:spcPts val="0"/>
              </a:spcBef>
              <a:spcAft>
                <a:spcPts val="0"/>
              </a:spcAft>
              <a:buNone/>
            </a:pPr>
            <a:r>
              <a:rPr lang="en"/>
              <a:t>1. NŒUD PUR : Si toutes les observations dans un nœud appartiennent à la même classe, arrêter (c'est une feuille)</a:t>
            </a:r>
            <a:endParaRPr/>
          </a:p>
          <a:p>
            <a:pPr marL="0" lvl="0" indent="0" algn="l" rtl="0">
              <a:spcBef>
                <a:spcPts val="0"/>
              </a:spcBef>
              <a:spcAft>
                <a:spcPts val="0"/>
              </a:spcAft>
              <a:buNone/>
            </a:pPr>
            <a:endParaRPr/>
          </a:p>
          <a:p>
            <a:pPr marL="0" lvl="0" indent="0" algn="l" rtl="0">
              <a:spcBef>
                <a:spcPts val="0"/>
              </a:spcBef>
              <a:spcAft>
                <a:spcPts val="0"/>
              </a:spcAft>
              <a:buNone/>
            </a:pPr>
            <a:r>
              <a:rPr lang="en"/>
              <a:t>2. PROFONDEUR MAXIMALE : Si l'arbre a atteint une limite de profondeur prédéfinie, arrêter</a:t>
            </a:r>
            <a:endParaRPr/>
          </a:p>
          <a:p>
            <a:pPr marL="0" lvl="0" indent="0" algn="l" rtl="0">
              <a:spcBef>
                <a:spcPts val="0"/>
              </a:spcBef>
              <a:spcAft>
                <a:spcPts val="0"/>
              </a:spcAft>
              <a:buNone/>
            </a:pPr>
            <a:endParaRPr/>
          </a:p>
          <a:p>
            <a:pPr marL="0" lvl="0" indent="0" algn="l" rtl="0">
              <a:spcBef>
                <a:spcPts val="0"/>
              </a:spcBef>
              <a:spcAft>
                <a:spcPts val="0"/>
              </a:spcAft>
              <a:buNone/>
            </a:pPr>
            <a:r>
              <a:rPr lang="en"/>
              <a:t>3. NOMBRE MINIMUM D'ÉCHANTILLONS : Si le nœud a moins que le nombre seuil d'observations, arrêter</a:t>
            </a:r>
            <a:endParaRPr/>
          </a:p>
          <a:p>
            <a:pPr marL="0" lvl="0" indent="0" algn="l" rtl="0">
              <a:spcBef>
                <a:spcPts val="0"/>
              </a:spcBef>
              <a:spcAft>
                <a:spcPts val="0"/>
              </a:spcAft>
              <a:buNone/>
            </a:pPr>
            <a:endParaRPr/>
          </a:p>
          <a:p>
            <a:pPr marL="0" lvl="0" indent="0" algn="l" rtl="0">
              <a:spcBef>
                <a:spcPts val="0"/>
              </a:spcBef>
              <a:spcAft>
                <a:spcPts val="0"/>
              </a:spcAft>
              <a:buNone/>
            </a:pPr>
            <a:r>
              <a:rPr lang="en"/>
              <a:t>4. AUCUNE VARIABLE SIGNIFICATIVE : Si tous les tests statistiques échouent à trouver une variable significative (toutes les p-valeurs &gt; α), arrêter</a:t>
            </a:r>
            <a:endParaRPr/>
          </a:p>
          <a:p>
            <a:pPr marL="0" lvl="0" indent="0" algn="l" rtl="0">
              <a:spcBef>
                <a:spcPts val="0"/>
              </a:spcBef>
              <a:spcAft>
                <a:spcPts val="0"/>
              </a:spcAft>
              <a:buNone/>
            </a:pPr>
            <a:endParaRPr/>
          </a:p>
          <a:p>
            <a:pPr marL="0" lvl="0" indent="0" algn="l" rtl="0">
              <a:spcBef>
                <a:spcPts val="0"/>
              </a:spcBef>
              <a:spcAft>
                <a:spcPts val="0"/>
              </a:spcAft>
              <a:buNone/>
            </a:pPr>
            <a:r>
              <a:rPr lang="en"/>
              <a:t>Quand un nœud arrête de se diviser, il devient un NŒUD FEUILLE :</a:t>
            </a:r>
            <a:endParaRPr/>
          </a:p>
          <a:p>
            <a:pPr marL="0" lvl="0" indent="0" algn="l" rtl="0">
              <a:spcBef>
                <a:spcPts val="0"/>
              </a:spcBef>
              <a:spcAft>
                <a:spcPts val="0"/>
              </a:spcAft>
              <a:buNone/>
            </a:pPr>
            <a:r>
              <a:rPr lang="en"/>
              <a:t>- Assigné de la classe majorité des observations dans ce nœud</a:t>
            </a:r>
            <a:endParaRPr/>
          </a:p>
          <a:p>
            <a:pPr marL="0" lvl="0" indent="0" algn="l" rtl="0">
              <a:spcBef>
                <a:spcPts val="0"/>
              </a:spcBef>
              <a:spcAft>
                <a:spcPts val="0"/>
              </a:spcAft>
              <a:buNone/>
            </a:pPr>
            <a:r>
              <a:rPr lang="en"/>
              <a:t>- Utilisé pour faire des prédictions sur de nouvelles données</a:t>
            </a:r>
            <a:endParaRPr/>
          </a:p>
        </p:txBody>
      </p:sp>
      <p:sp>
        <p:nvSpPr>
          <p:cNvPr id="263" name="Google Shape;263;g3b0657ca3e8_2_19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b0657ca3e8_2_20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1" name="Google Shape;271;g3b0657ca3e8_2_20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QUEST offre plusieurs avantages significatifs par rapport aux algorithmes d'arbres de décision traditionnels.</a:t>
            </a:r>
            <a:endParaRPr/>
          </a:p>
          <a:p>
            <a:pPr marL="0" lvl="0" indent="0" algn="l" rtl="0">
              <a:spcBef>
                <a:spcPts val="0"/>
              </a:spcBef>
              <a:spcAft>
                <a:spcPts val="0"/>
              </a:spcAft>
              <a:buNone/>
            </a:pPr>
            <a:endParaRPr/>
          </a:p>
          <a:p>
            <a:pPr marL="0" lvl="0" indent="0" algn="l" rtl="0">
              <a:spcBef>
                <a:spcPts val="0"/>
              </a:spcBef>
              <a:spcAft>
                <a:spcPts val="0"/>
              </a:spcAft>
              <a:buNone/>
            </a:pPr>
            <a:r>
              <a:rPr lang="en"/>
              <a:t>1. NON BIAISÉ STATISTIQUEMENT :</a:t>
            </a:r>
            <a:endParaRPr/>
          </a:p>
          <a:p>
            <a:pPr marL="0" lvl="0" indent="0" algn="l" rtl="0">
              <a:spcBef>
                <a:spcPts val="0"/>
              </a:spcBef>
              <a:spcAft>
                <a:spcPts val="0"/>
              </a:spcAft>
              <a:buNone/>
            </a:pPr>
            <a:r>
              <a:rPr lang="en"/>
              <a:t>L'innovation clé de QUEST. En utilisant les p-valeurs des tests statistiques, chaque variable est évaluée équitablement. Une variable avec 2 catégories a la même p-valeur attendue sous l'hypothèse nulle qu'une avec 100 catégories. Ceci élimine le biais systématique présent dans CART et C4.5.</a:t>
            </a:r>
            <a:endParaRPr/>
          </a:p>
          <a:p>
            <a:pPr marL="0" lvl="0" indent="0" algn="l" rtl="0">
              <a:spcBef>
                <a:spcPts val="0"/>
              </a:spcBef>
              <a:spcAft>
                <a:spcPts val="0"/>
              </a:spcAft>
              <a:buNone/>
            </a:pPr>
            <a:endParaRPr/>
          </a:p>
          <a:p>
            <a:pPr marL="0" lvl="0" indent="0" algn="l" rtl="0">
              <a:spcBef>
                <a:spcPts val="0"/>
              </a:spcBef>
              <a:spcAft>
                <a:spcPts val="0"/>
              </a:spcAft>
              <a:buNone/>
            </a:pPr>
            <a:r>
              <a:rPr lang="en"/>
              <a:t>2. EFFICACE COMPUTATIONNELLEMENT :</a:t>
            </a:r>
            <a:endParaRPr/>
          </a:p>
          <a:p>
            <a:pPr marL="0" lvl="0" indent="0" algn="l" rtl="0">
              <a:spcBef>
                <a:spcPts val="0"/>
              </a:spcBef>
              <a:spcAft>
                <a:spcPts val="0"/>
              </a:spcAft>
              <a:buNone/>
            </a:pPr>
            <a:r>
              <a:rPr lang="en"/>
              <a:t>QUEST a besoin uniquement de :</a:t>
            </a:r>
            <a:endParaRPr/>
          </a:p>
          <a:p>
            <a:pPr marL="0" lvl="0" indent="0" algn="l" rtl="0">
              <a:spcBef>
                <a:spcPts val="0"/>
              </a:spcBef>
              <a:spcAft>
                <a:spcPts val="0"/>
              </a:spcAft>
              <a:buNone/>
            </a:pPr>
            <a:r>
              <a:rPr lang="en"/>
              <a:t>- Calculer les statistiques de test pour chaque variable : O(n) par variable</a:t>
            </a:r>
            <a:endParaRPr/>
          </a:p>
          <a:p>
            <a:pPr marL="0" lvl="0" indent="0" algn="l" rtl="0">
              <a:spcBef>
                <a:spcPts val="0"/>
              </a:spcBef>
              <a:spcAft>
                <a:spcPts val="0"/>
              </a:spcAft>
              <a:buNone/>
            </a:pPr>
            <a:r>
              <a:rPr lang="en"/>
              <a:t>- Trouver un point de coupure via l'ADQ : O(n)</a:t>
            </a:r>
            <a:endParaRPr/>
          </a:p>
          <a:p>
            <a:pPr marL="0" lvl="0" indent="0" algn="l" rtl="0">
              <a:spcBef>
                <a:spcPts val="0"/>
              </a:spcBef>
              <a:spcAft>
                <a:spcPts val="0"/>
              </a:spcAft>
              <a:buNone/>
            </a:pPr>
            <a:r>
              <a:rPr lang="en"/>
              <a:t>Total : O(np) où n = observations, p = variables</a:t>
            </a:r>
            <a:endParaRPr/>
          </a:p>
          <a:p>
            <a:pPr marL="0" lvl="0" indent="0" algn="l" rtl="0">
              <a:spcBef>
                <a:spcPts val="0"/>
              </a:spcBef>
              <a:spcAft>
                <a:spcPts val="0"/>
              </a:spcAft>
              <a:buNone/>
            </a:pPr>
            <a:endParaRPr/>
          </a:p>
          <a:p>
            <a:pPr marL="0" lvl="0" indent="0" algn="l" rtl="0">
              <a:spcBef>
                <a:spcPts val="0"/>
              </a:spcBef>
              <a:spcAft>
                <a:spcPts val="0"/>
              </a:spcAft>
              <a:buNone/>
            </a:pPr>
            <a:r>
              <a:rPr lang="en"/>
              <a:t>CART, en contraste, doit évaluer tous les points de coupure possibles pour toutes les variables, menant à O(n²p) ou pire.</a:t>
            </a:r>
            <a:endParaRPr/>
          </a:p>
          <a:p>
            <a:pPr marL="0" lvl="0" indent="0" algn="l" rtl="0">
              <a:spcBef>
                <a:spcPts val="0"/>
              </a:spcBef>
              <a:spcAft>
                <a:spcPts val="0"/>
              </a:spcAft>
              <a:buNone/>
            </a:pPr>
            <a:endParaRPr/>
          </a:p>
          <a:p>
            <a:pPr marL="0" lvl="0" indent="0" algn="l" rtl="0">
              <a:spcBef>
                <a:spcPts val="0"/>
              </a:spcBef>
              <a:spcAft>
                <a:spcPts val="0"/>
              </a:spcAft>
              <a:buNone/>
            </a:pPr>
            <a:r>
              <a:rPr lang="en"/>
              <a:t>3. SÉPARATION PROPRE DES PRÉOCCUPATIONS :</a:t>
            </a:r>
            <a:endParaRPr/>
          </a:p>
          <a:p>
            <a:pPr marL="0" lvl="0" indent="0" algn="l" rtl="0">
              <a:spcBef>
                <a:spcPts val="0"/>
              </a:spcBef>
              <a:spcAft>
                <a:spcPts val="0"/>
              </a:spcAft>
              <a:buNone/>
            </a:pPr>
            <a:r>
              <a:rPr lang="en"/>
              <a:t>Le découplage de la sélection et de la recherche de coupure signifie :</a:t>
            </a:r>
            <a:endParaRPr/>
          </a:p>
          <a:p>
            <a:pPr marL="0" lvl="0" indent="0" algn="l" rtl="0">
              <a:spcBef>
                <a:spcPts val="0"/>
              </a:spcBef>
              <a:spcAft>
                <a:spcPts val="0"/>
              </a:spcAft>
              <a:buNone/>
            </a:pPr>
            <a:r>
              <a:rPr lang="en"/>
              <a:t>- Chaque composant peut être analysé indépendamment</a:t>
            </a:r>
            <a:endParaRPr/>
          </a:p>
          <a:p>
            <a:pPr marL="0" lvl="0" indent="0" algn="l" rtl="0">
              <a:spcBef>
                <a:spcPts val="0"/>
              </a:spcBef>
              <a:spcAft>
                <a:spcPts val="0"/>
              </a:spcAft>
              <a:buNone/>
            </a:pPr>
            <a:r>
              <a:rPr lang="en"/>
              <a:t>- Les propriétés statistiques de chaque étape sont bien comprises</a:t>
            </a:r>
            <a:endParaRPr/>
          </a:p>
          <a:p>
            <a:pPr marL="0" lvl="0" indent="0" algn="l" rtl="0">
              <a:spcBef>
                <a:spcPts val="0"/>
              </a:spcBef>
              <a:spcAft>
                <a:spcPts val="0"/>
              </a:spcAft>
              <a:buNone/>
            </a:pPr>
            <a:r>
              <a:rPr lang="en"/>
              <a:t>- Plus facile de diagnostiquer et améliorer les composants individuels</a:t>
            </a:r>
            <a:endParaRPr/>
          </a:p>
          <a:p>
            <a:pPr marL="0" lvl="0" indent="0" algn="l" rtl="0">
              <a:spcBef>
                <a:spcPts val="0"/>
              </a:spcBef>
              <a:spcAft>
                <a:spcPts val="0"/>
              </a:spcAft>
              <a:buNone/>
            </a:pPr>
            <a:endParaRPr/>
          </a:p>
          <a:p>
            <a:pPr marL="0" lvl="0" indent="0" algn="l" rtl="0">
              <a:spcBef>
                <a:spcPts val="0"/>
              </a:spcBef>
              <a:spcAft>
                <a:spcPts val="0"/>
              </a:spcAft>
              <a:buNone/>
            </a:pPr>
            <a:r>
              <a:rPr lang="en"/>
              <a:t>4. TRAITEMENT ROBUSTE DES CATÉGORIELLES :</a:t>
            </a:r>
            <a:endParaRPr/>
          </a:p>
          <a:p>
            <a:pPr marL="0" lvl="0" indent="0" algn="l" rtl="0">
              <a:spcBef>
                <a:spcPts val="0"/>
              </a:spcBef>
              <a:spcAft>
                <a:spcPts val="0"/>
              </a:spcAft>
              <a:buNone/>
            </a:pPr>
            <a:r>
              <a:rPr lang="en"/>
              <a:t>CRIMCOORDS transforme les variables catégorielles de manière princ ipiée :</a:t>
            </a:r>
            <a:endParaRPr/>
          </a:p>
          <a:p>
            <a:pPr marL="0" lvl="0" indent="0" algn="l" rtl="0">
              <a:spcBef>
                <a:spcPts val="0"/>
              </a:spcBef>
              <a:spcAft>
                <a:spcPts val="0"/>
              </a:spcAft>
              <a:buNone/>
            </a:pPr>
            <a:r>
              <a:rPr lang="en"/>
              <a:t>- Évite l'énumération de sous-ensembles 2^(k-1)</a:t>
            </a:r>
            <a:endParaRPr/>
          </a:p>
          <a:p>
            <a:pPr marL="0" lvl="0" indent="0" algn="l" rtl="0">
              <a:spcBef>
                <a:spcPts val="0"/>
              </a:spcBef>
              <a:spcAft>
                <a:spcPts val="0"/>
              </a:spcAft>
              <a:buNone/>
            </a:pPr>
            <a:r>
              <a:rPr lang="en"/>
              <a:t>- Utilise les coordonnées discriminantes pour une transformation optimale</a:t>
            </a:r>
            <a:endParaRPr/>
          </a:p>
          <a:p>
            <a:pPr marL="0" lvl="0" indent="0" algn="l" rtl="0">
              <a:spcBef>
                <a:spcPts val="0"/>
              </a:spcBef>
              <a:spcAft>
                <a:spcPts val="0"/>
              </a:spcAft>
              <a:buNone/>
            </a:pPr>
            <a:r>
              <a:rPr lang="en"/>
              <a:t>- Gère les matrices singulières via SVD</a:t>
            </a:r>
            <a:endParaRPr/>
          </a:p>
          <a:p>
            <a:pPr marL="0" lvl="0" indent="0" algn="l" rtl="0">
              <a:spcBef>
                <a:spcPts val="0"/>
              </a:spcBef>
              <a:spcAft>
                <a:spcPts val="0"/>
              </a:spcAft>
              <a:buNone/>
            </a:pPr>
            <a:endParaRPr/>
          </a:p>
          <a:p>
            <a:pPr marL="0" lvl="0" indent="0" algn="l" rtl="0">
              <a:spcBef>
                <a:spcPts val="0"/>
              </a:spcBef>
              <a:spcAft>
                <a:spcPts val="0"/>
              </a:spcAft>
              <a:buNone/>
            </a:pPr>
            <a:r>
              <a:rPr lang="en"/>
              <a:t>5. RIGUEUR STATISTIQUE :</a:t>
            </a:r>
            <a:endParaRPr/>
          </a:p>
          <a:p>
            <a:pPr marL="0" lvl="0" indent="0" algn="l" rtl="0">
              <a:spcBef>
                <a:spcPts val="0"/>
              </a:spcBef>
              <a:spcAft>
                <a:spcPts val="0"/>
              </a:spcAft>
              <a:buNone/>
            </a:pPr>
            <a:r>
              <a:rPr lang="en"/>
              <a:t>Chaque étape de QUEST a une justification statistique :</a:t>
            </a:r>
            <a:endParaRPr/>
          </a:p>
          <a:p>
            <a:pPr marL="0" lvl="0" indent="0" algn="l" rtl="0">
              <a:spcBef>
                <a:spcPts val="0"/>
              </a:spcBef>
              <a:spcAft>
                <a:spcPts val="0"/>
              </a:spcAft>
              <a:buNone/>
            </a:pPr>
            <a:r>
              <a:rPr lang="en"/>
              <a:t>- ANOVA teste les différences de moyennes</a:t>
            </a:r>
            <a:endParaRPr/>
          </a:p>
          <a:p>
            <a:pPr marL="0" lvl="0" indent="0" algn="l" rtl="0">
              <a:spcBef>
                <a:spcPts val="0"/>
              </a:spcBef>
              <a:spcAft>
                <a:spcPts val="0"/>
              </a:spcAft>
              <a:buNone/>
            </a:pPr>
            <a:r>
              <a:rPr lang="en"/>
              <a:t>- Chi-deux teste l'indépendance</a:t>
            </a:r>
            <a:endParaRPr/>
          </a:p>
          <a:p>
            <a:pPr marL="0" lvl="0" indent="0" algn="l" rtl="0">
              <a:spcBef>
                <a:spcPts val="0"/>
              </a:spcBef>
              <a:spcAft>
                <a:spcPts val="0"/>
              </a:spcAft>
              <a:buNone/>
            </a:pPr>
            <a:r>
              <a:rPr lang="en"/>
              <a:t>- Levene teste l'homogénéité des variances</a:t>
            </a:r>
            <a:endParaRPr/>
          </a:p>
          <a:p>
            <a:pPr marL="0" lvl="0" indent="0" algn="l" rtl="0">
              <a:spcBef>
                <a:spcPts val="0"/>
              </a:spcBef>
              <a:spcAft>
                <a:spcPts val="0"/>
              </a:spcAft>
              <a:buNone/>
            </a:pPr>
            <a:r>
              <a:rPr lang="en"/>
              <a:t>- L'ADQ fournit les frontières de classe optimales sous normalité</a:t>
            </a:r>
            <a:endParaRPr/>
          </a:p>
          <a:p>
            <a:pPr marL="0" lvl="0" indent="0" algn="l" rtl="0">
              <a:spcBef>
                <a:spcPts val="0"/>
              </a:spcBef>
              <a:spcAft>
                <a:spcPts val="0"/>
              </a:spcAft>
              <a:buNone/>
            </a:pPr>
            <a:endParaRPr/>
          </a:p>
          <a:p>
            <a:pPr marL="0" lvl="0" indent="0" algn="l" rtl="0">
              <a:spcBef>
                <a:spcPts val="0"/>
              </a:spcBef>
              <a:spcAft>
                <a:spcPts val="0"/>
              </a:spcAft>
              <a:buNone/>
            </a:pPr>
            <a:r>
              <a:rPr lang="en"/>
              <a:t>6. INTERPRÉTABLE :</a:t>
            </a:r>
            <a:endParaRPr/>
          </a:p>
          <a:p>
            <a:pPr marL="0" lvl="0" indent="0" algn="l" rtl="0">
              <a:spcBef>
                <a:spcPts val="0"/>
              </a:spcBef>
              <a:spcAft>
                <a:spcPts val="0"/>
              </a:spcAft>
              <a:buNone/>
            </a:pPr>
            <a:r>
              <a:rPr lang="en"/>
              <a:t>Malgé sa sophistication statistique, le résultat est un arbre binaire simple qui peut être compris et expliqué aux experts du domaine.</a:t>
            </a:r>
            <a:endParaRPr/>
          </a:p>
        </p:txBody>
      </p:sp>
      <p:sp>
        <p:nvSpPr>
          <p:cNvPr id="272" name="Google Shape;272;g3b0657ca3e8_2_20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b0657ca3e8_2_22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4" name="Google Shape;284;g3b0657ca3e8_2_2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Aucun algorithme n'est parfait, et QUEST a plusieurs limitations à connaître.</a:t>
            </a:r>
            <a:endParaRPr/>
          </a:p>
          <a:p>
            <a:pPr marL="0" lvl="0" indent="0" algn="l" rtl="0">
              <a:spcBef>
                <a:spcPts val="0"/>
              </a:spcBef>
              <a:spcAft>
                <a:spcPts val="0"/>
              </a:spcAft>
              <a:buNone/>
            </a:pPr>
            <a:endParaRPr/>
          </a:p>
          <a:p>
            <a:pPr marL="0" lvl="0" indent="0" algn="l" rtl="0">
              <a:spcBef>
                <a:spcPts val="0"/>
              </a:spcBef>
              <a:spcAft>
                <a:spcPts val="0"/>
              </a:spcAft>
              <a:buNone/>
            </a:pPr>
            <a:r>
              <a:rPr lang="en"/>
              <a:t>1. COUPURES BINAIRES UNIQUEMENT :</a:t>
            </a:r>
            <a:endParaRPr/>
          </a:p>
          <a:p>
            <a:pPr marL="0" lvl="0" indent="0" algn="l" rtl="0">
              <a:spcBef>
                <a:spcPts val="0"/>
              </a:spcBef>
              <a:spcAft>
                <a:spcPts val="0"/>
              </a:spcAft>
              <a:buNone/>
            </a:pPr>
            <a:r>
              <a:rPr lang="en"/>
              <a:t>QUEST produit toujours des arbres binaires. Pour une variable catégorielle avec 5 catégories, vous pourriez avoir besoin de plusieurs coupures pour séparer toutes les catégories, tandis que C4.5 pourrait le faire en une coupure à 5 voies. Ceci peut mener à des arbres plus profonds.</a:t>
            </a:r>
            <a:endParaRPr/>
          </a:p>
          <a:p>
            <a:pPr marL="0" lvl="0" indent="0" algn="l" rtl="0">
              <a:spcBef>
                <a:spcPts val="0"/>
              </a:spcBef>
              <a:spcAft>
                <a:spcPts val="0"/>
              </a:spcAft>
              <a:buNone/>
            </a:pPr>
            <a:endParaRPr/>
          </a:p>
          <a:p>
            <a:pPr marL="0" lvl="0" indent="0" algn="l" rtl="0">
              <a:spcBef>
                <a:spcPts val="0"/>
              </a:spcBef>
              <a:spcAft>
                <a:spcPts val="0"/>
              </a:spcAft>
              <a:buNone/>
            </a:pPr>
            <a:r>
              <a:rPr lang="en"/>
              <a:t>2. MATHÉMATIQUES PLUS COMPLEXES :</a:t>
            </a:r>
            <a:endParaRPr/>
          </a:p>
          <a:p>
            <a:pPr marL="0" lvl="0" indent="0" algn="l" rtl="0">
              <a:spcBef>
                <a:spcPts val="0"/>
              </a:spcBef>
              <a:spcAft>
                <a:spcPts val="0"/>
              </a:spcAft>
              <a:buNone/>
            </a:pPr>
            <a:r>
              <a:rPr lang="en"/>
              <a:t>Pour vraiment comprendre QUEST, vous avez besoin de familiarité avec :</a:t>
            </a:r>
            <a:endParaRPr/>
          </a:p>
          <a:p>
            <a:pPr marL="0" lvl="0" indent="0" algn="l" rtl="0">
              <a:spcBef>
                <a:spcPts val="0"/>
              </a:spcBef>
              <a:spcAft>
                <a:spcPts val="0"/>
              </a:spcAft>
              <a:buNone/>
            </a:pPr>
            <a:r>
              <a:rPr lang="en"/>
              <a:t>- ANOVA et distributions F</a:t>
            </a:r>
            <a:endParaRPr/>
          </a:p>
          <a:p>
            <a:pPr marL="0" lvl="0" indent="0" algn="l" rtl="0">
              <a:spcBef>
                <a:spcPts val="0"/>
              </a:spcBef>
              <a:spcAft>
                <a:spcPts val="0"/>
              </a:spcAft>
              <a:buNone/>
            </a:pPr>
            <a:r>
              <a:rPr lang="en"/>
              <a:t>- Tests du Chi-deux et tables de contingence</a:t>
            </a:r>
            <a:endParaRPr/>
          </a:p>
          <a:p>
            <a:pPr marL="0" lvl="0" indent="0" algn="l" rtl="0">
              <a:spcBef>
                <a:spcPts val="0"/>
              </a:spcBef>
              <a:spcAft>
                <a:spcPts val="0"/>
              </a:spcAft>
              <a:buNone/>
            </a:pPr>
            <a:r>
              <a:rPr lang="en"/>
              <a:t>- Analyse Discriminante Quadratique</a:t>
            </a:r>
            <a:endParaRPr/>
          </a:p>
          <a:p>
            <a:pPr marL="0" lvl="0" indent="0" algn="l" rtl="0">
              <a:spcBef>
                <a:spcPts val="0"/>
              </a:spcBef>
              <a:spcAft>
                <a:spcPts val="0"/>
              </a:spcAft>
              <a:buNone/>
            </a:pPr>
            <a:r>
              <a:rPr lang="en"/>
              <a:t>- Décomposition en Valeurs Singulières</a:t>
            </a:r>
            <a:endParaRPr/>
          </a:p>
          <a:p>
            <a:pPr marL="0" lvl="0" indent="0" algn="l" rtl="0">
              <a:spcBef>
                <a:spcPts val="0"/>
              </a:spcBef>
              <a:spcAft>
                <a:spcPts val="0"/>
              </a:spcAft>
              <a:buNone/>
            </a:pPr>
            <a:r>
              <a:rPr lang="en"/>
              <a:t>Ceci le rend plus difficile à enseigner et implémenter correctement.</a:t>
            </a:r>
            <a:endParaRPr/>
          </a:p>
          <a:p>
            <a:pPr marL="0" lvl="0" indent="0" algn="l" rtl="0">
              <a:spcBef>
                <a:spcPts val="0"/>
              </a:spcBef>
              <a:spcAft>
                <a:spcPts val="0"/>
              </a:spcAft>
              <a:buNone/>
            </a:pPr>
            <a:endParaRPr/>
          </a:p>
          <a:p>
            <a:pPr marL="0" lvl="0" indent="0" algn="l" rtl="0">
              <a:spcBef>
                <a:spcPts val="0"/>
              </a:spcBef>
              <a:spcAft>
                <a:spcPts val="0"/>
              </a:spcAft>
              <a:buNone/>
            </a:pPr>
            <a:r>
              <a:rPr lang="en"/>
              <a:t>3. CLASSIFICATION UNIQUEMENT :</a:t>
            </a:r>
            <a:endParaRPr/>
          </a:p>
          <a:p>
            <a:pPr marL="0" lvl="0" indent="0" algn="l" rtl="0">
              <a:spcBef>
                <a:spcPts val="0"/>
              </a:spcBef>
              <a:spcAft>
                <a:spcPts val="0"/>
              </a:spcAft>
              <a:buNone/>
            </a:pPr>
            <a:r>
              <a:rPr lang="en"/>
              <a:t>L'article original de QUEST se concentre sur la classification. Pour les arbres de régression, Loh et Shih ont développé ultérieurement GUIDE (Generalized, Unbiased, Interaction Detection and Estimation), qui étend les idées à la régression.</a:t>
            </a:r>
            <a:endParaRPr/>
          </a:p>
          <a:p>
            <a:pPr marL="0" lvl="0" indent="0" algn="l" rtl="0">
              <a:spcBef>
                <a:spcPts val="0"/>
              </a:spcBef>
              <a:spcAft>
                <a:spcPts val="0"/>
              </a:spcAft>
              <a:buNone/>
            </a:pPr>
            <a:endParaRPr/>
          </a:p>
          <a:p>
            <a:pPr marL="0" lvl="0" indent="0" algn="l" rtl="0">
              <a:spcBef>
                <a:spcPts val="0"/>
              </a:spcBef>
              <a:spcAft>
                <a:spcPts val="0"/>
              </a:spcAft>
              <a:buNone/>
            </a:pPr>
            <a:r>
              <a:rPr lang="en"/>
              <a:t>4. HYPOTHÈSE DE NORMALITÉ :</a:t>
            </a:r>
            <a:endParaRPr/>
          </a:p>
          <a:p>
            <a:pPr marL="0" lvl="0" indent="0" algn="l" rtl="0">
              <a:spcBef>
                <a:spcPts val="0"/>
              </a:spcBef>
              <a:spcAft>
                <a:spcPts val="0"/>
              </a:spcAft>
              <a:buNone/>
            </a:pPr>
            <a:r>
              <a:rPr lang="en"/>
              <a:t>L'ADQ suppose que chaque classe suit une distribution normale. Quand cette hypothèse est sévèrement viollée, les points de coupure peuvent ne pas être optimaux. Cependant, en pratique, l'algorithme est assez robuste aux écarts modérés de la normalité.</a:t>
            </a:r>
            <a:endParaRPr/>
          </a:p>
          <a:p>
            <a:pPr marL="0" lvl="0" indent="0" algn="l" rtl="0">
              <a:spcBef>
                <a:spcPts val="0"/>
              </a:spcBef>
              <a:spcAft>
                <a:spcPts val="0"/>
              </a:spcAft>
              <a:buNone/>
            </a:pPr>
            <a:endParaRPr/>
          </a:p>
          <a:p>
            <a:pPr marL="0" lvl="0" indent="0" algn="l" rtl="0">
              <a:spcBef>
                <a:spcPts val="0"/>
              </a:spcBef>
              <a:spcAft>
                <a:spcPts val="0"/>
              </a:spcAft>
              <a:buNone/>
            </a:pPr>
            <a:r>
              <a:rPr lang="en"/>
              <a:t>5. MOINS INTUITIF :</a:t>
            </a:r>
            <a:endParaRPr/>
          </a:p>
          <a:p>
            <a:pPr marL="0" lvl="0" indent="0" algn="l" rtl="0">
              <a:spcBef>
                <a:spcPts val="0"/>
              </a:spcBef>
              <a:spcAft>
                <a:spcPts val="0"/>
              </a:spcAft>
              <a:buNone/>
            </a:pPr>
            <a:r>
              <a:rPr lang="en"/>
              <a:t>Expliquer "nous sélectionnons la variable avec la plus petite p-valeur des tests ANOVA/Chi-deux, puis utilisons l'ADQ pour trouver la coupure" est plus difficile que le "nous choisissons la coupure qui sépare le mieux les classes" de CART.</a:t>
            </a:r>
            <a:endParaRPr/>
          </a:p>
          <a:p>
            <a:pPr marL="0" lvl="0" indent="0" algn="l" rtl="0">
              <a:spcBef>
                <a:spcPts val="0"/>
              </a:spcBef>
              <a:spcAft>
                <a:spcPts val="0"/>
              </a:spcAft>
              <a:buNone/>
            </a:pPr>
            <a:endParaRPr/>
          </a:p>
          <a:p>
            <a:pPr marL="0" lvl="0" indent="0" algn="l" rtl="0">
              <a:spcBef>
                <a:spcPts val="0"/>
              </a:spcBef>
              <a:spcAft>
                <a:spcPts val="0"/>
              </a:spcAft>
              <a:buNone/>
            </a:pPr>
            <a:r>
              <a:rPr lang="en"/>
              <a:t>6. SENSIBILITÉ AUX PETITES CLASSES :</a:t>
            </a:r>
            <a:endParaRPr/>
          </a:p>
          <a:p>
            <a:pPr marL="0" lvl="0" indent="0" algn="l" rtl="0">
              <a:spcBef>
                <a:spcPts val="0"/>
              </a:spcBef>
              <a:spcAft>
                <a:spcPts val="0"/>
              </a:spcAft>
              <a:buNone/>
            </a:pPr>
            <a:r>
              <a:rPr lang="en"/>
              <a:t>L'Algorithme 1 se concentre sur les deux plus grandes classes. Si vous avez une classe rare mais importante, QUEST pourrait ne pas diviser optimalement pour elle. Ceci peut être problématique dans les jeux de données déséquilibrés.</a:t>
            </a:r>
            <a:endParaRPr/>
          </a:p>
        </p:txBody>
      </p:sp>
      <p:sp>
        <p:nvSpPr>
          <p:cNvPr id="285" name="Google Shape;285;g3b0657ca3e8_2_22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b0657ca3e8_2_2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7" name="Google Shape;297;g3b0657ca3e8_2_2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En conclusion, QUEST représente une avancée importante dans la méthodologie des arbres de décision.</a:t>
            </a:r>
            <a:endParaRPr/>
          </a:p>
          <a:p>
            <a:pPr marL="0" lvl="0" indent="0" algn="l" rtl="0">
              <a:spcBef>
                <a:spcPts val="0"/>
              </a:spcBef>
              <a:spcAft>
                <a:spcPts val="0"/>
              </a:spcAft>
              <a:buNone/>
            </a:pPr>
            <a:endParaRPr/>
          </a:p>
          <a:p>
            <a:pPr marL="0" lvl="0" indent="0" algn="l" rtl="0">
              <a:spcBef>
                <a:spcPts val="0"/>
              </a:spcBef>
              <a:spcAft>
                <a:spcPts val="0"/>
              </a:spcAft>
              <a:buNone/>
            </a:pPr>
            <a:r>
              <a:rPr lang="en"/>
              <a:t>CONTRIBUTIONS CLÉS DE QUEST :</a:t>
            </a:r>
            <a:endParaRPr/>
          </a:p>
          <a:p>
            <a:pPr marL="0" lvl="0" indent="0" algn="l" rtl="0">
              <a:spcBef>
                <a:spcPts val="0"/>
              </a:spcBef>
              <a:spcAft>
                <a:spcPts val="0"/>
              </a:spcAft>
              <a:buNone/>
            </a:pPr>
            <a:endParaRPr/>
          </a:p>
          <a:p>
            <a:pPr marL="0" lvl="0" indent="0" algn="l" rtl="0">
              <a:spcBef>
                <a:spcPts val="0"/>
              </a:spcBef>
              <a:spcAft>
                <a:spcPts val="0"/>
              </a:spcAft>
              <a:buNone/>
            </a:pPr>
            <a:r>
              <a:rPr lang="en"/>
              <a:t>1. RÉSOLU LE BIAIS DE SÉLECTION :</a:t>
            </a:r>
            <a:endParaRPr/>
          </a:p>
          <a:p>
            <a:pPr marL="0" lvl="0" indent="0" algn="l" rtl="0">
              <a:spcBef>
                <a:spcPts val="0"/>
              </a:spcBef>
              <a:spcAft>
                <a:spcPts val="0"/>
              </a:spcAft>
              <a:buNone/>
            </a:pPr>
            <a:r>
              <a:rPr lang="en"/>
              <a:t>Avant QUEST, tous les algorithmes d'arbres de décision majeurs souffraient du biais envers les variables avec plus de catégories ou points de coupure. L'approche de test statistique de QUEST fournit une solution principée.</a:t>
            </a:r>
            <a:endParaRPr/>
          </a:p>
          <a:p>
            <a:pPr marL="0" lvl="0" indent="0" algn="l" rtl="0">
              <a:spcBef>
                <a:spcPts val="0"/>
              </a:spcBef>
              <a:spcAft>
                <a:spcPts val="0"/>
              </a:spcAft>
              <a:buNone/>
            </a:pPr>
            <a:endParaRPr/>
          </a:p>
          <a:p>
            <a:pPr marL="0" lvl="0" indent="0" algn="l" rtl="0">
              <a:spcBef>
                <a:spcPts val="0"/>
              </a:spcBef>
              <a:spcAft>
                <a:spcPts val="0"/>
              </a:spcAft>
              <a:buNone/>
            </a:pPr>
            <a:r>
              <a:rPr lang="en"/>
              <a:t>2. MAINTENU L'EFFICACITÉ :</a:t>
            </a:r>
            <a:endParaRPr/>
          </a:p>
          <a:p>
            <a:pPr marL="0" lvl="0" indent="0" algn="l" rtl="0">
              <a:spcBef>
                <a:spcPts val="0"/>
              </a:spcBef>
              <a:spcAft>
                <a:spcPts val="0"/>
              </a:spcAft>
              <a:buNone/>
            </a:pPr>
            <a:r>
              <a:rPr lang="en"/>
              <a:t>En ajoutant la rigueur statistique, QUEST a en fait amélioré l'efficacité computationnelle par rapport à la recherche exhaustive de CART.</a:t>
            </a:r>
            <a:endParaRPr/>
          </a:p>
          <a:p>
            <a:pPr marL="0" lvl="0" indent="0" algn="l" rtl="0">
              <a:spcBef>
                <a:spcPts val="0"/>
              </a:spcBef>
              <a:spcAft>
                <a:spcPts val="0"/>
              </a:spcAft>
              <a:buNone/>
            </a:pPr>
            <a:endParaRPr/>
          </a:p>
          <a:p>
            <a:pPr marL="0" lvl="0" indent="0" algn="l" rtl="0">
              <a:spcBef>
                <a:spcPts val="0"/>
              </a:spcBef>
              <a:spcAft>
                <a:spcPts val="0"/>
              </a:spcAft>
              <a:buNone/>
            </a:pPr>
            <a:r>
              <a:rPr lang="en"/>
              <a:t>3. ÉTABLI UN CADRE :</a:t>
            </a:r>
            <a:endParaRPr/>
          </a:p>
          <a:p>
            <a:pPr marL="0" lvl="0" indent="0" algn="l" rtl="0">
              <a:spcBef>
                <a:spcPts val="0"/>
              </a:spcBef>
              <a:spcAft>
                <a:spcPts val="0"/>
              </a:spcAft>
              <a:buNone/>
            </a:pPr>
            <a:r>
              <a:rPr lang="en"/>
              <a:t>Le principe de découplage (séparer la sélection de variable de la recherche de coupure) a influencé les travaux ultérieurs, y compris GUIDE, CRUISE et d'autres algorithmes d'arbres modernes.</a:t>
            </a:r>
            <a:endParaRPr/>
          </a:p>
          <a:p>
            <a:pPr marL="0" lvl="0" indent="0" algn="l" rtl="0">
              <a:spcBef>
                <a:spcPts val="0"/>
              </a:spcBef>
              <a:spcAft>
                <a:spcPts val="0"/>
              </a:spcAft>
              <a:buNone/>
            </a:pPr>
            <a:endParaRPr/>
          </a:p>
          <a:p>
            <a:pPr marL="0" lvl="0" indent="0" algn="l" rtl="0">
              <a:spcBef>
                <a:spcPts val="0"/>
              </a:spcBef>
              <a:spcAft>
                <a:spcPts val="0"/>
              </a:spcAft>
              <a:buNone/>
            </a:pPr>
            <a:r>
              <a:rPr lang="en"/>
              <a:t>QUAND CHOISIR QUEST :</a:t>
            </a:r>
            <a:endParaRPr/>
          </a:p>
          <a:p>
            <a:pPr marL="0" lvl="0" indent="0" algn="l" rtl="0">
              <a:spcBef>
                <a:spcPts val="0"/>
              </a:spcBef>
              <a:spcAft>
                <a:spcPts val="0"/>
              </a:spcAft>
              <a:buNone/>
            </a:pPr>
            <a:endParaRPr/>
          </a:p>
          <a:p>
            <a:pPr marL="0" lvl="0" indent="0" algn="l" rtl="0">
              <a:spcBef>
                <a:spcPts val="0"/>
              </a:spcBef>
              <a:spcAft>
                <a:spcPts val="0"/>
              </a:spcAft>
              <a:buNone/>
            </a:pPr>
            <a:r>
              <a:rPr lang="en"/>
              <a:t>- Vous avez un mélange de variables continues et catégorielles</a:t>
            </a:r>
            <a:endParaRPr/>
          </a:p>
          <a:p>
            <a:pPr marL="0" lvl="0" indent="0" algn="l" rtl="0">
              <a:spcBef>
                <a:spcPts val="0"/>
              </a:spcBef>
              <a:spcAft>
                <a:spcPts val="0"/>
              </a:spcAft>
              <a:buNone/>
            </a:pPr>
            <a:r>
              <a:rPr lang="en"/>
              <a:t>- Certaines variables catégorielles ont beaucoup de catégories (où CART serait biaisé)</a:t>
            </a:r>
            <a:endParaRPr/>
          </a:p>
          <a:p>
            <a:pPr marL="0" lvl="0" indent="0" algn="l" rtl="0">
              <a:spcBef>
                <a:spcPts val="0"/>
              </a:spcBef>
              <a:spcAft>
                <a:spcPts val="0"/>
              </a:spcAft>
              <a:buNone/>
            </a:pPr>
            <a:r>
              <a:rPr lang="en"/>
              <a:t>- Vous avez besoin de justifier statistiquement la sélection des variables de votre modèle</a:t>
            </a:r>
            <a:endParaRPr/>
          </a:p>
          <a:p>
            <a:pPr marL="0" lvl="0" indent="0" algn="l" rtl="0">
              <a:spcBef>
                <a:spcPts val="0"/>
              </a:spcBef>
              <a:spcAft>
                <a:spcPts val="0"/>
              </a:spcAft>
              <a:buNone/>
            </a:pPr>
            <a:r>
              <a:rPr lang="en"/>
              <a:t>- Vous travaillez avec de grands jeux de données et avez besoin d'efficacité computationnelle</a:t>
            </a:r>
            <a:endParaRPr/>
          </a:p>
          <a:p>
            <a:pPr marL="0" lvl="0" indent="0" algn="l" rtl="0">
              <a:spcBef>
                <a:spcPts val="0"/>
              </a:spcBef>
              <a:spcAft>
                <a:spcPts val="0"/>
              </a:spcAft>
              <a:buNone/>
            </a:pPr>
            <a:r>
              <a:rPr lang="en"/>
              <a:t>- Les exigences d'équité ou réglementaires exigent une sélection de variables non biaisée</a:t>
            </a:r>
            <a:endParaRPr/>
          </a:p>
          <a:p>
            <a:pPr marL="0" lvl="0" indent="0" algn="l" rtl="0">
              <a:spcBef>
                <a:spcPts val="0"/>
              </a:spcBef>
              <a:spcAft>
                <a:spcPts val="0"/>
              </a:spcAft>
              <a:buNone/>
            </a:pPr>
            <a:endParaRPr/>
          </a:p>
          <a:p>
            <a:pPr marL="0" lvl="0" indent="0" algn="l" rtl="0">
              <a:spcBef>
                <a:spcPts val="0"/>
              </a:spcBef>
              <a:spcAft>
                <a:spcPts val="0"/>
              </a:spcAft>
              <a:buNone/>
            </a:pPr>
            <a:r>
              <a:rPr lang="en"/>
              <a:t>QUAND CART POURRAIT Être PRÉFÉRÉ :</a:t>
            </a:r>
            <a:endParaRPr/>
          </a:p>
          <a:p>
            <a:pPr marL="0" lvl="0" indent="0" algn="l" rtl="0">
              <a:spcBef>
                <a:spcPts val="0"/>
              </a:spcBef>
              <a:spcAft>
                <a:spcPts val="0"/>
              </a:spcAft>
              <a:buNone/>
            </a:pPr>
            <a:endParaRPr/>
          </a:p>
          <a:p>
            <a:pPr marL="0" lvl="0" indent="0" algn="l" rtl="0">
              <a:spcBef>
                <a:spcPts val="0"/>
              </a:spcBef>
              <a:spcAft>
                <a:spcPts val="0"/>
              </a:spcAft>
              <a:buNone/>
            </a:pPr>
            <a:r>
              <a:rPr lang="en"/>
              <a:t>- Vous avez seulement des variables continues (le biais est moins un problème)</a:t>
            </a:r>
            <a:endParaRPr/>
          </a:p>
          <a:p>
            <a:pPr marL="0" lvl="0" indent="0" algn="l" rtl="0">
              <a:spcBef>
                <a:spcPts val="0"/>
              </a:spcBef>
              <a:spcAft>
                <a:spcPts val="0"/>
              </a:spcAft>
              <a:buNone/>
            </a:pPr>
            <a:r>
              <a:rPr lang="en"/>
              <a:t>- La simplicité d'implémentation est primordiale</a:t>
            </a:r>
            <a:endParaRPr/>
          </a:p>
          <a:p>
            <a:pPr marL="0" lvl="0" indent="0" algn="l" rtl="0">
              <a:spcBef>
                <a:spcPts val="0"/>
              </a:spcBef>
              <a:spcAft>
                <a:spcPts val="0"/>
              </a:spcAft>
              <a:buNone/>
            </a:pPr>
            <a:r>
              <a:rPr lang="en"/>
              <a:t>- Vous avez besoin d'arbres de régression (bien que GUIDE étende QUEST à la régression)</a:t>
            </a:r>
            <a:endParaRPr/>
          </a:p>
          <a:p>
            <a:pPr marL="0" lvl="0" indent="0" algn="l" rtl="0">
              <a:spcBef>
                <a:spcPts val="0"/>
              </a:spcBef>
              <a:spcAft>
                <a:spcPts val="0"/>
              </a:spcAft>
              <a:buNone/>
            </a:pPr>
            <a:endParaRPr/>
          </a:p>
          <a:p>
            <a:pPr marL="0" lvl="0" indent="0" algn="l" rtl="0">
              <a:spcBef>
                <a:spcPts val="0"/>
              </a:spcBef>
              <a:spcAft>
                <a:spcPts val="0"/>
              </a:spcAft>
              <a:buNone/>
            </a:pPr>
            <a:r>
              <a:rPr lang="en"/>
              <a:t>Merci de votre attention. Les questions sont bienvenues.</a:t>
            </a:r>
            <a:endParaRPr/>
          </a:p>
        </p:txBody>
      </p:sp>
      <p:sp>
        <p:nvSpPr>
          <p:cNvPr id="298" name="Google Shape;298;g3b0657ca3e8_2_24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b0657ca3e8_2_25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6" name="Google Shape;306;g3b0657ca3e8_2_25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Ces références fournissent la fondation pour comprendre QUEST et son contexte.</a:t>
            </a:r>
            <a:endParaRPr/>
          </a:p>
          <a:p>
            <a:pPr marL="0" lvl="0" indent="0" algn="l" rtl="0">
              <a:spcBef>
                <a:spcPts val="0"/>
              </a:spcBef>
              <a:spcAft>
                <a:spcPts val="0"/>
              </a:spcAft>
              <a:buNone/>
            </a:pPr>
            <a:endParaRPr/>
          </a:p>
          <a:p>
            <a:pPr marL="0" lvl="0" indent="0" algn="l" rtl="0">
              <a:spcBef>
                <a:spcPts val="0"/>
              </a:spcBef>
              <a:spcAft>
                <a:spcPts val="0"/>
              </a:spcAft>
              <a:buNone/>
            </a:pPr>
            <a:r>
              <a:rPr lang="en"/>
              <a:t>SOURCE PRINCIPALE :</a:t>
            </a:r>
            <a:endParaRPr/>
          </a:p>
          <a:p>
            <a:pPr marL="0" lvl="0" indent="0" algn="l" rtl="0">
              <a:spcBef>
                <a:spcPts val="0"/>
              </a:spcBef>
              <a:spcAft>
                <a:spcPts val="0"/>
              </a:spcAft>
              <a:buNone/>
            </a:pPr>
            <a:r>
              <a:rPr lang="en"/>
              <a:t>L'article original QUEST par Loh et Shih (1997) est la référence définitive. Il fournit les détails mathématiques complets et des comparaisons empiriques avec CART et d'autres méthodes.</a:t>
            </a:r>
            <a:endParaRPr/>
          </a:p>
          <a:p>
            <a:pPr marL="0" lvl="0" indent="0" algn="l" rtl="0">
              <a:spcBef>
                <a:spcPts val="0"/>
              </a:spcBef>
              <a:spcAft>
                <a:spcPts val="0"/>
              </a:spcAft>
              <a:buNone/>
            </a:pPr>
            <a:endParaRPr/>
          </a:p>
          <a:p>
            <a:pPr marL="0" lvl="0" indent="0" algn="l" rtl="0">
              <a:spcBef>
                <a:spcPts val="0"/>
              </a:spcBef>
              <a:spcAft>
                <a:spcPts val="0"/>
              </a:spcAft>
              <a:buNone/>
            </a:pPr>
            <a:r>
              <a:rPr lang="en"/>
              <a:t>RÉFÉRENCE CART :</a:t>
            </a:r>
            <a:endParaRPr/>
          </a:p>
          <a:p>
            <a:pPr marL="0" lvl="0" indent="0" algn="l" rtl="0">
              <a:spcBef>
                <a:spcPts val="0"/>
              </a:spcBef>
              <a:spcAft>
                <a:spcPts val="0"/>
              </a:spcAft>
              <a:buNone/>
            </a:pPr>
            <a:r>
              <a:rPr lang="en"/>
              <a:t>Le livre de Breiman et al. (1984) a établi le cadre moderne pour les arbres de classification et régression. Comprendre CART est essentiel pour apprécier ce que QUEST améliore.</a:t>
            </a:r>
            <a:endParaRPr/>
          </a:p>
          <a:p>
            <a:pPr marL="0" lvl="0" indent="0" algn="l" rtl="0">
              <a:spcBef>
                <a:spcPts val="0"/>
              </a:spcBef>
              <a:spcAft>
                <a:spcPts val="0"/>
              </a:spcAft>
              <a:buNone/>
            </a:pPr>
            <a:endParaRPr/>
          </a:p>
          <a:p>
            <a:pPr marL="0" lvl="0" indent="0" algn="l" rtl="0">
              <a:spcBef>
                <a:spcPts val="0"/>
              </a:spcBef>
              <a:spcAft>
                <a:spcPts val="0"/>
              </a:spcAft>
              <a:buNone/>
            </a:pPr>
            <a:r>
              <a:rPr lang="en"/>
              <a:t>RÉFÉRENCE C4.5 :</a:t>
            </a:r>
            <a:endParaRPr/>
          </a:p>
          <a:p>
            <a:pPr marL="0" lvl="0" indent="0" algn="l" rtl="0">
              <a:spcBef>
                <a:spcPts val="0"/>
              </a:spcBef>
              <a:spcAft>
                <a:spcPts val="0"/>
              </a:spcAft>
              <a:buNone/>
            </a:pPr>
            <a:r>
              <a:rPr lang="en"/>
              <a:t>C4.5 de Quinlan est l'autre point de comparaison majeur. Il est largement utilisé et offre des coupures multi-voies pour les variables catégoriques.</a:t>
            </a:r>
            <a:endParaRPr/>
          </a:p>
          <a:p>
            <a:pPr marL="0" lvl="0" indent="0" algn="l" rtl="0">
              <a:spcBef>
                <a:spcPts val="0"/>
              </a:spcBef>
              <a:spcAft>
                <a:spcPts val="0"/>
              </a:spcAft>
              <a:buNone/>
            </a:pPr>
            <a:endParaRPr/>
          </a:p>
          <a:p>
            <a:pPr marL="0" lvl="0" indent="0" algn="l" rtl="0">
              <a:spcBef>
                <a:spcPts val="0"/>
              </a:spcBef>
              <a:spcAft>
                <a:spcPts val="0"/>
              </a:spcAft>
              <a:buNone/>
            </a:pPr>
            <a:r>
              <a:rPr lang="en"/>
              <a:t>GUIDE :</a:t>
            </a:r>
            <a:endParaRPr/>
          </a:p>
          <a:p>
            <a:pPr marL="0" lvl="0" indent="0" algn="l" rtl="0">
              <a:spcBef>
                <a:spcPts val="0"/>
              </a:spcBef>
              <a:spcAft>
                <a:spcPts val="0"/>
              </a:spcAft>
              <a:buNone/>
            </a:pPr>
            <a:r>
              <a:rPr lang="en"/>
              <a:t>Le travail ultérieur de Loh sur GUIDE étend les idées de sélection non biaisée aux arbres de régression et ajoute des capacités de détection d'interaction.</a:t>
            </a:r>
            <a:endParaRPr/>
          </a:p>
          <a:p>
            <a:pPr marL="0" lvl="0" indent="0" algn="l" rtl="0">
              <a:spcBef>
                <a:spcPts val="0"/>
              </a:spcBef>
              <a:spcAft>
                <a:spcPts val="0"/>
              </a:spcAft>
              <a:buNone/>
            </a:pPr>
            <a:endParaRPr/>
          </a:p>
          <a:p>
            <a:pPr marL="0" lvl="0" indent="0" algn="l" rtl="0">
              <a:spcBef>
                <a:spcPts val="0"/>
              </a:spcBef>
              <a:spcAft>
                <a:spcPts val="0"/>
              </a:spcAft>
              <a:buNone/>
            </a:pPr>
            <a:r>
              <a:rPr lang="en"/>
              <a:t>FONDEMENTS STATISTIQUES :</a:t>
            </a:r>
            <a:endParaRPr/>
          </a:p>
          <a:p>
            <a:pPr marL="0" lvl="0" indent="0" algn="l" rtl="0">
              <a:spcBef>
                <a:spcPts val="0"/>
              </a:spcBef>
              <a:spcAft>
                <a:spcPts val="0"/>
              </a:spcAft>
              <a:buNone/>
            </a:pPr>
            <a:r>
              <a:rPr lang="en"/>
              <a:t>L'article de 1936 de Fisher a introduit l'Analyse Discriminante Linéaire, qui est la fondation pour l'ADQ utilisée dans QUEST.</a:t>
            </a:r>
            <a:endParaRPr/>
          </a:p>
          <a:p>
            <a:pPr marL="0" lvl="0" indent="0" algn="l" rtl="0">
              <a:spcBef>
                <a:spcPts val="0"/>
              </a:spcBef>
              <a:spcAft>
                <a:spcPts val="0"/>
              </a:spcAft>
              <a:buNone/>
            </a:pPr>
            <a:r>
              <a:rPr lang="en"/>
              <a:t>Le test de Levene pour l'égalité des variances est utilisé comme alternative dans l'Algorithme 3.</a:t>
            </a:r>
            <a:endParaRPr/>
          </a:p>
          <a:p>
            <a:pPr marL="0" lvl="0" indent="0" algn="l" rtl="0">
              <a:spcBef>
                <a:spcPts val="0"/>
              </a:spcBef>
              <a:spcAft>
                <a:spcPts val="0"/>
              </a:spcAft>
              <a:buNone/>
            </a:pPr>
            <a:endParaRPr/>
          </a:p>
          <a:p>
            <a:pPr marL="0" lvl="0" indent="0" algn="l" rtl="0">
              <a:spcBef>
                <a:spcPts val="0"/>
              </a:spcBef>
              <a:spcAft>
                <a:spcPts val="0"/>
              </a:spcAft>
              <a:buNone/>
            </a:pPr>
            <a:r>
              <a:rPr lang="en"/>
              <a:t>Merci d'avoir assisté à cette présentation sur l'algorithme d'arbre de décision QUEST. Je souhaite la bienvenue à vos questions sur l'algorithme, son implémentation ou ses applications.</a:t>
            </a:r>
            <a:endParaRPr/>
          </a:p>
        </p:txBody>
      </p:sp>
      <p:sp>
        <p:nvSpPr>
          <p:cNvPr id="307" name="Google Shape;307;g3b0657ca3e8_2_25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4"/>
          <p:cNvSpPr txBox="1">
            <a:spLocks noGrp="1"/>
          </p:cNvSpPr>
          <p:nvPr>
            <p:ph type="dt" idx="10"/>
          </p:nvPr>
        </p:nvSpPr>
        <p:spPr>
          <a:xfrm>
            <a:off x="342909" y="4767263"/>
            <a:ext cx="160024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8" name="Google Shape;58;p14"/>
          <p:cNvSpPr txBox="1">
            <a:spLocks noGrp="1"/>
          </p:cNvSpPr>
          <p:nvPr>
            <p:ph type="ftr" idx="11"/>
          </p:nvPr>
        </p:nvSpPr>
        <p:spPr>
          <a:xfrm>
            <a:off x="2343212" y="4767263"/>
            <a:ext cx="217175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Google Shape;59;p14"/>
          <p:cNvSpPr txBox="1">
            <a:spLocks noGrp="1"/>
          </p:cNvSpPr>
          <p:nvPr>
            <p:ph type="sldNum" idx="12"/>
          </p:nvPr>
        </p:nvSpPr>
        <p:spPr>
          <a:xfrm>
            <a:off x="4915031" y="4767263"/>
            <a:ext cx="1600243"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p15"/>
          <p:cNvSpPr txBox="1">
            <a:spLocks noGrp="1"/>
          </p:cNvSpPr>
          <p:nvPr>
            <p:ph type="ctrTitle"/>
          </p:nvPr>
        </p:nvSpPr>
        <p:spPr>
          <a:xfrm>
            <a:off x="514364" y="1597819"/>
            <a:ext cx="5829455" cy="1102519"/>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2" name="Google Shape;62;p15"/>
          <p:cNvSpPr txBox="1">
            <a:spLocks noGrp="1"/>
          </p:cNvSpPr>
          <p:nvPr>
            <p:ph type="subTitle" idx="1"/>
          </p:nvPr>
        </p:nvSpPr>
        <p:spPr>
          <a:xfrm>
            <a:off x="1028727" y="2914650"/>
            <a:ext cx="4800728" cy="1314450"/>
          </a:xfrm>
          <a:prstGeom prst="rect">
            <a:avLst/>
          </a:prstGeom>
          <a:noFill/>
          <a:ln>
            <a:noFill/>
          </a:ln>
        </p:spPr>
        <p:txBody>
          <a:bodyPr spcFirstLastPara="1" wrap="square" lIns="68575" tIns="34275" rIns="68575" bIns="34275" anchor="t" anchorCtr="0">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a:endParaRPr/>
          </a:p>
        </p:txBody>
      </p:sp>
      <p:sp>
        <p:nvSpPr>
          <p:cNvPr id="63" name="Google Shape;63;p15"/>
          <p:cNvSpPr txBox="1">
            <a:spLocks noGrp="1"/>
          </p:cNvSpPr>
          <p:nvPr>
            <p:ph type="dt" idx="10"/>
          </p:nvPr>
        </p:nvSpPr>
        <p:spPr>
          <a:xfrm>
            <a:off x="342909" y="4767263"/>
            <a:ext cx="160024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4" name="Google Shape;64;p15"/>
          <p:cNvSpPr txBox="1">
            <a:spLocks noGrp="1"/>
          </p:cNvSpPr>
          <p:nvPr>
            <p:ph type="ftr" idx="11"/>
          </p:nvPr>
        </p:nvSpPr>
        <p:spPr>
          <a:xfrm>
            <a:off x="2343212" y="4767263"/>
            <a:ext cx="217175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5" name="Google Shape;65;p15"/>
          <p:cNvSpPr txBox="1">
            <a:spLocks noGrp="1"/>
          </p:cNvSpPr>
          <p:nvPr>
            <p:ph type="sldNum" idx="12"/>
          </p:nvPr>
        </p:nvSpPr>
        <p:spPr>
          <a:xfrm>
            <a:off x="4915031" y="4767263"/>
            <a:ext cx="1600243"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342909" y="205978"/>
            <a:ext cx="6172365" cy="85725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8" name="Google Shape;68;p16"/>
          <p:cNvSpPr txBox="1">
            <a:spLocks noGrp="1"/>
          </p:cNvSpPr>
          <p:nvPr>
            <p:ph type="body" idx="1"/>
          </p:nvPr>
        </p:nvSpPr>
        <p:spPr>
          <a:xfrm>
            <a:off x="342909" y="1200150"/>
            <a:ext cx="6172365" cy="3394472"/>
          </a:xfrm>
          <a:prstGeom prst="rect">
            <a:avLst/>
          </a:prstGeom>
          <a:noFill/>
          <a:ln>
            <a:noFill/>
          </a:ln>
        </p:spPr>
        <p:txBody>
          <a:bodyPr spcFirstLastPara="1" wrap="square" lIns="68575" tIns="34275" rIns="68575" bIns="34275" anchor="t" anchorCtr="0">
            <a:normAutofit/>
          </a:bodyPr>
          <a:lstStyle>
            <a:lvl1pPr marL="457200" lvl="0" indent="-317500" algn="l">
              <a:spcBef>
                <a:spcPts val="300"/>
              </a:spcBef>
              <a:spcAft>
                <a:spcPts val="0"/>
              </a:spcAft>
              <a:buClr>
                <a:schemeClr val="dk1"/>
              </a:buClr>
              <a:buSzPts val="1400"/>
              <a:buChar char="•"/>
              <a:defRPr/>
            </a:lvl1pPr>
            <a:lvl2pPr marL="914400" lvl="1" indent="-317500" algn="l">
              <a:spcBef>
                <a:spcPts val="300"/>
              </a:spcBef>
              <a:spcAft>
                <a:spcPts val="0"/>
              </a:spcAft>
              <a:buClr>
                <a:schemeClr val="dk1"/>
              </a:buClr>
              <a:buSzPts val="1400"/>
              <a:buChar char="–"/>
              <a:defRPr/>
            </a:lvl2pPr>
            <a:lvl3pPr marL="1371600" lvl="2" indent="-317500" algn="l">
              <a:spcBef>
                <a:spcPts val="300"/>
              </a:spcBef>
              <a:spcAft>
                <a:spcPts val="0"/>
              </a:spcAft>
              <a:buClr>
                <a:schemeClr val="dk1"/>
              </a:buClr>
              <a:buSzPts val="1400"/>
              <a:buChar char="•"/>
              <a:defRPr/>
            </a:lvl3pPr>
            <a:lvl4pPr marL="1828800" lvl="3" indent="-317500" algn="l">
              <a:spcBef>
                <a:spcPts val="300"/>
              </a:spcBef>
              <a:spcAft>
                <a:spcPts val="0"/>
              </a:spcAft>
              <a:buClr>
                <a:schemeClr val="dk1"/>
              </a:buClr>
              <a:buSzPts val="1400"/>
              <a:buChar char="–"/>
              <a:defRPr/>
            </a:lvl4pPr>
            <a:lvl5pPr marL="2286000" lvl="4" indent="-317500" algn="l">
              <a:spcBef>
                <a:spcPts val="3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69" name="Google Shape;69;p16"/>
          <p:cNvSpPr txBox="1">
            <a:spLocks noGrp="1"/>
          </p:cNvSpPr>
          <p:nvPr>
            <p:ph type="dt" idx="10"/>
          </p:nvPr>
        </p:nvSpPr>
        <p:spPr>
          <a:xfrm>
            <a:off x="342909" y="4767263"/>
            <a:ext cx="160024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0" name="Google Shape;70;p16"/>
          <p:cNvSpPr txBox="1">
            <a:spLocks noGrp="1"/>
          </p:cNvSpPr>
          <p:nvPr>
            <p:ph type="ftr" idx="11"/>
          </p:nvPr>
        </p:nvSpPr>
        <p:spPr>
          <a:xfrm>
            <a:off x="2343212" y="4767263"/>
            <a:ext cx="217175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1" name="Google Shape;71;p16"/>
          <p:cNvSpPr txBox="1">
            <a:spLocks noGrp="1"/>
          </p:cNvSpPr>
          <p:nvPr>
            <p:ph type="sldNum" idx="12"/>
          </p:nvPr>
        </p:nvSpPr>
        <p:spPr>
          <a:xfrm>
            <a:off x="4915031" y="4767263"/>
            <a:ext cx="1600243"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541749" y="3305175"/>
            <a:ext cx="5829455" cy="1021556"/>
          </a:xfrm>
          <a:prstGeom prst="rect">
            <a:avLst/>
          </a:prstGeom>
          <a:noFill/>
          <a:ln>
            <a:noFill/>
          </a:ln>
        </p:spPr>
        <p:txBody>
          <a:bodyPr spcFirstLastPara="1" wrap="square" lIns="68575" tIns="34275" rIns="68575" bIns="34275" anchor="t" anchorCtr="0">
            <a:normAutofit/>
          </a:bodyPr>
          <a:lstStyle>
            <a:lvl1pPr lvl="0" algn="l">
              <a:spcBef>
                <a:spcPts val="0"/>
              </a:spcBef>
              <a:spcAft>
                <a:spcPts val="0"/>
              </a:spcAft>
              <a:buClr>
                <a:schemeClr val="dk1"/>
              </a:buClr>
              <a:buSzPts val="3000"/>
              <a:buFont typeface="Calibri"/>
              <a:buNone/>
              <a:defRPr sz="3000" b="1"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4" name="Google Shape;74;p17"/>
          <p:cNvSpPr txBox="1">
            <a:spLocks noGrp="1"/>
          </p:cNvSpPr>
          <p:nvPr>
            <p:ph type="body" idx="1"/>
          </p:nvPr>
        </p:nvSpPr>
        <p:spPr>
          <a:xfrm>
            <a:off x="541749" y="2180035"/>
            <a:ext cx="5829455" cy="1125140"/>
          </a:xfrm>
          <a:prstGeom prst="rect">
            <a:avLst/>
          </a:prstGeom>
          <a:noFill/>
          <a:ln>
            <a:noFill/>
          </a:ln>
        </p:spPr>
        <p:txBody>
          <a:bodyPr spcFirstLastPara="1" wrap="square" lIns="68575" tIns="34275" rIns="68575" bIns="34275" anchor="b" anchorCtr="0">
            <a:normAutofit/>
          </a:bodyPr>
          <a:lstStyle>
            <a:lvl1pPr marL="457200" lvl="0" indent="-228600" algn="l">
              <a:spcBef>
                <a:spcPts val="300"/>
              </a:spcBef>
              <a:spcAft>
                <a:spcPts val="0"/>
              </a:spcAft>
              <a:buClr>
                <a:srgbClr val="888888"/>
              </a:buClr>
              <a:buSzPts val="1500"/>
              <a:buNone/>
              <a:defRPr sz="1500">
                <a:solidFill>
                  <a:srgbClr val="888888"/>
                </a:solidFill>
              </a:defRPr>
            </a:lvl1pPr>
            <a:lvl2pPr marL="914400" lvl="1" indent="-228600" algn="l">
              <a:spcBef>
                <a:spcPts val="300"/>
              </a:spcBef>
              <a:spcAft>
                <a:spcPts val="0"/>
              </a:spcAft>
              <a:buClr>
                <a:srgbClr val="888888"/>
              </a:buClr>
              <a:buSzPts val="1400"/>
              <a:buNone/>
              <a:defRPr sz="1400">
                <a:solidFill>
                  <a:srgbClr val="888888"/>
                </a:solidFill>
              </a:defRPr>
            </a:lvl2pPr>
            <a:lvl3pPr marL="1371600" lvl="2" indent="-228600" algn="l">
              <a:spcBef>
                <a:spcPts val="200"/>
              </a:spcBef>
              <a:spcAft>
                <a:spcPts val="0"/>
              </a:spcAft>
              <a:buClr>
                <a:srgbClr val="888888"/>
              </a:buClr>
              <a:buSzPts val="1200"/>
              <a:buNone/>
              <a:defRPr sz="1200">
                <a:solidFill>
                  <a:srgbClr val="888888"/>
                </a:solidFill>
              </a:defRPr>
            </a:lvl3pPr>
            <a:lvl4pPr marL="1828800" lvl="3" indent="-228600" algn="l">
              <a:spcBef>
                <a:spcPts val="200"/>
              </a:spcBef>
              <a:spcAft>
                <a:spcPts val="0"/>
              </a:spcAft>
              <a:buClr>
                <a:srgbClr val="888888"/>
              </a:buClr>
              <a:buSzPts val="1100"/>
              <a:buNone/>
              <a:defRPr sz="1100">
                <a:solidFill>
                  <a:srgbClr val="888888"/>
                </a:solidFill>
              </a:defRPr>
            </a:lvl4pPr>
            <a:lvl5pPr marL="2286000" lvl="4" indent="-228600" algn="l">
              <a:spcBef>
                <a:spcPts val="200"/>
              </a:spcBef>
              <a:spcAft>
                <a:spcPts val="0"/>
              </a:spcAft>
              <a:buClr>
                <a:srgbClr val="888888"/>
              </a:buClr>
              <a:buSzPts val="1100"/>
              <a:buNone/>
              <a:defRPr sz="1100">
                <a:solidFill>
                  <a:srgbClr val="888888"/>
                </a:solidFill>
              </a:defRPr>
            </a:lvl5pPr>
            <a:lvl6pPr marL="2743200" lvl="5" indent="-228600" algn="l">
              <a:spcBef>
                <a:spcPts val="200"/>
              </a:spcBef>
              <a:spcAft>
                <a:spcPts val="0"/>
              </a:spcAft>
              <a:buClr>
                <a:srgbClr val="888888"/>
              </a:buClr>
              <a:buSzPts val="1100"/>
              <a:buNone/>
              <a:defRPr sz="1100">
                <a:solidFill>
                  <a:srgbClr val="888888"/>
                </a:solidFill>
              </a:defRPr>
            </a:lvl6pPr>
            <a:lvl7pPr marL="3200400" lvl="6" indent="-228600" algn="l">
              <a:spcBef>
                <a:spcPts val="200"/>
              </a:spcBef>
              <a:spcAft>
                <a:spcPts val="0"/>
              </a:spcAft>
              <a:buClr>
                <a:srgbClr val="888888"/>
              </a:buClr>
              <a:buSzPts val="1100"/>
              <a:buNone/>
              <a:defRPr sz="1100">
                <a:solidFill>
                  <a:srgbClr val="888888"/>
                </a:solidFill>
              </a:defRPr>
            </a:lvl7pPr>
            <a:lvl8pPr marL="3657600" lvl="7" indent="-228600" algn="l">
              <a:spcBef>
                <a:spcPts val="200"/>
              </a:spcBef>
              <a:spcAft>
                <a:spcPts val="0"/>
              </a:spcAft>
              <a:buClr>
                <a:srgbClr val="888888"/>
              </a:buClr>
              <a:buSzPts val="1100"/>
              <a:buNone/>
              <a:defRPr sz="1100">
                <a:solidFill>
                  <a:srgbClr val="888888"/>
                </a:solidFill>
              </a:defRPr>
            </a:lvl8pPr>
            <a:lvl9pPr marL="4114800" lvl="8" indent="-228600" algn="l">
              <a:spcBef>
                <a:spcPts val="200"/>
              </a:spcBef>
              <a:spcAft>
                <a:spcPts val="0"/>
              </a:spcAft>
              <a:buClr>
                <a:srgbClr val="888888"/>
              </a:buClr>
              <a:buSzPts val="1100"/>
              <a:buNone/>
              <a:defRPr sz="1100">
                <a:solidFill>
                  <a:srgbClr val="888888"/>
                </a:solidFill>
              </a:defRPr>
            </a:lvl9pPr>
          </a:lstStyle>
          <a:p>
            <a:endParaRPr/>
          </a:p>
        </p:txBody>
      </p:sp>
      <p:sp>
        <p:nvSpPr>
          <p:cNvPr id="75" name="Google Shape;75;p17"/>
          <p:cNvSpPr txBox="1">
            <a:spLocks noGrp="1"/>
          </p:cNvSpPr>
          <p:nvPr>
            <p:ph type="dt" idx="10"/>
          </p:nvPr>
        </p:nvSpPr>
        <p:spPr>
          <a:xfrm>
            <a:off x="342909" y="4767263"/>
            <a:ext cx="160024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6" name="Google Shape;76;p17"/>
          <p:cNvSpPr txBox="1">
            <a:spLocks noGrp="1"/>
          </p:cNvSpPr>
          <p:nvPr>
            <p:ph type="ftr" idx="11"/>
          </p:nvPr>
        </p:nvSpPr>
        <p:spPr>
          <a:xfrm>
            <a:off x="2343212" y="4767263"/>
            <a:ext cx="217175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7" name="Google Shape;77;p17"/>
          <p:cNvSpPr txBox="1">
            <a:spLocks noGrp="1"/>
          </p:cNvSpPr>
          <p:nvPr>
            <p:ph type="sldNum" idx="12"/>
          </p:nvPr>
        </p:nvSpPr>
        <p:spPr>
          <a:xfrm>
            <a:off x="4915031" y="4767263"/>
            <a:ext cx="1600243"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342909" y="205978"/>
            <a:ext cx="6172365" cy="85725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0" name="Google Shape;80;p18"/>
          <p:cNvSpPr txBox="1">
            <a:spLocks noGrp="1"/>
          </p:cNvSpPr>
          <p:nvPr>
            <p:ph type="body" idx="1"/>
          </p:nvPr>
        </p:nvSpPr>
        <p:spPr>
          <a:xfrm>
            <a:off x="342909" y="1200150"/>
            <a:ext cx="3029031" cy="3394472"/>
          </a:xfrm>
          <a:prstGeom prst="rect">
            <a:avLst/>
          </a:prstGeom>
          <a:noFill/>
          <a:ln>
            <a:noFill/>
          </a:ln>
        </p:spPr>
        <p:txBody>
          <a:bodyPr spcFirstLastPara="1" wrap="square" lIns="68575" tIns="34275" rIns="68575" bIns="34275" anchor="t" anchorCtr="0">
            <a:normAutofit/>
          </a:bodyPr>
          <a:lstStyle>
            <a:lvl1pPr marL="457200" lvl="0" indent="-361950" algn="l">
              <a:spcBef>
                <a:spcPts val="400"/>
              </a:spcBef>
              <a:spcAft>
                <a:spcPts val="0"/>
              </a:spcAft>
              <a:buClr>
                <a:schemeClr val="dk1"/>
              </a:buClr>
              <a:buSzPts val="2100"/>
              <a:buChar char="•"/>
              <a:defRPr sz="2100"/>
            </a:lvl1pPr>
            <a:lvl2pPr marL="914400" lvl="1" indent="-342900" algn="l">
              <a:spcBef>
                <a:spcPts val="40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7500" algn="l">
              <a:spcBef>
                <a:spcPts val="300"/>
              </a:spcBef>
              <a:spcAft>
                <a:spcPts val="0"/>
              </a:spcAft>
              <a:buClr>
                <a:schemeClr val="dk1"/>
              </a:buClr>
              <a:buSzPts val="1400"/>
              <a:buChar char="–"/>
              <a:defRPr sz="1400"/>
            </a:lvl4pPr>
            <a:lvl5pPr marL="2286000" lvl="4" indent="-317500" algn="l">
              <a:spcBef>
                <a:spcPts val="300"/>
              </a:spcBef>
              <a:spcAft>
                <a:spcPts val="0"/>
              </a:spcAft>
              <a:buClr>
                <a:schemeClr val="dk1"/>
              </a:buClr>
              <a:buSzPts val="1400"/>
              <a:buChar char="»"/>
              <a:defRPr sz="1400"/>
            </a:lvl5pPr>
            <a:lvl6pPr marL="2743200" lvl="5" indent="-317500" algn="l">
              <a:spcBef>
                <a:spcPts val="300"/>
              </a:spcBef>
              <a:spcAft>
                <a:spcPts val="0"/>
              </a:spcAft>
              <a:buClr>
                <a:schemeClr val="dk1"/>
              </a:buClr>
              <a:buSzPts val="1400"/>
              <a:buChar char="•"/>
              <a:defRPr sz="1400"/>
            </a:lvl6pPr>
            <a:lvl7pPr marL="3200400" lvl="6" indent="-317500" algn="l">
              <a:spcBef>
                <a:spcPts val="300"/>
              </a:spcBef>
              <a:spcAft>
                <a:spcPts val="0"/>
              </a:spcAft>
              <a:buClr>
                <a:schemeClr val="dk1"/>
              </a:buClr>
              <a:buSzPts val="1400"/>
              <a:buChar char="•"/>
              <a:defRPr sz="1400"/>
            </a:lvl7pPr>
            <a:lvl8pPr marL="3657600" lvl="7" indent="-317500" algn="l">
              <a:spcBef>
                <a:spcPts val="300"/>
              </a:spcBef>
              <a:spcAft>
                <a:spcPts val="0"/>
              </a:spcAft>
              <a:buClr>
                <a:schemeClr val="dk1"/>
              </a:buClr>
              <a:buSzPts val="1400"/>
              <a:buChar char="•"/>
              <a:defRPr sz="1400"/>
            </a:lvl8pPr>
            <a:lvl9pPr marL="4114800" lvl="8" indent="-317500" algn="l">
              <a:spcBef>
                <a:spcPts val="300"/>
              </a:spcBef>
              <a:spcAft>
                <a:spcPts val="0"/>
              </a:spcAft>
              <a:buClr>
                <a:schemeClr val="dk1"/>
              </a:buClr>
              <a:buSzPts val="1400"/>
              <a:buChar char="•"/>
              <a:defRPr sz="1400"/>
            </a:lvl9pPr>
          </a:lstStyle>
          <a:p>
            <a:endParaRPr/>
          </a:p>
        </p:txBody>
      </p:sp>
      <p:sp>
        <p:nvSpPr>
          <p:cNvPr id="81" name="Google Shape;81;p18"/>
          <p:cNvSpPr txBox="1">
            <a:spLocks noGrp="1"/>
          </p:cNvSpPr>
          <p:nvPr>
            <p:ph type="body" idx="2"/>
          </p:nvPr>
        </p:nvSpPr>
        <p:spPr>
          <a:xfrm>
            <a:off x="3486243" y="1200150"/>
            <a:ext cx="3029031" cy="3394472"/>
          </a:xfrm>
          <a:prstGeom prst="rect">
            <a:avLst/>
          </a:prstGeom>
          <a:noFill/>
          <a:ln>
            <a:noFill/>
          </a:ln>
        </p:spPr>
        <p:txBody>
          <a:bodyPr spcFirstLastPara="1" wrap="square" lIns="68575" tIns="34275" rIns="68575" bIns="34275" anchor="t" anchorCtr="0">
            <a:normAutofit/>
          </a:bodyPr>
          <a:lstStyle>
            <a:lvl1pPr marL="457200" lvl="0" indent="-361950" algn="l">
              <a:spcBef>
                <a:spcPts val="400"/>
              </a:spcBef>
              <a:spcAft>
                <a:spcPts val="0"/>
              </a:spcAft>
              <a:buClr>
                <a:schemeClr val="dk1"/>
              </a:buClr>
              <a:buSzPts val="2100"/>
              <a:buChar char="•"/>
              <a:defRPr sz="2100"/>
            </a:lvl1pPr>
            <a:lvl2pPr marL="914400" lvl="1" indent="-342900" algn="l">
              <a:spcBef>
                <a:spcPts val="40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7500" algn="l">
              <a:spcBef>
                <a:spcPts val="300"/>
              </a:spcBef>
              <a:spcAft>
                <a:spcPts val="0"/>
              </a:spcAft>
              <a:buClr>
                <a:schemeClr val="dk1"/>
              </a:buClr>
              <a:buSzPts val="1400"/>
              <a:buChar char="–"/>
              <a:defRPr sz="1400"/>
            </a:lvl4pPr>
            <a:lvl5pPr marL="2286000" lvl="4" indent="-317500" algn="l">
              <a:spcBef>
                <a:spcPts val="300"/>
              </a:spcBef>
              <a:spcAft>
                <a:spcPts val="0"/>
              </a:spcAft>
              <a:buClr>
                <a:schemeClr val="dk1"/>
              </a:buClr>
              <a:buSzPts val="1400"/>
              <a:buChar char="»"/>
              <a:defRPr sz="1400"/>
            </a:lvl5pPr>
            <a:lvl6pPr marL="2743200" lvl="5" indent="-317500" algn="l">
              <a:spcBef>
                <a:spcPts val="300"/>
              </a:spcBef>
              <a:spcAft>
                <a:spcPts val="0"/>
              </a:spcAft>
              <a:buClr>
                <a:schemeClr val="dk1"/>
              </a:buClr>
              <a:buSzPts val="1400"/>
              <a:buChar char="•"/>
              <a:defRPr sz="1400"/>
            </a:lvl6pPr>
            <a:lvl7pPr marL="3200400" lvl="6" indent="-317500" algn="l">
              <a:spcBef>
                <a:spcPts val="300"/>
              </a:spcBef>
              <a:spcAft>
                <a:spcPts val="0"/>
              </a:spcAft>
              <a:buClr>
                <a:schemeClr val="dk1"/>
              </a:buClr>
              <a:buSzPts val="1400"/>
              <a:buChar char="•"/>
              <a:defRPr sz="1400"/>
            </a:lvl7pPr>
            <a:lvl8pPr marL="3657600" lvl="7" indent="-317500" algn="l">
              <a:spcBef>
                <a:spcPts val="300"/>
              </a:spcBef>
              <a:spcAft>
                <a:spcPts val="0"/>
              </a:spcAft>
              <a:buClr>
                <a:schemeClr val="dk1"/>
              </a:buClr>
              <a:buSzPts val="1400"/>
              <a:buChar char="•"/>
              <a:defRPr sz="1400"/>
            </a:lvl8pPr>
            <a:lvl9pPr marL="4114800" lvl="8" indent="-317500" algn="l">
              <a:spcBef>
                <a:spcPts val="300"/>
              </a:spcBef>
              <a:spcAft>
                <a:spcPts val="0"/>
              </a:spcAft>
              <a:buClr>
                <a:schemeClr val="dk1"/>
              </a:buClr>
              <a:buSzPts val="1400"/>
              <a:buChar char="•"/>
              <a:defRPr sz="1400"/>
            </a:lvl9pPr>
          </a:lstStyle>
          <a:p>
            <a:endParaRPr/>
          </a:p>
        </p:txBody>
      </p:sp>
      <p:sp>
        <p:nvSpPr>
          <p:cNvPr id="82" name="Google Shape;82;p18"/>
          <p:cNvSpPr txBox="1">
            <a:spLocks noGrp="1"/>
          </p:cNvSpPr>
          <p:nvPr>
            <p:ph type="dt" idx="10"/>
          </p:nvPr>
        </p:nvSpPr>
        <p:spPr>
          <a:xfrm>
            <a:off x="342909" y="4767263"/>
            <a:ext cx="160024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3" name="Google Shape;83;p18"/>
          <p:cNvSpPr txBox="1">
            <a:spLocks noGrp="1"/>
          </p:cNvSpPr>
          <p:nvPr>
            <p:ph type="ftr" idx="11"/>
          </p:nvPr>
        </p:nvSpPr>
        <p:spPr>
          <a:xfrm>
            <a:off x="2343212" y="4767263"/>
            <a:ext cx="217175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4" name="Google Shape;84;p18"/>
          <p:cNvSpPr txBox="1">
            <a:spLocks noGrp="1"/>
          </p:cNvSpPr>
          <p:nvPr>
            <p:ph type="sldNum" idx="12"/>
          </p:nvPr>
        </p:nvSpPr>
        <p:spPr>
          <a:xfrm>
            <a:off x="4915031" y="4767263"/>
            <a:ext cx="1600243"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5"/>
        <p:cNvGrpSpPr/>
        <p:nvPr/>
      </p:nvGrpSpPr>
      <p:grpSpPr>
        <a:xfrm>
          <a:off x="0" y="0"/>
          <a:ext cx="0" cy="0"/>
          <a:chOff x="0" y="0"/>
          <a:chExt cx="0" cy="0"/>
        </a:xfrm>
      </p:grpSpPr>
      <p:sp>
        <p:nvSpPr>
          <p:cNvPr id="86" name="Google Shape;86;p19"/>
          <p:cNvSpPr txBox="1">
            <a:spLocks noGrp="1"/>
          </p:cNvSpPr>
          <p:nvPr>
            <p:ph type="title"/>
          </p:nvPr>
        </p:nvSpPr>
        <p:spPr>
          <a:xfrm>
            <a:off x="342909" y="205978"/>
            <a:ext cx="6172365" cy="85725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7" name="Google Shape;87;p19"/>
          <p:cNvSpPr txBox="1">
            <a:spLocks noGrp="1"/>
          </p:cNvSpPr>
          <p:nvPr>
            <p:ph type="body" idx="1"/>
          </p:nvPr>
        </p:nvSpPr>
        <p:spPr>
          <a:xfrm>
            <a:off x="342909" y="1151335"/>
            <a:ext cx="3030222" cy="479822"/>
          </a:xfrm>
          <a:prstGeom prst="rect">
            <a:avLst/>
          </a:prstGeom>
          <a:noFill/>
          <a:ln>
            <a:noFill/>
          </a:ln>
        </p:spPr>
        <p:txBody>
          <a:bodyPr spcFirstLastPara="1" wrap="square" lIns="68575" tIns="34275" rIns="68575" bIns="34275" anchor="b" anchorCtr="0">
            <a:normAutofit/>
          </a:bodyPr>
          <a:lstStyle>
            <a:lvl1pPr marL="457200" lvl="0" indent="-228600" algn="l">
              <a:spcBef>
                <a:spcPts val="40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300"/>
              </a:spcBef>
              <a:spcAft>
                <a:spcPts val="0"/>
              </a:spcAft>
              <a:buClr>
                <a:schemeClr val="dk1"/>
              </a:buClr>
              <a:buSzPts val="1400"/>
              <a:buNone/>
              <a:defRPr sz="1400" b="1"/>
            </a:lvl3pPr>
            <a:lvl4pPr marL="1828800" lvl="3" indent="-228600" algn="l">
              <a:spcBef>
                <a:spcPts val="200"/>
              </a:spcBef>
              <a:spcAft>
                <a:spcPts val="0"/>
              </a:spcAft>
              <a:buClr>
                <a:schemeClr val="dk1"/>
              </a:buClr>
              <a:buSzPts val="1200"/>
              <a:buNone/>
              <a:defRPr sz="1200" b="1"/>
            </a:lvl4pPr>
            <a:lvl5pPr marL="2286000" lvl="4" indent="-228600" algn="l">
              <a:spcBef>
                <a:spcPts val="200"/>
              </a:spcBef>
              <a:spcAft>
                <a:spcPts val="0"/>
              </a:spcAft>
              <a:buClr>
                <a:schemeClr val="dk1"/>
              </a:buClr>
              <a:buSzPts val="1200"/>
              <a:buNone/>
              <a:defRPr sz="1200" b="1"/>
            </a:lvl5pPr>
            <a:lvl6pPr marL="2743200" lvl="5" indent="-228600" algn="l">
              <a:spcBef>
                <a:spcPts val="200"/>
              </a:spcBef>
              <a:spcAft>
                <a:spcPts val="0"/>
              </a:spcAft>
              <a:buClr>
                <a:schemeClr val="dk1"/>
              </a:buClr>
              <a:buSzPts val="1200"/>
              <a:buNone/>
              <a:defRPr sz="1200" b="1"/>
            </a:lvl6pPr>
            <a:lvl7pPr marL="3200400" lvl="6" indent="-228600" algn="l">
              <a:spcBef>
                <a:spcPts val="200"/>
              </a:spcBef>
              <a:spcAft>
                <a:spcPts val="0"/>
              </a:spcAft>
              <a:buClr>
                <a:schemeClr val="dk1"/>
              </a:buClr>
              <a:buSzPts val="1200"/>
              <a:buNone/>
              <a:defRPr sz="1200" b="1"/>
            </a:lvl7pPr>
            <a:lvl8pPr marL="3657600" lvl="7" indent="-228600" algn="l">
              <a:spcBef>
                <a:spcPts val="200"/>
              </a:spcBef>
              <a:spcAft>
                <a:spcPts val="0"/>
              </a:spcAft>
              <a:buClr>
                <a:schemeClr val="dk1"/>
              </a:buClr>
              <a:buSzPts val="1200"/>
              <a:buNone/>
              <a:defRPr sz="1200" b="1"/>
            </a:lvl8pPr>
            <a:lvl9pPr marL="4114800" lvl="8" indent="-228600" algn="l">
              <a:spcBef>
                <a:spcPts val="200"/>
              </a:spcBef>
              <a:spcAft>
                <a:spcPts val="0"/>
              </a:spcAft>
              <a:buClr>
                <a:schemeClr val="dk1"/>
              </a:buClr>
              <a:buSzPts val="1200"/>
              <a:buNone/>
              <a:defRPr sz="1200" b="1"/>
            </a:lvl9pPr>
          </a:lstStyle>
          <a:p>
            <a:endParaRPr/>
          </a:p>
        </p:txBody>
      </p:sp>
      <p:sp>
        <p:nvSpPr>
          <p:cNvPr id="88" name="Google Shape;88;p19"/>
          <p:cNvSpPr txBox="1">
            <a:spLocks noGrp="1"/>
          </p:cNvSpPr>
          <p:nvPr>
            <p:ph type="body" idx="2"/>
          </p:nvPr>
        </p:nvSpPr>
        <p:spPr>
          <a:xfrm>
            <a:off x="342909" y="1631156"/>
            <a:ext cx="3030222" cy="2963466"/>
          </a:xfrm>
          <a:prstGeom prst="rect">
            <a:avLst/>
          </a:prstGeom>
          <a:noFill/>
          <a:ln>
            <a:noFill/>
          </a:ln>
        </p:spPr>
        <p:txBody>
          <a:bodyPr spcFirstLastPara="1" wrap="square" lIns="68575" tIns="34275" rIns="68575" bIns="34275" anchor="t" anchorCtr="0">
            <a:normAutofit/>
          </a:bodyPr>
          <a:lstStyle>
            <a:lvl1pPr marL="457200" lvl="0" indent="-342900" algn="l">
              <a:spcBef>
                <a:spcPts val="40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7500" algn="l">
              <a:spcBef>
                <a:spcPts val="300"/>
              </a:spcBef>
              <a:spcAft>
                <a:spcPts val="0"/>
              </a:spcAft>
              <a:buClr>
                <a:schemeClr val="dk1"/>
              </a:buClr>
              <a:buSzPts val="1400"/>
              <a:buChar char="•"/>
              <a:defRPr sz="1400"/>
            </a:lvl3pPr>
            <a:lvl4pPr marL="1828800" lvl="3" indent="-304800" algn="l">
              <a:spcBef>
                <a:spcPts val="200"/>
              </a:spcBef>
              <a:spcAft>
                <a:spcPts val="0"/>
              </a:spcAft>
              <a:buClr>
                <a:schemeClr val="dk1"/>
              </a:buClr>
              <a:buSzPts val="1200"/>
              <a:buChar char="–"/>
              <a:defRPr sz="1200"/>
            </a:lvl4pPr>
            <a:lvl5pPr marL="2286000" lvl="4" indent="-304800" algn="l">
              <a:spcBef>
                <a:spcPts val="200"/>
              </a:spcBef>
              <a:spcAft>
                <a:spcPts val="0"/>
              </a:spcAft>
              <a:buClr>
                <a:schemeClr val="dk1"/>
              </a:buClr>
              <a:buSzPts val="1200"/>
              <a:buChar char="»"/>
              <a:defRPr sz="1200"/>
            </a:lvl5pPr>
            <a:lvl6pPr marL="2743200" lvl="5" indent="-304800" algn="l">
              <a:spcBef>
                <a:spcPts val="200"/>
              </a:spcBef>
              <a:spcAft>
                <a:spcPts val="0"/>
              </a:spcAft>
              <a:buClr>
                <a:schemeClr val="dk1"/>
              </a:buClr>
              <a:buSzPts val="1200"/>
              <a:buChar char="•"/>
              <a:defRPr sz="1200"/>
            </a:lvl6pPr>
            <a:lvl7pPr marL="3200400" lvl="6" indent="-304800" algn="l">
              <a:spcBef>
                <a:spcPts val="200"/>
              </a:spcBef>
              <a:spcAft>
                <a:spcPts val="0"/>
              </a:spcAft>
              <a:buClr>
                <a:schemeClr val="dk1"/>
              </a:buClr>
              <a:buSzPts val="1200"/>
              <a:buChar char="•"/>
              <a:defRPr sz="1200"/>
            </a:lvl7pPr>
            <a:lvl8pPr marL="3657600" lvl="7" indent="-304800" algn="l">
              <a:spcBef>
                <a:spcPts val="200"/>
              </a:spcBef>
              <a:spcAft>
                <a:spcPts val="0"/>
              </a:spcAft>
              <a:buClr>
                <a:schemeClr val="dk1"/>
              </a:buClr>
              <a:buSzPts val="1200"/>
              <a:buChar char="•"/>
              <a:defRPr sz="1200"/>
            </a:lvl8pPr>
            <a:lvl9pPr marL="4114800" lvl="8" indent="-304800" algn="l">
              <a:spcBef>
                <a:spcPts val="200"/>
              </a:spcBef>
              <a:spcAft>
                <a:spcPts val="0"/>
              </a:spcAft>
              <a:buClr>
                <a:schemeClr val="dk1"/>
              </a:buClr>
              <a:buSzPts val="1200"/>
              <a:buChar char="•"/>
              <a:defRPr sz="1200"/>
            </a:lvl9pPr>
          </a:lstStyle>
          <a:p>
            <a:endParaRPr/>
          </a:p>
        </p:txBody>
      </p:sp>
      <p:sp>
        <p:nvSpPr>
          <p:cNvPr id="89" name="Google Shape;89;p19"/>
          <p:cNvSpPr txBox="1">
            <a:spLocks noGrp="1"/>
          </p:cNvSpPr>
          <p:nvPr>
            <p:ph type="body" idx="3"/>
          </p:nvPr>
        </p:nvSpPr>
        <p:spPr>
          <a:xfrm>
            <a:off x="3483862" y="1151335"/>
            <a:ext cx="3031412" cy="479822"/>
          </a:xfrm>
          <a:prstGeom prst="rect">
            <a:avLst/>
          </a:prstGeom>
          <a:noFill/>
          <a:ln>
            <a:noFill/>
          </a:ln>
        </p:spPr>
        <p:txBody>
          <a:bodyPr spcFirstLastPara="1" wrap="square" lIns="68575" tIns="34275" rIns="68575" bIns="34275" anchor="b" anchorCtr="0">
            <a:normAutofit/>
          </a:bodyPr>
          <a:lstStyle>
            <a:lvl1pPr marL="457200" lvl="0" indent="-228600" algn="l">
              <a:spcBef>
                <a:spcPts val="40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300"/>
              </a:spcBef>
              <a:spcAft>
                <a:spcPts val="0"/>
              </a:spcAft>
              <a:buClr>
                <a:schemeClr val="dk1"/>
              </a:buClr>
              <a:buSzPts val="1400"/>
              <a:buNone/>
              <a:defRPr sz="1400" b="1"/>
            </a:lvl3pPr>
            <a:lvl4pPr marL="1828800" lvl="3" indent="-228600" algn="l">
              <a:spcBef>
                <a:spcPts val="200"/>
              </a:spcBef>
              <a:spcAft>
                <a:spcPts val="0"/>
              </a:spcAft>
              <a:buClr>
                <a:schemeClr val="dk1"/>
              </a:buClr>
              <a:buSzPts val="1200"/>
              <a:buNone/>
              <a:defRPr sz="1200" b="1"/>
            </a:lvl4pPr>
            <a:lvl5pPr marL="2286000" lvl="4" indent="-228600" algn="l">
              <a:spcBef>
                <a:spcPts val="200"/>
              </a:spcBef>
              <a:spcAft>
                <a:spcPts val="0"/>
              </a:spcAft>
              <a:buClr>
                <a:schemeClr val="dk1"/>
              </a:buClr>
              <a:buSzPts val="1200"/>
              <a:buNone/>
              <a:defRPr sz="1200" b="1"/>
            </a:lvl5pPr>
            <a:lvl6pPr marL="2743200" lvl="5" indent="-228600" algn="l">
              <a:spcBef>
                <a:spcPts val="200"/>
              </a:spcBef>
              <a:spcAft>
                <a:spcPts val="0"/>
              </a:spcAft>
              <a:buClr>
                <a:schemeClr val="dk1"/>
              </a:buClr>
              <a:buSzPts val="1200"/>
              <a:buNone/>
              <a:defRPr sz="1200" b="1"/>
            </a:lvl6pPr>
            <a:lvl7pPr marL="3200400" lvl="6" indent="-228600" algn="l">
              <a:spcBef>
                <a:spcPts val="200"/>
              </a:spcBef>
              <a:spcAft>
                <a:spcPts val="0"/>
              </a:spcAft>
              <a:buClr>
                <a:schemeClr val="dk1"/>
              </a:buClr>
              <a:buSzPts val="1200"/>
              <a:buNone/>
              <a:defRPr sz="1200" b="1"/>
            </a:lvl7pPr>
            <a:lvl8pPr marL="3657600" lvl="7" indent="-228600" algn="l">
              <a:spcBef>
                <a:spcPts val="200"/>
              </a:spcBef>
              <a:spcAft>
                <a:spcPts val="0"/>
              </a:spcAft>
              <a:buClr>
                <a:schemeClr val="dk1"/>
              </a:buClr>
              <a:buSzPts val="1200"/>
              <a:buNone/>
              <a:defRPr sz="1200" b="1"/>
            </a:lvl8pPr>
            <a:lvl9pPr marL="4114800" lvl="8" indent="-228600" algn="l">
              <a:spcBef>
                <a:spcPts val="200"/>
              </a:spcBef>
              <a:spcAft>
                <a:spcPts val="0"/>
              </a:spcAft>
              <a:buClr>
                <a:schemeClr val="dk1"/>
              </a:buClr>
              <a:buSzPts val="1200"/>
              <a:buNone/>
              <a:defRPr sz="1200" b="1"/>
            </a:lvl9pPr>
          </a:lstStyle>
          <a:p>
            <a:endParaRPr/>
          </a:p>
        </p:txBody>
      </p:sp>
      <p:sp>
        <p:nvSpPr>
          <p:cNvPr id="90" name="Google Shape;90;p19"/>
          <p:cNvSpPr txBox="1">
            <a:spLocks noGrp="1"/>
          </p:cNvSpPr>
          <p:nvPr>
            <p:ph type="body" idx="4"/>
          </p:nvPr>
        </p:nvSpPr>
        <p:spPr>
          <a:xfrm>
            <a:off x="3483862" y="1631156"/>
            <a:ext cx="3031412" cy="2963466"/>
          </a:xfrm>
          <a:prstGeom prst="rect">
            <a:avLst/>
          </a:prstGeom>
          <a:noFill/>
          <a:ln>
            <a:noFill/>
          </a:ln>
        </p:spPr>
        <p:txBody>
          <a:bodyPr spcFirstLastPara="1" wrap="square" lIns="68575" tIns="34275" rIns="68575" bIns="34275" anchor="t" anchorCtr="0">
            <a:normAutofit/>
          </a:bodyPr>
          <a:lstStyle>
            <a:lvl1pPr marL="457200" lvl="0" indent="-342900" algn="l">
              <a:spcBef>
                <a:spcPts val="40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7500" algn="l">
              <a:spcBef>
                <a:spcPts val="300"/>
              </a:spcBef>
              <a:spcAft>
                <a:spcPts val="0"/>
              </a:spcAft>
              <a:buClr>
                <a:schemeClr val="dk1"/>
              </a:buClr>
              <a:buSzPts val="1400"/>
              <a:buChar char="•"/>
              <a:defRPr sz="1400"/>
            </a:lvl3pPr>
            <a:lvl4pPr marL="1828800" lvl="3" indent="-304800" algn="l">
              <a:spcBef>
                <a:spcPts val="200"/>
              </a:spcBef>
              <a:spcAft>
                <a:spcPts val="0"/>
              </a:spcAft>
              <a:buClr>
                <a:schemeClr val="dk1"/>
              </a:buClr>
              <a:buSzPts val="1200"/>
              <a:buChar char="–"/>
              <a:defRPr sz="1200"/>
            </a:lvl4pPr>
            <a:lvl5pPr marL="2286000" lvl="4" indent="-304800" algn="l">
              <a:spcBef>
                <a:spcPts val="200"/>
              </a:spcBef>
              <a:spcAft>
                <a:spcPts val="0"/>
              </a:spcAft>
              <a:buClr>
                <a:schemeClr val="dk1"/>
              </a:buClr>
              <a:buSzPts val="1200"/>
              <a:buChar char="»"/>
              <a:defRPr sz="1200"/>
            </a:lvl5pPr>
            <a:lvl6pPr marL="2743200" lvl="5" indent="-304800" algn="l">
              <a:spcBef>
                <a:spcPts val="200"/>
              </a:spcBef>
              <a:spcAft>
                <a:spcPts val="0"/>
              </a:spcAft>
              <a:buClr>
                <a:schemeClr val="dk1"/>
              </a:buClr>
              <a:buSzPts val="1200"/>
              <a:buChar char="•"/>
              <a:defRPr sz="1200"/>
            </a:lvl6pPr>
            <a:lvl7pPr marL="3200400" lvl="6" indent="-304800" algn="l">
              <a:spcBef>
                <a:spcPts val="200"/>
              </a:spcBef>
              <a:spcAft>
                <a:spcPts val="0"/>
              </a:spcAft>
              <a:buClr>
                <a:schemeClr val="dk1"/>
              </a:buClr>
              <a:buSzPts val="1200"/>
              <a:buChar char="•"/>
              <a:defRPr sz="1200"/>
            </a:lvl7pPr>
            <a:lvl8pPr marL="3657600" lvl="7" indent="-304800" algn="l">
              <a:spcBef>
                <a:spcPts val="200"/>
              </a:spcBef>
              <a:spcAft>
                <a:spcPts val="0"/>
              </a:spcAft>
              <a:buClr>
                <a:schemeClr val="dk1"/>
              </a:buClr>
              <a:buSzPts val="1200"/>
              <a:buChar char="•"/>
              <a:defRPr sz="1200"/>
            </a:lvl8pPr>
            <a:lvl9pPr marL="4114800" lvl="8" indent="-304800" algn="l">
              <a:spcBef>
                <a:spcPts val="200"/>
              </a:spcBef>
              <a:spcAft>
                <a:spcPts val="0"/>
              </a:spcAft>
              <a:buClr>
                <a:schemeClr val="dk1"/>
              </a:buClr>
              <a:buSzPts val="1200"/>
              <a:buChar char="•"/>
              <a:defRPr sz="1200"/>
            </a:lvl9pPr>
          </a:lstStyle>
          <a:p>
            <a:endParaRPr/>
          </a:p>
        </p:txBody>
      </p:sp>
      <p:sp>
        <p:nvSpPr>
          <p:cNvPr id="91" name="Google Shape;91;p19"/>
          <p:cNvSpPr txBox="1">
            <a:spLocks noGrp="1"/>
          </p:cNvSpPr>
          <p:nvPr>
            <p:ph type="dt" idx="10"/>
          </p:nvPr>
        </p:nvSpPr>
        <p:spPr>
          <a:xfrm>
            <a:off x="342909" y="4767263"/>
            <a:ext cx="160024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2" name="Google Shape;92;p19"/>
          <p:cNvSpPr txBox="1">
            <a:spLocks noGrp="1"/>
          </p:cNvSpPr>
          <p:nvPr>
            <p:ph type="ftr" idx="11"/>
          </p:nvPr>
        </p:nvSpPr>
        <p:spPr>
          <a:xfrm>
            <a:off x="2343212" y="4767263"/>
            <a:ext cx="217175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3" name="Google Shape;93;p19"/>
          <p:cNvSpPr txBox="1">
            <a:spLocks noGrp="1"/>
          </p:cNvSpPr>
          <p:nvPr>
            <p:ph type="sldNum" idx="12"/>
          </p:nvPr>
        </p:nvSpPr>
        <p:spPr>
          <a:xfrm>
            <a:off x="4915031" y="4767263"/>
            <a:ext cx="1600243"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342909" y="205978"/>
            <a:ext cx="6172365" cy="85725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6" name="Google Shape;96;p20"/>
          <p:cNvSpPr txBox="1">
            <a:spLocks noGrp="1"/>
          </p:cNvSpPr>
          <p:nvPr>
            <p:ph type="dt" idx="10"/>
          </p:nvPr>
        </p:nvSpPr>
        <p:spPr>
          <a:xfrm>
            <a:off x="342909" y="4767263"/>
            <a:ext cx="160024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7" name="Google Shape;97;p20"/>
          <p:cNvSpPr txBox="1">
            <a:spLocks noGrp="1"/>
          </p:cNvSpPr>
          <p:nvPr>
            <p:ph type="ftr" idx="11"/>
          </p:nvPr>
        </p:nvSpPr>
        <p:spPr>
          <a:xfrm>
            <a:off x="2343212" y="4767263"/>
            <a:ext cx="217175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8" name="Google Shape;98;p20"/>
          <p:cNvSpPr txBox="1">
            <a:spLocks noGrp="1"/>
          </p:cNvSpPr>
          <p:nvPr>
            <p:ph type="sldNum" idx="12"/>
          </p:nvPr>
        </p:nvSpPr>
        <p:spPr>
          <a:xfrm>
            <a:off x="4915031" y="4767263"/>
            <a:ext cx="1600243"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342909" y="204788"/>
            <a:ext cx="2256295" cy="871538"/>
          </a:xfrm>
          <a:prstGeom prst="rect">
            <a:avLst/>
          </a:prstGeom>
          <a:noFill/>
          <a:ln>
            <a:noFill/>
          </a:ln>
        </p:spPr>
        <p:txBody>
          <a:bodyPr spcFirstLastPara="1" wrap="square" lIns="68575" tIns="34275" rIns="68575" bIns="34275" anchor="b" anchorCtr="0">
            <a:normAutofit/>
          </a:bodyPr>
          <a:lstStyle>
            <a:lvl1pPr lvl="0" algn="l">
              <a:spcBef>
                <a:spcPts val="0"/>
              </a:spcBef>
              <a:spcAft>
                <a:spcPts val="0"/>
              </a:spcAft>
              <a:buClr>
                <a:schemeClr val="dk1"/>
              </a:buClr>
              <a:buSzPts val="1500"/>
              <a:buFont typeface="Calibri"/>
              <a:buNone/>
              <a:defRPr sz="1500"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1" name="Google Shape;101;p21"/>
          <p:cNvSpPr txBox="1">
            <a:spLocks noGrp="1"/>
          </p:cNvSpPr>
          <p:nvPr>
            <p:ph type="body" idx="1"/>
          </p:nvPr>
        </p:nvSpPr>
        <p:spPr>
          <a:xfrm>
            <a:off x="2681359" y="204788"/>
            <a:ext cx="3833915" cy="4389835"/>
          </a:xfrm>
          <a:prstGeom prst="rect">
            <a:avLst/>
          </a:prstGeom>
          <a:noFill/>
          <a:ln>
            <a:noFill/>
          </a:ln>
        </p:spPr>
        <p:txBody>
          <a:bodyPr spcFirstLastPara="1" wrap="square" lIns="68575" tIns="34275" rIns="68575" bIns="34275" anchor="t" anchorCtr="0">
            <a:normAutofit/>
          </a:bodyPr>
          <a:lstStyle>
            <a:lvl1pPr marL="457200" lvl="0" indent="-381000" algn="l">
              <a:spcBef>
                <a:spcPts val="500"/>
              </a:spcBef>
              <a:spcAft>
                <a:spcPts val="0"/>
              </a:spcAft>
              <a:buClr>
                <a:schemeClr val="dk1"/>
              </a:buClr>
              <a:buSzPts val="2400"/>
              <a:buChar char="•"/>
              <a:defRPr sz="2400"/>
            </a:lvl1pPr>
            <a:lvl2pPr marL="914400" lvl="1" indent="-361950" algn="l">
              <a:spcBef>
                <a:spcPts val="400"/>
              </a:spcBef>
              <a:spcAft>
                <a:spcPts val="0"/>
              </a:spcAft>
              <a:buClr>
                <a:schemeClr val="dk1"/>
              </a:buClr>
              <a:buSzPts val="2100"/>
              <a:buChar char="–"/>
              <a:defRPr sz="2100"/>
            </a:lvl2pPr>
            <a:lvl3pPr marL="1371600" lvl="2" indent="-342900" algn="l">
              <a:spcBef>
                <a:spcPts val="400"/>
              </a:spcBef>
              <a:spcAft>
                <a:spcPts val="0"/>
              </a:spcAft>
              <a:buClr>
                <a:schemeClr val="dk1"/>
              </a:buClr>
              <a:buSzPts val="1800"/>
              <a:buChar char="•"/>
              <a:defRPr sz="18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23850" algn="l">
              <a:spcBef>
                <a:spcPts val="300"/>
              </a:spcBef>
              <a:spcAft>
                <a:spcPts val="0"/>
              </a:spcAft>
              <a:buClr>
                <a:schemeClr val="dk1"/>
              </a:buClr>
              <a:buSzPts val="1500"/>
              <a:buChar char="•"/>
              <a:defRPr sz="1500"/>
            </a:lvl6pPr>
            <a:lvl7pPr marL="3200400" lvl="6" indent="-323850" algn="l">
              <a:spcBef>
                <a:spcPts val="300"/>
              </a:spcBef>
              <a:spcAft>
                <a:spcPts val="0"/>
              </a:spcAft>
              <a:buClr>
                <a:schemeClr val="dk1"/>
              </a:buClr>
              <a:buSzPts val="1500"/>
              <a:buChar char="•"/>
              <a:defRPr sz="1500"/>
            </a:lvl7pPr>
            <a:lvl8pPr marL="3657600" lvl="7" indent="-323850" algn="l">
              <a:spcBef>
                <a:spcPts val="300"/>
              </a:spcBef>
              <a:spcAft>
                <a:spcPts val="0"/>
              </a:spcAft>
              <a:buClr>
                <a:schemeClr val="dk1"/>
              </a:buClr>
              <a:buSzPts val="1500"/>
              <a:buChar char="•"/>
              <a:defRPr sz="1500"/>
            </a:lvl8pPr>
            <a:lvl9pPr marL="4114800" lvl="8" indent="-323850" algn="l">
              <a:spcBef>
                <a:spcPts val="300"/>
              </a:spcBef>
              <a:spcAft>
                <a:spcPts val="0"/>
              </a:spcAft>
              <a:buClr>
                <a:schemeClr val="dk1"/>
              </a:buClr>
              <a:buSzPts val="1500"/>
              <a:buChar char="•"/>
              <a:defRPr sz="1500"/>
            </a:lvl9pPr>
          </a:lstStyle>
          <a:p>
            <a:endParaRPr/>
          </a:p>
        </p:txBody>
      </p:sp>
      <p:sp>
        <p:nvSpPr>
          <p:cNvPr id="102" name="Google Shape;102;p21"/>
          <p:cNvSpPr txBox="1">
            <a:spLocks noGrp="1"/>
          </p:cNvSpPr>
          <p:nvPr>
            <p:ph type="body" idx="2"/>
          </p:nvPr>
        </p:nvSpPr>
        <p:spPr>
          <a:xfrm>
            <a:off x="342909" y="1076325"/>
            <a:ext cx="2256295" cy="3518297"/>
          </a:xfrm>
          <a:prstGeom prst="rect">
            <a:avLst/>
          </a:prstGeom>
          <a:noFill/>
          <a:ln>
            <a:noFill/>
          </a:ln>
        </p:spPr>
        <p:txBody>
          <a:bodyPr spcFirstLastPara="1" wrap="square" lIns="68575" tIns="34275" rIns="68575" bIns="34275" anchor="t" anchorCtr="0">
            <a:normAutofit/>
          </a:bodyPr>
          <a:lstStyle>
            <a:lvl1pPr marL="457200" lvl="0" indent="-228600" algn="l">
              <a:spcBef>
                <a:spcPts val="200"/>
              </a:spcBef>
              <a:spcAft>
                <a:spcPts val="0"/>
              </a:spcAft>
              <a:buClr>
                <a:schemeClr val="dk1"/>
              </a:buClr>
              <a:buSzPts val="1100"/>
              <a:buNone/>
              <a:defRPr sz="1100"/>
            </a:lvl1pPr>
            <a:lvl2pPr marL="914400" lvl="1" indent="-228600" algn="l">
              <a:spcBef>
                <a:spcPts val="200"/>
              </a:spcBef>
              <a:spcAft>
                <a:spcPts val="0"/>
              </a:spcAft>
              <a:buClr>
                <a:schemeClr val="dk1"/>
              </a:buClr>
              <a:buSzPts val="900"/>
              <a:buNone/>
              <a:defRPr sz="900"/>
            </a:lvl2pPr>
            <a:lvl3pPr marL="1371600" lvl="2" indent="-228600" algn="l">
              <a:spcBef>
                <a:spcPts val="200"/>
              </a:spcBef>
              <a:spcAft>
                <a:spcPts val="0"/>
              </a:spcAft>
              <a:buClr>
                <a:schemeClr val="dk1"/>
              </a:buClr>
              <a:buSzPts val="800"/>
              <a:buNone/>
              <a:defRPr sz="800"/>
            </a:lvl3pPr>
            <a:lvl4pPr marL="1828800" lvl="3" indent="-228600" algn="l">
              <a:spcBef>
                <a:spcPts val="100"/>
              </a:spcBef>
              <a:spcAft>
                <a:spcPts val="0"/>
              </a:spcAft>
              <a:buClr>
                <a:schemeClr val="dk1"/>
              </a:buClr>
              <a:buSzPts val="700"/>
              <a:buNone/>
              <a:defRPr sz="700"/>
            </a:lvl4pPr>
            <a:lvl5pPr marL="2286000" lvl="4" indent="-228600" algn="l">
              <a:spcBef>
                <a:spcPts val="100"/>
              </a:spcBef>
              <a:spcAft>
                <a:spcPts val="0"/>
              </a:spcAft>
              <a:buClr>
                <a:schemeClr val="dk1"/>
              </a:buClr>
              <a:buSzPts val="700"/>
              <a:buNone/>
              <a:defRPr sz="700"/>
            </a:lvl5pPr>
            <a:lvl6pPr marL="2743200" lvl="5" indent="-228600" algn="l">
              <a:spcBef>
                <a:spcPts val="100"/>
              </a:spcBef>
              <a:spcAft>
                <a:spcPts val="0"/>
              </a:spcAft>
              <a:buClr>
                <a:schemeClr val="dk1"/>
              </a:buClr>
              <a:buSzPts val="700"/>
              <a:buNone/>
              <a:defRPr sz="700"/>
            </a:lvl6pPr>
            <a:lvl7pPr marL="3200400" lvl="6" indent="-228600" algn="l">
              <a:spcBef>
                <a:spcPts val="100"/>
              </a:spcBef>
              <a:spcAft>
                <a:spcPts val="0"/>
              </a:spcAft>
              <a:buClr>
                <a:schemeClr val="dk1"/>
              </a:buClr>
              <a:buSzPts val="700"/>
              <a:buNone/>
              <a:defRPr sz="700"/>
            </a:lvl7pPr>
            <a:lvl8pPr marL="3657600" lvl="7" indent="-228600" algn="l">
              <a:spcBef>
                <a:spcPts val="100"/>
              </a:spcBef>
              <a:spcAft>
                <a:spcPts val="0"/>
              </a:spcAft>
              <a:buClr>
                <a:schemeClr val="dk1"/>
              </a:buClr>
              <a:buSzPts val="700"/>
              <a:buNone/>
              <a:defRPr sz="700"/>
            </a:lvl8pPr>
            <a:lvl9pPr marL="4114800" lvl="8" indent="-228600" algn="l">
              <a:spcBef>
                <a:spcPts val="100"/>
              </a:spcBef>
              <a:spcAft>
                <a:spcPts val="0"/>
              </a:spcAft>
              <a:buClr>
                <a:schemeClr val="dk1"/>
              </a:buClr>
              <a:buSzPts val="700"/>
              <a:buNone/>
              <a:defRPr sz="700"/>
            </a:lvl9pPr>
          </a:lstStyle>
          <a:p>
            <a:endParaRPr/>
          </a:p>
        </p:txBody>
      </p:sp>
      <p:sp>
        <p:nvSpPr>
          <p:cNvPr id="103" name="Google Shape;103;p21"/>
          <p:cNvSpPr txBox="1">
            <a:spLocks noGrp="1"/>
          </p:cNvSpPr>
          <p:nvPr>
            <p:ph type="dt" idx="10"/>
          </p:nvPr>
        </p:nvSpPr>
        <p:spPr>
          <a:xfrm>
            <a:off x="342909" y="4767263"/>
            <a:ext cx="160024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4" name="Google Shape;104;p21"/>
          <p:cNvSpPr txBox="1">
            <a:spLocks noGrp="1"/>
          </p:cNvSpPr>
          <p:nvPr>
            <p:ph type="ftr" idx="11"/>
          </p:nvPr>
        </p:nvSpPr>
        <p:spPr>
          <a:xfrm>
            <a:off x="2343212" y="4767263"/>
            <a:ext cx="217175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5" name="Google Shape;105;p21"/>
          <p:cNvSpPr txBox="1">
            <a:spLocks noGrp="1"/>
          </p:cNvSpPr>
          <p:nvPr>
            <p:ph type="sldNum" idx="12"/>
          </p:nvPr>
        </p:nvSpPr>
        <p:spPr>
          <a:xfrm>
            <a:off x="4915031" y="4767263"/>
            <a:ext cx="1600243"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1344252" y="3600450"/>
            <a:ext cx="4114910" cy="425054"/>
          </a:xfrm>
          <a:prstGeom prst="rect">
            <a:avLst/>
          </a:prstGeom>
          <a:noFill/>
          <a:ln>
            <a:noFill/>
          </a:ln>
        </p:spPr>
        <p:txBody>
          <a:bodyPr spcFirstLastPara="1" wrap="square" lIns="68575" tIns="34275" rIns="68575" bIns="34275" anchor="b" anchorCtr="0">
            <a:normAutofit/>
          </a:bodyPr>
          <a:lstStyle>
            <a:lvl1pPr lvl="0" algn="l">
              <a:spcBef>
                <a:spcPts val="0"/>
              </a:spcBef>
              <a:spcAft>
                <a:spcPts val="0"/>
              </a:spcAft>
              <a:buClr>
                <a:schemeClr val="dk1"/>
              </a:buClr>
              <a:buSzPts val="1500"/>
              <a:buFont typeface="Calibri"/>
              <a:buNone/>
              <a:defRPr sz="1500"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8" name="Google Shape;108;p22"/>
          <p:cNvSpPr>
            <a:spLocks noGrp="1"/>
          </p:cNvSpPr>
          <p:nvPr>
            <p:ph type="pic" idx="2"/>
          </p:nvPr>
        </p:nvSpPr>
        <p:spPr>
          <a:xfrm>
            <a:off x="1344252" y="459581"/>
            <a:ext cx="4114910" cy="3086100"/>
          </a:xfrm>
          <a:prstGeom prst="rect">
            <a:avLst/>
          </a:prstGeom>
          <a:noFill/>
          <a:ln>
            <a:noFill/>
          </a:ln>
        </p:spPr>
      </p:sp>
      <p:sp>
        <p:nvSpPr>
          <p:cNvPr id="109" name="Google Shape;109;p22"/>
          <p:cNvSpPr txBox="1">
            <a:spLocks noGrp="1"/>
          </p:cNvSpPr>
          <p:nvPr>
            <p:ph type="body" idx="1"/>
          </p:nvPr>
        </p:nvSpPr>
        <p:spPr>
          <a:xfrm>
            <a:off x="1344252" y="4025503"/>
            <a:ext cx="4114910" cy="603647"/>
          </a:xfrm>
          <a:prstGeom prst="rect">
            <a:avLst/>
          </a:prstGeom>
          <a:noFill/>
          <a:ln>
            <a:noFill/>
          </a:ln>
        </p:spPr>
        <p:txBody>
          <a:bodyPr spcFirstLastPara="1" wrap="square" lIns="68575" tIns="34275" rIns="68575" bIns="34275" anchor="t" anchorCtr="0">
            <a:normAutofit/>
          </a:bodyPr>
          <a:lstStyle>
            <a:lvl1pPr marL="457200" lvl="0" indent="-228600" algn="l">
              <a:spcBef>
                <a:spcPts val="200"/>
              </a:spcBef>
              <a:spcAft>
                <a:spcPts val="0"/>
              </a:spcAft>
              <a:buClr>
                <a:schemeClr val="dk1"/>
              </a:buClr>
              <a:buSzPts val="1100"/>
              <a:buNone/>
              <a:defRPr sz="1100"/>
            </a:lvl1pPr>
            <a:lvl2pPr marL="914400" lvl="1" indent="-228600" algn="l">
              <a:spcBef>
                <a:spcPts val="200"/>
              </a:spcBef>
              <a:spcAft>
                <a:spcPts val="0"/>
              </a:spcAft>
              <a:buClr>
                <a:schemeClr val="dk1"/>
              </a:buClr>
              <a:buSzPts val="900"/>
              <a:buNone/>
              <a:defRPr sz="900"/>
            </a:lvl2pPr>
            <a:lvl3pPr marL="1371600" lvl="2" indent="-228600" algn="l">
              <a:spcBef>
                <a:spcPts val="200"/>
              </a:spcBef>
              <a:spcAft>
                <a:spcPts val="0"/>
              </a:spcAft>
              <a:buClr>
                <a:schemeClr val="dk1"/>
              </a:buClr>
              <a:buSzPts val="800"/>
              <a:buNone/>
              <a:defRPr sz="800"/>
            </a:lvl3pPr>
            <a:lvl4pPr marL="1828800" lvl="3" indent="-228600" algn="l">
              <a:spcBef>
                <a:spcPts val="100"/>
              </a:spcBef>
              <a:spcAft>
                <a:spcPts val="0"/>
              </a:spcAft>
              <a:buClr>
                <a:schemeClr val="dk1"/>
              </a:buClr>
              <a:buSzPts val="700"/>
              <a:buNone/>
              <a:defRPr sz="700"/>
            </a:lvl4pPr>
            <a:lvl5pPr marL="2286000" lvl="4" indent="-228600" algn="l">
              <a:spcBef>
                <a:spcPts val="100"/>
              </a:spcBef>
              <a:spcAft>
                <a:spcPts val="0"/>
              </a:spcAft>
              <a:buClr>
                <a:schemeClr val="dk1"/>
              </a:buClr>
              <a:buSzPts val="700"/>
              <a:buNone/>
              <a:defRPr sz="700"/>
            </a:lvl5pPr>
            <a:lvl6pPr marL="2743200" lvl="5" indent="-228600" algn="l">
              <a:spcBef>
                <a:spcPts val="100"/>
              </a:spcBef>
              <a:spcAft>
                <a:spcPts val="0"/>
              </a:spcAft>
              <a:buClr>
                <a:schemeClr val="dk1"/>
              </a:buClr>
              <a:buSzPts val="700"/>
              <a:buNone/>
              <a:defRPr sz="700"/>
            </a:lvl6pPr>
            <a:lvl7pPr marL="3200400" lvl="6" indent="-228600" algn="l">
              <a:spcBef>
                <a:spcPts val="100"/>
              </a:spcBef>
              <a:spcAft>
                <a:spcPts val="0"/>
              </a:spcAft>
              <a:buClr>
                <a:schemeClr val="dk1"/>
              </a:buClr>
              <a:buSzPts val="700"/>
              <a:buNone/>
              <a:defRPr sz="700"/>
            </a:lvl7pPr>
            <a:lvl8pPr marL="3657600" lvl="7" indent="-228600" algn="l">
              <a:spcBef>
                <a:spcPts val="100"/>
              </a:spcBef>
              <a:spcAft>
                <a:spcPts val="0"/>
              </a:spcAft>
              <a:buClr>
                <a:schemeClr val="dk1"/>
              </a:buClr>
              <a:buSzPts val="700"/>
              <a:buNone/>
              <a:defRPr sz="700"/>
            </a:lvl8pPr>
            <a:lvl9pPr marL="4114800" lvl="8" indent="-228600" algn="l">
              <a:spcBef>
                <a:spcPts val="100"/>
              </a:spcBef>
              <a:spcAft>
                <a:spcPts val="0"/>
              </a:spcAft>
              <a:buClr>
                <a:schemeClr val="dk1"/>
              </a:buClr>
              <a:buSzPts val="700"/>
              <a:buNone/>
              <a:defRPr sz="700"/>
            </a:lvl9pPr>
          </a:lstStyle>
          <a:p>
            <a:endParaRPr/>
          </a:p>
        </p:txBody>
      </p:sp>
      <p:sp>
        <p:nvSpPr>
          <p:cNvPr id="110" name="Google Shape;110;p22"/>
          <p:cNvSpPr txBox="1">
            <a:spLocks noGrp="1"/>
          </p:cNvSpPr>
          <p:nvPr>
            <p:ph type="dt" idx="10"/>
          </p:nvPr>
        </p:nvSpPr>
        <p:spPr>
          <a:xfrm>
            <a:off x="342909" y="4767263"/>
            <a:ext cx="160024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1" name="Google Shape;111;p22"/>
          <p:cNvSpPr txBox="1">
            <a:spLocks noGrp="1"/>
          </p:cNvSpPr>
          <p:nvPr>
            <p:ph type="ftr" idx="11"/>
          </p:nvPr>
        </p:nvSpPr>
        <p:spPr>
          <a:xfrm>
            <a:off x="2343212" y="4767263"/>
            <a:ext cx="217175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2" name="Google Shape;112;p22"/>
          <p:cNvSpPr txBox="1">
            <a:spLocks noGrp="1"/>
          </p:cNvSpPr>
          <p:nvPr>
            <p:ph type="sldNum" idx="12"/>
          </p:nvPr>
        </p:nvSpPr>
        <p:spPr>
          <a:xfrm>
            <a:off x="4915031" y="4767263"/>
            <a:ext cx="1600243"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342909" y="205978"/>
            <a:ext cx="6172365" cy="85725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5" name="Google Shape;115;p23"/>
          <p:cNvSpPr txBox="1">
            <a:spLocks noGrp="1"/>
          </p:cNvSpPr>
          <p:nvPr>
            <p:ph type="body" idx="1"/>
          </p:nvPr>
        </p:nvSpPr>
        <p:spPr>
          <a:xfrm rot="5400000">
            <a:off x="1731855" y="-188796"/>
            <a:ext cx="3394472" cy="6172365"/>
          </a:xfrm>
          <a:prstGeom prst="rect">
            <a:avLst/>
          </a:prstGeom>
          <a:noFill/>
          <a:ln>
            <a:noFill/>
          </a:ln>
        </p:spPr>
        <p:txBody>
          <a:bodyPr spcFirstLastPara="1" wrap="square" lIns="68575" tIns="34275" rIns="68575" bIns="34275" anchor="t" anchorCtr="0">
            <a:normAutofit/>
          </a:bodyPr>
          <a:lstStyle>
            <a:lvl1pPr marL="457200" lvl="0" indent="-317500" algn="l">
              <a:spcBef>
                <a:spcPts val="300"/>
              </a:spcBef>
              <a:spcAft>
                <a:spcPts val="0"/>
              </a:spcAft>
              <a:buClr>
                <a:schemeClr val="dk1"/>
              </a:buClr>
              <a:buSzPts val="1400"/>
              <a:buChar char="•"/>
              <a:defRPr/>
            </a:lvl1pPr>
            <a:lvl2pPr marL="914400" lvl="1" indent="-317500" algn="l">
              <a:spcBef>
                <a:spcPts val="300"/>
              </a:spcBef>
              <a:spcAft>
                <a:spcPts val="0"/>
              </a:spcAft>
              <a:buClr>
                <a:schemeClr val="dk1"/>
              </a:buClr>
              <a:buSzPts val="1400"/>
              <a:buChar char="–"/>
              <a:defRPr/>
            </a:lvl2pPr>
            <a:lvl3pPr marL="1371600" lvl="2" indent="-317500" algn="l">
              <a:spcBef>
                <a:spcPts val="300"/>
              </a:spcBef>
              <a:spcAft>
                <a:spcPts val="0"/>
              </a:spcAft>
              <a:buClr>
                <a:schemeClr val="dk1"/>
              </a:buClr>
              <a:buSzPts val="1400"/>
              <a:buChar char="•"/>
              <a:defRPr/>
            </a:lvl3pPr>
            <a:lvl4pPr marL="1828800" lvl="3" indent="-317500" algn="l">
              <a:spcBef>
                <a:spcPts val="300"/>
              </a:spcBef>
              <a:spcAft>
                <a:spcPts val="0"/>
              </a:spcAft>
              <a:buClr>
                <a:schemeClr val="dk1"/>
              </a:buClr>
              <a:buSzPts val="1400"/>
              <a:buChar char="–"/>
              <a:defRPr/>
            </a:lvl4pPr>
            <a:lvl5pPr marL="2286000" lvl="4" indent="-317500" algn="l">
              <a:spcBef>
                <a:spcPts val="3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116" name="Google Shape;116;p23"/>
          <p:cNvSpPr txBox="1">
            <a:spLocks noGrp="1"/>
          </p:cNvSpPr>
          <p:nvPr>
            <p:ph type="dt" idx="10"/>
          </p:nvPr>
        </p:nvSpPr>
        <p:spPr>
          <a:xfrm>
            <a:off x="342909" y="4767263"/>
            <a:ext cx="160024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7" name="Google Shape;117;p23"/>
          <p:cNvSpPr txBox="1">
            <a:spLocks noGrp="1"/>
          </p:cNvSpPr>
          <p:nvPr>
            <p:ph type="ftr" idx="11"/>
          </p:nvPr>
        </p:nvSpPr>
        <p:spPr>
          <a:xfrm>
            <a:off x="2343212" y="4767263"/>
            <a:ext cx="217175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8" name="Google Shape;118;p23"/>
          <p:cNvSpPr txBox="1">
            <a:spLocks noGrp="1"/>
          </p:cNvSpPr>
          <p:nvPr>
            <p:ph type="sldNum" idx="12"/>
          </p:nvPr>
        </p:nvSpPr>
        <p:spPr>
          <a:xfrm>
            <a:off x="4915031" y="4767263"/>
            <a:ext cx="1600243"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3549406" y="1628755"/>
            <a:ext cx="4388644" cy="1543091"/>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1" name="Google Shape;121;p24"/>
          <p:cNvSpPr txBox="1">
            <a:spLocks noGrp="1"/>
          </p:cNvSpPr>
          <p:nvPr>
            <p:ph type="body" idx="1"/>
          </p:nvPr>
        </p:nvSpPr>
        <p:spPr>
          <a:xfrm rot="5400000">
            <a:off x="406072" y="142815"/>
            <a:ext cx="4388644" cy="4514970"/>
          </a:xfrm>
          <a:prstGeom prst="rect">
            <a:avLst/>
          </a:prstGeom>
          <a:noFill/>
          <a:ln>
            <a:noFill/>
          </a:ln>
        </p:spPr>
        <p:txBody>
          <a:bodyPr spcFirstLastPara="1" wrap="square" lIns="68575" tIns="34275" rIns="68575" bIns="34275" anchor="t" anchorCtr="0">
            <a:normAutofit/>
          </a:bodyPr>
          <a:lstStyle>
            <a:lvl1pPr marL="457200" lvl="0" indent="-317500" algn="l">
              <a:spcBef>
                <a:spcPts val="300"/>
              </a:spcBef>
              <a:spcAft>
                <a:spcPts val="0"/>
              </a:spcAft>
              <a:buClr>
                <a:schemeClr val="dk1"/>
              </a:buClr>
              <a:buSzPts val="1400"/>
              <a:buChar char="•"/>
              <a:defRPr/>
            </a:lvl1pPr>
            <a:lvl2pPr marL="914400" lvl="1" indent="-317500" algn="l">
              <a:spcBef>
                <a:spcPts val="300"/>
              </a:spcBef>
              <a:spcAft>
                <a:spcPts val="0"/>
              </a:spcAft>
              <a:buClr>
                <a:schemeClr val="dk1"/>
              </a:buClr>
              <a:buSzPts val="1400"/>
              <a:buChar char="–"/>
              <a:defRPr/>
            </a:lvl2pPr>
            <a:lvl3pPr marL="1371600" lvl="2" indent="-317500" algn="l">
              <a:spcBef>
                <a:spcPts val="300"/>
              </a:spcBef>
              <a:spcAft>
                <a:spcPts val="0"/>
              </a:spcAft>
              <a:buClr>
                <a:schemeClr val="dk1"/>
              </a:buClr>
              <a:buSzPts val="1400"/>
              <a:buChar char="•"/>
              <a:defRPr/>
            </a:lvl3pPr>
            <a:lvl4pPr marL="1828800" lvl="3" indent="-317500" algn="l">
              <a:spcBef>
                <a:spcPts val="300"/>
              </a:spcBef>
              <a:spcAft>
                <a:spcPts val="0"/>
              </a:spcAft>
              <a:buClr>
                <a:schemeClr val="dk1"/>
              </a:buClr>
              <a:buSzPts val="1400"/>
              <a:buChar char="–"/>
              <a:defRPr/>
            </a:lvl4pPr>
            <a:lvl5pPr marL="2286000" lvl="4" indent="-317500" algn="l">
              <a:spcBef>
                <a:spcPts val="3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122" name="Google Shape;122;p24"/>
          <p:cNvSpPr txBox="1">
            <a:spLocks noGrp="1"/>
          </p:cNvSpPr>
          <p:nvPr>
            <p:ph type="dt" idx="10"/>
          </p:nvPr>
        </p:nvSpPr>
        <p:spPr>
          <a:xfrm>
            <a:off x="342909" y="4767263"/>
            <a:ext cx="160024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3" name="Google Shape;123;p24"/>
          <p:cNvSpPr txBox="1">
            <a:spLocks noGrp="1"/>
          </p:cNvSpPr>
          <p:nvPr>
            <p:ph type="ftr" idx="11"/>
          </p:nvPr>
        </p:nvSpPr>
        <p:spPr>
          <a:xfrm>
            <a:off x="2343212" y="4767263"/>
            <a:ext cx="217175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4" name="Google Shape;124;p24"/>
          <p:cNvSpPr txBox="1">
            <a:spLocks noGrp="1"/>
          </p:cNvSpPr>
          <p:nvPr>
            <p:ph type="sldNum" idx="12"/>
          </p:nvPr>
        </p:nvSpPr>
        <p:spPr>
          <a:xfrm>
            <a:off x="4915031" y="4767263"/>
            <a:ext cx="1600243"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5F7FA"/>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42909" y="205978"/>
            <a:ext cx="6172365" cy="857250"/>
          </a:xfrm>
          <a:prstGeom prst="rect">
            <a:avLst/>
          </a:prstGeom>
          <a:noFill/>
          <a:ln>
            <a:noFill/>
          </a:ln>
        </p:spPr>
        <p:txBody>
          <a:bodyPr spcFirstLastPara="1" wrap="square" lIns="68575" tIns="34275" rIns="68575" bIns="34275" anchor="ctr" anchorCtr="0">
            <a:normAutofit/>
          </a:bodyPr>
          <a:lstStyle>
            <a:lvl1pPr marR="0" lvl="0" algn="ctr" rtl="0">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342909" y="1200150"/>
            <a:ext cx="6172365" cy="3394472"/>
          </a:xfrm>
          <a:prstGeom prst="rect">
            <a:avLst/>
          </a:prstGeom>
          <a:noFill/>
          <a:ln>
            <a:noFill/>
          </a:ln>
        </p:spPr>
        <p:txBody>
          <a:bodyPr spcFirstLastPara="1" wrap="square" lIns="68575" tIns="34275" rIns="68575" bIns="34275" anchor="t" anchorCtr="0">
            <a:normAutofit/>
          </a:bodyPr>
          <a:lstStyle>
            <a:lvl1pPr marL="457200" marR="0" lvl="0" indent="-381000" algn="l" rtl="0">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342909" y="4767263"/>
            <a:ext cx="1600243"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2343212" y="4767263"/>
            <a:ext cx="2171758"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4915031" y="4767263"/>
            <a:ext cx="1600243"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Shape 129"/>
        <p:cNvGrpSpPr/>
        <p:nvPr/>
      </p:nvGrpSpPr>
      <p:grpSpPr>
        <a:xfrm>
          <a:off x="0" y="0"/>
          <a:ext cx="0" cy="0"/>
          <a:chOff x="0" y="0"/>
          <a:chExt cx="0" cy="0"/>
        </a:xfrm>
      </p:grpSpPr>
      <p:sp>
        <p:nvSpPr>
          <p:cNvPr id="130" name="Google Shape;130;p25"/>
          <p:cNvSpPr txBox="1"/>
          <p:nvPr/>
        </p:nvSpPr>
        <p:spPr>
          <a:xfrm>
            <a:off x="342909" y="1371600"/>
            <a:ext cx="8458197" cy="6858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3600" b="1" i="0" u="none" strike="noStrike" cap="none" dirty="0">
                <a:solidFill>
                  <a:srgbClr val="FFFFFF"/>
                </a:solidFill>
                <a:latin typeface="Calibri"/>
                <a:ea typeface="Calibri"/>
                <a:cs typeface="Calibri"/>
                <a:sym typeface="Calibri"/>
              </a:rPr>
              <a:t>Algorithme d'Arbre de Décision QUEST</a:t>
            </a:r>
            <a:endParaRPr sz="1100" dirty="0"/>
          </a:p>
        </p:txBody>
      </p:sp>
      <p:sp>
        <p:nvSpPr>
          <p:cNvPr id="131" name="Google Shape;131;p25"/>
          <p:cNvSpPr txBox="1"/>
          <p:nvPr/>
        </p:nvSpPr>
        <p:spPr>
          <a:xfrm>
            <a:off x="342909" y="2194560"/>
            <a:ext cx="8458197" cy="41148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2100" b="0" i="0" u="none" strike="noStrike" cap="none">
                <a:solidFill>
                  <a:srgbClr val="B4C8DC"/>
                </a:solidFill>
                <a:latin typeface="Calibri"/>
                <a:ea typeface="Calibri"/>
                <a:cs typeface="Calibri"/>
                <a:sym typeface="Calibri"/>
              </a:rPr>
              <a:t>Quick, Unbiased, Efficient Statistical Tree</a:t>
            </a:r>
            <a:endParaRPr sz="1100"/>
          </a:p>
        </p:txBody>
      </p:sp>
      <p:sp>
        <p:nvSpPr>
          <p:cNvPr id="132" name="Google Shape;132;p25"/>
          <p:cNvSpPr/>
          <p:nvPr/>
        </p:nvSpPr>
        <p:spPr>
          <a:xfrm>
            <a:off x="2743273" y="2743200"/>
            <a:ext cx="3657469" cy="13716"/>
          </a:xfrm>
          <a:prstGeom prst="rect">
            <a:avLst/>
          </a:prstGeom>
          <a:solidFill>
            <a:srgbClr val="6496C8"/>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33" name="Google Shape;133;p25"/>
          <p:cNvSpPr txBox="1"/>
          <p:nvPr/>
        </p:nvSpPr>
        <p:spPr>
          <a:xfrm>
            <a:off x="342909" y="3086100"/>
            <a:ext cx="8458200" cy="3000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1500" b="0" i="0" u="none" strike="noStrike" cap="none" dirty="0">
                <a:solidFill>
                  <a:srgbClr val="C8D2DC"/>
                </a:solidFill>
                <a:latin typeface="Calibri"/>
                <a:ea typeface="Calibri"/>
                <a:cs typeface="Calibri"/>
                <a:sym typeface="Calibri"/>
              </a:rPr>
              <a:t>Présenté par : DAOUDI SOHAIB</a:t>
            </a:r>
            <a:r>
              <a:rPr lang="en" sz="1500" dirty="0">
                <a:solidFill>
                  <a:srgbClr val="C8D2DC"/>
                </a:solidFill>
                <a:latin typeface="Calibri"/>
                <a:ea typeface="Calibri"/>
                <a:cs typeface="Calibri"/>
                <a:sym typeface="Calibri"/>
              </a:rPr>
              <a:t> &amp;</a:t>
            </a:r>
            <a:r>
              <a:rPr lang="en" sz="1500" b="0" i="0" u="none" strike="noStrike" cap="none" dirty="0">
                <a:solidFill>
                  <a:srgbClr val="C8D2DC"/>
                </a:solidFill>
                <a:latin typeface="Calibri"/>
                <a:ea typeface="Calibri"/>
                <a:cs typeface="Calibri"/>
                <a:sym typeface="Calibri"/>
              </a:rPr>
              <a:t> Souleymane Di</a:t>
            </a:r>
            <a:r>
              <a:rPr lang="en" sz="1500" dirty="0">
                <a:solidFill>
                  <a:srgbClr val="C8D2DC"/>
                </a:solidFill>
                <a:latin typeface="Calibri"/>
                <a:ea typeface="Calibri"/>
                <a:cs typeface="Calibri"/>
                <a:sym typeface="Calibri"/>
              </a:rPr>
              <a:t>allo &amp; Hinimdou Morsia</a:t>
            </a:r>
            <a:endParaRPr sz="1100" dirty="0"/>
          </a:p>
        </p:txBody>
      </p:sp>
      <p:sp>
        <p:nvSpPr>
          <p:cNvPr id="134" name="Google Shape;134;p25"/>
          <p:cNvSpPr txBox="1"/>
          <p:nvPr/>
        </p:nvSpPr>
        <p:spPr>
          <a:xfrm>
            <a:off x="342909" y="3429000"/>
            <a:ext cx="8458200" cy="2847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a:solidFill>
                  <a:srgbClr val="AAB4C3"/>
                </a:solidFill>
                <a:latin typeface="Calibri"/>
                <a:ea typeface="Calibri"/>
                <a:cs typeface="Calibri"/>
                <a:sym typeface="Calibri"/>
              </a:rPr>
              <a:t>Projet KDD</a:t>
            </a:r>
            <a:endParaRPr>
              <a:solidFill>
                <a:srgbClr val="AAB4C3"/>
              </a:solidFill>
              <a:latin typeface="Calibri"/>
              <a:ea typeface="Calibri"/>
              <a:cs typeface="Calibri"/>
              <a:sym typeface="Calibri"/>
            </a:endParaRPr>
          </a:p>
        </p:txBody>
      </p:sp>
      <p:sp>
        <p:nvSpPr>
          <p:cNvPr id="135" name="Google Shape;135;p25"/>
          <p:cNvSpPr txBox="1"/>
          <p:nvPr/>
        </p:nvSpPr>
        <p:spPr>
          <a:xfrm>
            <a:off x="342909" y="3771900"/>
            <a:ext cx="8458197" cy="3429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1200" b="0" i="0" u="none" strike="noStrike" cap="none">
                <a:solidFill>
                  <a:srgbClr val="96A0AF"/>
                </a:solidFill>
                <a:latin typeface="Calibri"/>
                <a:ea typeface="Calibri"/>
                <a:cs typeface="Calibri"/>
                <a:sym typeface="Calibri"/>
              </a:rPr>
              <a:t>December 14, 2025</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6"/>
          <p:cNvSpPr/>
          <p:nvPr/>
        </p:nvSpPr>
        <p:spPr>
          <a:xfrm>
            <a:off x="0" y="0"/>
            <a:ext cx="9144015" cy="822960"/>
          </a:xfrm>
          <a:prstGeom prst="rect">
            <a:avLst/>
          </a:prstGeom>
          <a:solidFill>
            <a:srgbClr val="19375F"/>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42" name="Google Shape;142;p26"/>
          <p:cNvSpPr txBox="1"/>
          <p:nvPr/>
        </p:nvSpPr>
        <p:spPr>
          <a:xfrm>
            <a:off x="342909" y="205740"/>
            <a:ext cx="8458197" cy="54864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2700" b="1" i="0" u="none" strike="noStrike" cap="none">
                <a:solidFill>
                  <a:srgbClr val="FFFFFF"/>
                </a:solidFill>
                <a:latin typeface="Calibri"/>
                <a:ea typeface="Calibri"/>
                <a:cs typeface="Calibri"/>
                <a:sym typeface="Calibri"/>
              </a:rPr>
              <a:t>Motivation : Pourquoi QUEST ?</a:t>
            </a:r>
            <a:endParaRPr sz="1100"/>
          </a:p>
        </p:txBody>
      </p:sp>
      <p:sp>
        <p:nvSpPr>
          <p:cNvPr id="143" name="Google Shape;143;p26"/>
          <p:cNvSpPr txBox="1"/>
          <p:nvPr/>
        </p:nvSpPr>
        <p:spPr>
          <a:xfrm>
            <a:off x="480073" y="1028700"/>
            <a:ext cx="8229819" cy="3771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700" b="0" i="0" u="none" strike="noStrike" cap="none" dirty="0">
                <a:solidFill>
                  <a:srgbClr val="323232"/>
                </a:solidFill>
                <a:latin typeface="Calibri"/>
                <a:ea typeface="Calibri"/>
                <a:cs typeface="Calibri"/>
                <a:sym typeface="Calibri"/>
              </a:rPr>
              <a:t>Les arbres de décision sont populaires pour leur interprétabilité et facilité d'utilisation</a:t>
            </a:r>
            <a:endParaRPr sz="1100" dirty="0"/>
          </a:p>
          <a:p>
            <a:pPr marL="0" marR="0" lvl="0" indent="0" algn="l" rtl="0">
              <a:spcBef>
                <a:spcPts val="600"/>
              </a:spcBef>
              <a:spcAft>
                <a:spcPts val="0"/>
              </a:spcAft>
              <a:buNone/>
            </a:pPr>
            <a:r>
              <a:rPr lang="en" sz="1700" b="0" i="0" u="none" strike="noStrike" cap="none" dirty="0">
                <a:solidFill>
                  <a:srgbClr val="323232"/>
                </a:solidFill>
                <a:latin typeface="Calibri"/>
                <a:ea typeface="Calibri"/>
                <a:cs typeface="Calibri"/>
                <a:sym typeface="Calibri"/>
              </a:rPr>
              <a:t>Cependant, les algorithmes classiques (CART, C4.5, ID3) souffrent de :</a:t>
            </a:r>
            <a:endParaRPr sz="1100" dirty="0"/>
          </a:p>
          <a:p>
            <a:pPr marL="342900" marR="0" lvl="1" indent="0" algn="l" rtl="0">
              <a:spcBef>
                <a:spcPts val="600"/>
              </a:spcBef>
              <a:spcAft>
                <a:spcPts val="0"/>
              </a:spcAft>
              <a:buNone/>
            </a:pPr>
            <a:r>
              <a:rPr lang="en" sz="1700" b="0" i="0" u="none" strike="noStrike" cap="none" dirty="0">
                <a:solidFill>
                  <a:srgbClr val="323232"/>
                </a:solidFill>
                <a:latin typeface="Calibri"/>
                <a:ea typeface="Calibri"/>
                <a:cs typeface="Calibri"/>
                <a:sym typeface="Calibri"/>
              </a:rPr>
              <a:t>• Biais de sélection de variables — favorisent les variables avec plus de points de coupure</a:t>
            </a:r>
            <a:endParaRPr sz="1100" dirty="0"/>
          </a:p>
          <a:p>
            <a:pPr marL="342900" marR="0" lvl="1" indent="0" algn="l" rtl="0">
              <a:spcBef>
                <a:spcPts val="600"/>
              </a:spcBef>
              <a:spcAft>
                <a:spcPts val="0"/>
              </a:spcAft>
              <a:buNone/>
            </a:pPr>
            <a:r>
              <a:rPr lang="en" sz="1700" b="0" i="0" u="none" strike="noStrike" cap="none" dirty="0">
                <a:solidFill>
                  <a:srgbClr val="323232"/>
                </a:solidFill>
                <a:latin typeface="Calibri"/>
                <a:ea typeface="Calibri"/>
                <a:cs typeface="Calibri"/>
                <a:sym typeface="Calibri"/>
              </a:rPr>
              <a:t>• Dominance des variables catégoriques — les attributs à nombreuses catégories sont avantagés</a:t>
            </a:r>
            <a:endParaRPr sz="1100" dirty="0"/>
          </a:p>
          <a:p>
            <a:pPr marL="342900" marR="0" lvl="1" indent="0" algn="l" rtl="0">
              <a:spcBef>
                <a:spcPts val="600"/>
              </a:spcBef>
              <a:spcAft>
                <a:spcPts val="0"/>
              </a:spcAft>
              <a:buNone/>
            </a:pPr>
            <a:r>
              <a:rPr lang="en" sz="1700" b="0" i="0" u="none" strike="noStrike" cap="none" dirty="0">
                <a:solidFill>
                  <a:srgbClr val="323232"/>
                </a:solidFill>
                <a:latin typeface="Calibri"/>
                <a:ea typeface="Calibri"/>
                <a:cs typeface="Calibri"/>
                <a:sym typeface="Calibri"/>
              </a:rPr>
              <a:t>• Surapprentissage — la recherche exhaustive produit des arbres trop complexes</a:t>
            </a:r>
            <a:endParaRPr sz="1100" dirty="0"/>
          </a:p>
          <a:p>
            <a:pPr marL="342900" marR="0" lvl="1" indent="0" algn="l" rtl="0">
              <a:spcBef>
                <a:spcPts val="600"/>
              </a:spcBef>
              <a:spcAft>
                <a:spcPts val="0"/>
              </a:spcAft>
              <a:buNone/>
            </a:pPr>
            <a:r>
              <a:rPr lang="en" sz="1700" b="0" i="0" u="none" strike="noStrike" cap="none" dirty="0">
                <a:solidFill>
                  <a:srgbClr val="323232"/>
                </a:solidFill>
                <a:latin typeface="Calibri"/>
                <a:ea typeface="Calibri"/>
                <a:cs typeface="Calibri"/>
                <a:sym typeface="Calibri"/>
              </a:rPr>
              <a:t>• Coût de calcul — l'évaluation de toutes les coupures possibles est coûteuse</a:t>
            </a:r>
            <a:endParaRPr sz="1100" dirty="0"/>
          </a:p>
          <a:p>
            <a:pPr marL="0" marR="0" lvl="0" indent="0" algn="l" rtl="0">
              <a:spcBef>
                <a:spcPts val="600"/>
              </a:spcBef>
              <a:spcAft>
                <a:spcPts val="0"/>
              </a:spcAft>
              <a:buNone/>
            </a:pPr>
            <a:r>
              <a:rPr lang="en" sz="1700" b="0" i="0" u="none" strike="noStrike" cap="none" dirty="0">
                <a:solidFill>
                  <a:srgbClr val="323232"/>
                </a:solidFill>
                <a:latin typeface="Calibri"/>
                <a:ea typeface="Calibri"/>
                <a:cs typeface="Calibri"/>
                <a:sym typeface="Calibri"/>
              </a:rPr>
              <a:t>QUEST a été proposé pour résoudre ces problèmes fondamentaux</a:t>
            </a:r>
            <a:endParaRPr sz="1100" dirty="0"/>
          </a:p>
          <a:p>
            <a:pPr marL="0" marR="0" lvl="0" indent="0" algn="l" rtl="0">
              <a:spcBef>
                <a:spcPts val="600"/>
              </a:spcBef>
              <a:spcAft>
                <a:spcPts val="0"/>
              </a:spcAft>
              <a:buNone/>
            </a:pPr>
            <a:r>
              <a:rPr lang="en" sz="1700" b="0" i="0" u="none" strike="noStrike" cap="none" dirty="0">
                <a:solidFill>
                  <a:srgbClr val="323232"/>
                </a:solidFill>
                <a:latin typeface="Calibri"/>
                <a:ea typeface="Calibri"/>
                <a:cs typeface="Calibri"/>
                <a:sym typeface="Calibri"/>
              </a:rPr>
              <a:t>Objectif : Obtenir une sélection non biaisée par tests d'hypothèses statistiques</a:t>
            </a:r>
            <a:endParaRPr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7"/>
          <p:cNvSpPr/>
          <p:nvPr/>
        </p:nvSpPr>
        <p:spPr>
          <a:xfrm>
            <a:off x="0" y="0"/>
            <a:ext cx="9144015" cy="822960"/>
          </a:xfrm>
          <a:prstGeom prst="rect">
            <a:avLst/>
          </a:prstGeom>
          <a:solidFill>
            <a:srgbClr val="19375F"/>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50" name="Google Shape;150;p27"/>
          <p:cNvSpPr txBox="1"/>
          <p:nvPr/>
        </p:nvSpPr>
        <p:spPr>
          <a:xfrm>
            <a:off x="342909" y="205740"/>
            <a:ext cx="8458197" cy="54864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2700" b="1" i="0" u="none" strike="noStrike" cap="none">
                <a:solidFill>
                  <a:srgbClr val="FFFFFF"/>
                </a:solidFill>
                <a:latin typeface="Calibri"/>
                <a:ea typeface="Calibri"/>
                <a:cs typeface="Calibri"/>
                <a:sym typeface="Calibri"/>
              </a:rPr>
              <a:t>Qu'est-ce que QUEST ?</a:t>
            </a:r>
            <a:endParaRPr sz="1100"/>
          </a:p>
        </p:txBody>
      </p:sp>
      <p:sp>
        <p:nvSpPr>
          <p:cNvPr id="151" name="Google Shape;151;p27"/>
          <p:cNvSpPr/>
          <p:nvPr/>
        </p:nvSpPr>
        <p:spPr>
          <a:xfrm>
            <a:off x="480073" y="1028700"/>
            <a:ext cx="8229819" cy="822960"/>
          </a:xfrm>
          <a:prstGeom prst="roundRect">
            <a:avLst>
              <a:gd name="adj" fmla="val 16667"/>
            </a:avLst>
          </a:prstGeom>
          <a:solidFill>
            <a:srgbClr val="2980B9"/>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500" b="0" i="1" u="none" strike="noStrike" cap="none">
                <a:solidFill>
                  <a:srgbClr val="FFFFFF"/>
                </a:solidFill>
                <a:latin typeface="Calibri"/>
                <a:ea typeface="Calibri"/>
                <a:cs typeface="Calibri"/>
                <a:sym typeface="Calibri"/>
              </a:rPr>
              <a:t>QUEST est un algorithme d'arbre de classification supervisé qui utilise des tests statistiques pour la sélection de variables et l'analyse discriminante quadratique pour la détermination du point de coupure.</a:t>
            </a:r>
            <a:endParaRPr sz="1100"/>
          </a:p>
        </p:txBody>
      </p:sp>
      <p:sp>
        <p:nvSpPr>
          <p:cNvPr id="152" name="Google Shape;152;p27"/>
          <p:cNvSpPr txBox="1"/>
          <p:nvPr/>
        </p:nvSpPr>
        <p:spPr>
          <a:xfrm>
            <a:off x="480073" y="1988820"/>
            <a:ext cx="8229819" cy="2743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700" b="0" i="0" u="none" strike="noStrike" cap="none">
                <a:solidFill>
                  <a:srgbClr val="323232"/>
                </a:solidFill>
                <a:latin typeface="Calibri"/>
                <a:ea typeface="Calibri"/>
                <a:cs typeface="Calibri"/>
                <a:sym typeface="Calibri"/>
              </a:rPr>
              <a:t>Apprentissage supervisé : Nécessite des données d'entraînement étiquetées</a:t>
            </a:r>
            <a:endParaRPr sz="1100"/>
          </a:p>
          <a:p>
            <a:pPr marL="0" marR="0" lvl="0" indent="0" algn="l" rtl="0">
              <a:spcBef>
                <a:spcPts val="600"/>
              </a:spcBef>
              <a:spcAft>
                <a:spcPts val="0"/>
              </a:spcAft>
              <a:buNone/>
            </a:pPr>
            <a:r>
              <a:rPr lang="en" sz="1700" b="0" i="0" u="none" strike="noStrike" cap="none">
                <a:solidFill>
                  <a:srgbClr val="323232"/>
                </a:solidFill>
                <a:latin typeface="Calibri"/>
                <a:ea typeface="Calibri"/>
                <a:cs typeface="Calibri"/>
                <a:sym typeface="Calibri"/>
              </a:rPr>
              <a:t>Coupures binaires : Chaque nœud se divise en exactement deux nœuds fils</a:t>
            </a:r>
            <a:endParaRPr sz="1100"/>
          </a:p>
          <a:p>
            <a:pPr marL="0" marR="0" lvl="0" indent="0" algn="l" rtl="0">
              <a:spcBef>
                <a:spcPts val="600"/>
              </a:spcBef>
              <a:spcAft>
                <a:spcPts val="0"/>
              </a:spcAft>
              <a:buNone/>
            </a:pPr>
            <a:r>
              <a:rPr lang="en" sz="1700" b="0" i="0" u="none" strike="noStrike" cap="none">
                <a:solidFill>
                  <a:srgbClr val="323232"/>
                </a:solidFill>
                <a:latin typeface="Calibri"/>
                <a:ea typeface="Calibri"/>
                <a:cs typeface="Calibri"/>
                <a:sym typeface="Calibri"/>
              </a:rPr>
              <a:t>Fondement statistique : Utilise ANOVA, Chi-deux et test de Levene</a:t>
            </a:r>
            <a:endParaRPr sz="1100"/>
          </a:p>
          <a:p>
            <a:pPr marL="0" marR="0" lvl="0" indent="0" algn="l" rtl="0">
              <a:spcBef>
                <a:spcPts val="600"/>
              </a:spcBef>
              <a:spcAft>
                <a:spcPts val="0"/>
              </a:spcAft>
              <a:buNone/>
            </a:pPr>
            <a:r>
              <a:rPr lang="en" sz="1700" b="0" i="0" u="none" strike="noStrike" cap="none">
                <a:solidFill>
                  <a:srgbClr val="323232"/>
                </a:solidFill>
                <a:latin typeface="Calibri"/>
                <a:ea typeface="Calibri"/>
                <a:cs typeface="Calibri"/>
                <a:sym typeface="Calibri"/>
              </a:rPr>
              <a:t>Objectifs clés :</a:t>
            </a:r>
            <a:endParaRPr sz="1100"/>
          </a:p>
          <a:p>
            <a:pPr marL="342900" marR="0" lvl="1" indent="0" algn="l" rtl="0">
              <a:spcBef>
                <a:spcPts val="600"/>
              </a:spcBef>
              <a:spcAft>
                <a:spcPts val="0"/>
              </a:spcAft>
              <a:buNone/>
            </a:pPr>
            <a:r>
              <a:rPr lang="en" sz="1700" b="0" i="0" u="none" strike="noStrike" cap="none">
                <a:solidFill>
                  <a:srgbClr val="323232"/>
                </a:solidFill>
                <a:latin typeface="Calibri"/>
                <a:ea typeface="Calibri"/>
                <a:cs typeface="Calibri"/>
                <a:sym typeface="Calibri"/>
              </a:rPr>
              <a:t>• Sélection de variables non biaisée (pas de préférence pour les attributs multi-valués)</a:t>
            </a:r>
            <a:endParaRPr sz="1100"/>
          </a:p>
          <a:p>
            <a:pPr marL="342900" marR="0" lvl="1" indent="0" algn="l" rtl="0">
              <a:spcBef>
                <a:spcPts val="600"/>
              </a:spcBef>
              <a:spcAft>
                <a:spcPts val="0"/>
              </a:spcAft>
              <a:buNone/>
            </a:pPr>
            <a:r>
              <a:rPr lang="en" sz="1700" b="0" i="0" u="none" strike="noStrike" cap="none">
                <a:solidFill>
                  <a:srgbClr val="323232"/>
                </a:solidFill>
                <a:latin typeface="Calibri"/>
                <a:ea typeface="Calibri"/>
                <a:cs typeface="Calibri"/>
                <a:sym typeface="Calibri"/>
              </a:rPr>
              <a:t>• Efficacité computationnelle (complexité O(np))</a:t>
            </a:r>
            <a:endParaRPr sz="1100"/>
          </a:p>
          <a:p>
            <a:pPr marL="342900" marR="0" lvl="1" indent="0" algn="l" rtl="0">
              <a:spcBef>
                <a:spcPts val="600"/>
              </a:spcBef>
              <a:spcAft>
                <a:spcPts val="0"/>
              </a:spcAft>
              <a:buNone/>
            </a:pPr>
            <a:r>
              <a:rPr lang="en" sz="1700" b="0" i="0" u="none" strike="noStrike" cap="none">
                <a:solidFill>
                  <a:srgbClr val="323232"/>
                </a:solidFill>
                <a:latin typeface="Calibri"/>
                <a:ea typeface="Calibri"/>
                <a:cs typeface="Calibri"/>
                <a:sym typeface="Calibri"/>
              </a:rPr>
              <a:t>• Rigueur statistique via un cadre de tests d'hypothèses</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8"/>
          <p:cNvSpPr/>
          <p:nvPr/>
        </p:nvSpPr>
        <p:spPr>
          <a:xfrm>
            <a:off x="0" y="0"/>
            <a:ext cx="9144015" cy="822960"/>
          </a:xfrm>
          <a:prstGeom prst="rect">
            <a:avLst/>
          </a:prstGeom>
          <a:solidFill>
            <a:srgbClr val="19375F"/>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59" name="Google Shape;159;p28"/>
          <p:cNvSpPr txBox="1"/>
          <p:nvPr/>
        </p:nvSpPr>
        <p:spPr>
          <a:xfrm>
            <a:off x="342909" y="205740"/>
            <a:ext cx="8458197" cy="54864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2700" b="1" i="0" u="none" strike="noStrike" cap="none">
                <a:solidFill>
                  <a:srgbClr val="FFFFFF"/>
                </a:solidFill>
                <a:latin typeface="Calibri"/>
                <a:ea typeface="Calibri"/>
                <a:cs typeface="Calibri"/>
                <a:sym typeface="Calibri"/>
              </a:rPr>
              <a:t>QUEST vs CART &amp; C4.5</a:t>
            </a:r>
            <a:endParaRPr sz="1100"/>
          </a:p>
        </p:txBody>
      </p:sp>
      <p:sp>
        <p:nvSpPr>
          <p:cNvPr id="160" name="Google Shape;160;p28"/>
          <p:cNvSpPr/>
          <p:nvPr/>
        </p:nvSpPr>
        <p:spPr>
          <a:xfrm>
            <a:off x="457111" y="960125"/>
            <a:ext cx="2057400" cy="480000"/>
          </a:xfrm>
          <a:prstGeom prst="rect">
            <a:avLst/>
          </a:prstGeom>
          <a:solidFill>
            <a:srgbClr val="464650"/>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200" b="1" i="0" u="none" strike="noStrike" cap="none">
                <a:solidFill>
                  <a:srgbClr val="FFFFFF"/>
                </a:solidFill>
                <a:latin typeface="Calibri"/>
                <a:ea typeface="Calibri"/>
                <a:cs typeface="Calibri"/>
                <a:sym typeface="Calibri"/>
              </a:rPr>
              <a:t>Aspect</a:t>
            </a:r>
            <a:endParaRPr sz="1100"/>
          </a:p>
        </p:txBody>
      </p:sp>
      <p:sp>
        <p:nvSpPr>
          <p:cNvPr id="161" name="Google Shape;161;p28"/>
          <p:cNvSpPr/>
          <p:nvPr/>
        </p:nvSpPr>
        <p:spPr>
          <a:xfrm>
            <a:off x="2514566" y="960125"/>
            <a:ext cx="2057400" cy="480000"/>
          </a:xfrm>
          <a:prstGeom prst="rect">
            <a:avLst/>
          </a:prstGeom>
          <a:solidFill>
            <a:srgbClr val="B46464"/>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200" b="1" i="0" u="none" strike="noStrike" cap="none">
                <a:solidFill>
                  <a:srgbClr val="FFFFFF"/>
                </a:solidFill>
                <a:latin typeface="Calibri"/>
                <a:ea typeface="Calibri"/>
                <a:cs typeface="Calibri"/>
                <a:sym typeface="Calibri"/>
              </a:rPr>
              <a:t>CART</a:t>
            </a:r>
            <a:endParaRPr sz="1100"/>
          </a:p>
        </p:txBody>
      </p:sp>
      <p:sp>
        <p:nvSpPr>
          <p:cNvPr id="162" name="Google Shape;162;p28"/>
          <p:cNvSpPr/>
          <p:nvPr/>
        </p:nvSpPr>
        <p:spPr>
          <a:xfrm>
            <a:off x="4572021" y="960125"/>
            <a:ext cx="2057400" cy="480000"/>
          </a:xfrm>
          <a:prstGeom prst="rect">
            <a:avLst/>
          </a:prstGeom>
          <a:solidFill>
            <a:srgbClr val="649664"/>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200" b="1" i="0" u="none" strike="noStrike" cap="none">
                <a:solidFill>
                  <a:srgbClr val="FFFFFF"/>
                </a:solidFill>
                <a:latin typeface="Calibri"/>
                <a:ea typeface="Calibri"/>
                <a:cs typeface="Calibri"/>
                <a:sym typeface="Calibri"/>
              </a:rPr>
              <a:t>C4.5</a:t>
            </a:r>
            <a:endParaRPr sz="1100"/>
          </a:p>
        </p:txBody>
      </p:sp>
      <p:sp>
        <p:nvSpPr>
          <p:cNvPr id="163" name="Google Shape;163;p28"/>
          <p:cNvSpPr/>
          <p:nvPr/>
        </p:nvSpPr>
        <p:spPr>
          <a:xfrm>
            <a:off x="6629476" y="960125"/>
            <a:ext cx="2057400" cy="480000"/>
          </a:xfrm>
          <a:prstGeom prst="rect">
            <a:avLst/>
          </a:prstGeom>
          <a:solidFill>
            <a:srgbClr val="2980B9"/>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200" b="1" i="0" u="none" strike="noStrike" cap="none">
                <a:solidFill>
                  <a:srgbClr val="FFFFFF"/>
                </a:solidFill>
                <a:latin typeface="Calibri"/>
                <a:ea typeface="Calibri"/>
                <a:cs typeface="Calibri"/>
                <a:sym typeface="Calibri"/>
              </a:rPr>
              <a:t>QUEST</a:t>
            </a:r>
            <a:endParaRPr sz="1100"/>
          </a:p>
        </p:txBody>
      </p:sp>
      <p:sp>
        <p:nvSpPr>
          <p:cNvPr id="164" name="Google Shape;164;p28"/>
          <p:cNvSpPr/>
          <p:nvPr/>
        </p:nvSpPr>
        <p:spPr>
          <a:xfrm>
            <a:off x="457111" y="1440185"/>
            <a:ext cx="2057400" cy="480000"/>
          </a:xfrm>
          <a:prstGeom prst="rect">
            <a:avLst/>
          </a:prstGeom>
          <a:solidFill>
            <a:srgbClr val="E6EBF0"/>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1" i="0" u="none" strike="noStrike" cap="none">
                <a:solidFill>
                  <a:srgbClr val="282828"/>
                </a:solidFill>
                <a:latin typeface="Calibri"/>
                <a:ea typeface="Calibri"/>
                <a:cs typeface="Calibri"/>
                <a:sym typeface="Calibri"/>
              </a:rPr>
              <a:t>Sélection de Variable</a:t>
            </a:r>
            <a:endParaRPr sz="1100"/>
          </a:p>
        </p:txBody>
      </p:sp>
      <p:sp>
        <p:nvSpPr>
          <p:cNvPr id="165" name="Google Shape;165;p28"/>
          <p:cNvSpPr/>
          <p:nvPr/>
        </p:nvSpPr>
        <p:spPr>
          <a:xfrm>
            <a:off x="2514566" y="1440185"/>
            <a:ext cx="2057400" cy="480000"/>
          </a:xfrm>
          <a:prstGeom prst="rect">
            <a:avLst/>
          </a:prstGeom>
          <a:solidFill>
            <a:srgbClr val="FAFAFC"/>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0" i="0" u="none" strike="noStrike" cap="none">
                <a:solidFill>
                  <a:srgbClr val="282828"/>
                </a:solidFill>
                <a:latin typeface="Calibri"/>
                <a:ea typeface="Calibri"/>
                <a:cs typeface="Calibri"/>
                <a:sym typeface="Calibri"/>
              </a:rPr>
              <a:t>Recherche exhaustive</a:t>
            </a:r>
            <a:br>
              <a:rPr lang="en" sz="1000" b="0" i="0" u="none" strike="noStrike" cap="none">
                <a:solidFill>
                  <a:srgbClr val="282828"/>
                </a:solidFill>
                <a:latin typeface="Calibri"/>
                <a:ea typeface="Calibri"/>
                <a:cs typeface="Calibri"/>
                <a:sym typeface="Calibri"/>
              </a:rPr>
            </a:br>
            <a:r>
              <a:rPr lang="en" sz="1000" b="0" i="0" u="none" strike="noStrike" cap="none">
                <a:solidFill>
                  <a:srgbClr val="282828"/>
                </a:solidFill>
                <a:latin typeface="Calibri"/>
                <a:ea typeface="Calibri"/>
                <a:cs typeface="Calibri"/>
                <a:sym typeface="Calibri"/>
              </a:rPr>
              <a:t>(biaisée)</a:t>
            </a:r>
            <a:endParaRPr sz="1100"/>
          </a:p>
        </p:txBody>
      </p:sp>
      <p:sp>
        <p:nvSpPr>
          <p:cNvPr id="166" name="Google Shape;166;p28"/>
          <p:cNvSpPr/>
          <p:nvPr/>
        </p:nvSpPr>
        <p:spPr>
          <a:xfrm>
            <a:off x="4572021" y="1440185"/>
            <a:ext cx="2057400" cy="480000"/>
          </a:xfrm>
          <a:prstGeom prst="rect">
            <a:avLst/>
          </a:prstGeom>
          <a:solidFill>
            <a:srgbClr val="FAFAFC"/>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0" i="0" u="none" strike="noStrike" cap="none">
                <a:solidFill>
                  <a:srgbClr val="282828"/>
                </a:solidFill>
                <a:latin typeface="Calibri"/>
                <a:ea typeface="Calibri"/>
                <a:cs typeface="Calibri"/>
                <a:sym typeface="Calibri"/>
              </a:rPr>
              <a:t>Gain d'information</a:t>
            </a:r>
            <a:br>
              <a:rPr lang="en" sz="1000" b="0" i="0" u="none" strike="noStrike" cap="none">
                <a:solidFill>
                  <a:srgbClr val="282828"/>
                </a:solidFill>
                <a:latin typeface="Calibri"/>
                <a:ea typeface="Calibri"/>
                <a:cs typeface="Calibri"/>
                <a:sym typeface="Calibri"/>
              </a:rPr>
            </a:br>
            <a:r>
              <a:rPr lang="en" sz="1000" b="0" i="0" u="none" strike="noStrike" cap="none">
                <a:solidFill>
                  <a:srgbClr val="282828"/>
                </a:solidFill>
                <a:latin typeface="Calibri"/>
                <a:ea typeface="Calibri"/>
                <a:cs typeface="Calibri"/>
                <a:sym typeface="Calibri"/>
              </a:rPr>
              <a:t>(biaisé)</a:t>
            </a:r>
            <a:endParaRPr sz="1100"/>
          </a:p>
        </p:txBody>
      </p:sp>
      <p:sp>
        <p:nvSpPr>
          <p:cNvPr id="167" name="Google Shape;167;p28"/>
          <p:cNvSpPr/>
          <p:nvPr/>
        </p:nvSpPr>
        <p:spPr>
          <a:xfrm>
            <a:off x="6629476" y="1440185"/>
            <a:ext cx="2057400" cy="480000"/>
          </a:xfrm>
          <a:prstGeom prst="rect">
            <a:avLst/>
          </a:prstGeom>
          <a:solidFill>
            <a:srgbClr val="FAFAFC"/>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0" i="0" u="none" strike="noStrike" cap="none">
                <a:solidFill>
                  <a:srgbClr val="282828"/>
                </a:solidFill>
                <a:latin typeface="Calibri"/>
                <a:ea typeface="Calibri"/>
                <a:cs typeface="Calibri"/>
                <a:sym typeface="Calibri"/>
              </a:rPr>
              <a:t>Tests statistiques</a:t>
            </a:r>
            <a:br>
              <a:rPr lang="en" sz="1000" b="0" i="0" u="none" strike="noStrike" cap="none">
                <a:solidFill>
                  <a:srgbClr val="282828"/>
                </a:solidFill>
                <a:latin typeface="Calibri"/>
                <a:ea typeface="Calibri"/>
                <a:cs typeface="Calibri"/>
                <a:sym typeface="Calibri"/>
              </a:rPr>
            </a:br>
            <a:r>
              <a:rPr lang="en" sz="1000" b="0" i="0" u="none" strike="noStrike" cap="none">
                <a:solidFill>
                  <a:srgbClr val="282828"/>
                </a:solidFill>
                <a:latin typeface="Calibri"/>
                <a:ea typeface="Calibri"/>
                <a:cs typeface="Calibri"/>
                <a:sym typeface="Calibri"/>
              </a:rPr>
              <a:t>(non biaisée)</a:t>
            </a:r>
            <a:endParaRPr sz="1100"/>
          </a:p>
        </p:txBody>
      </p:sp>
      <p:sp>
        <p:nvSpPr>
          <p:cNvPr id="168" name="Google Shape;168;p28"/>
          <p:cNvSpPr/>
          <p:nvPr/>
        </p:nvSpPr>
        <p:spPr>
          <a:xfrm>
            <a:off x="457111" y="1920245"/>
            <a:ext cx="2057400" cy="480000"/>
          </a:xfrm>
          <a:prstGeom prst="rect">
            <a:avLst/>
          </a:prstGeom>
          <a:solidFill>
            <a:srgbClr val="E6EBF0"/>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1" i="0" u="none" strike="noStrike" cap="none">
                <a:solidFill>
                  <a:srgbClr val="282828"/>
                </a:solidFill>
                <a:latin typeface="Calibri"/>
                <a:ea typeface="Calibri"/>
                <a:cs typeface="Calibri"/>
                <a:sym typeface="Calibri"/>
              </a:rPr>
              <a:t>Sélection du Point</a:t>
            </a:r>
            <a:br>
              <a:rPr lang="en" sz="1000" b="1" i="0" u="none" strike="noStrike" cap="none">
                <a:solidFill>
                  <a:srgbClr val="282828"/>
                </a:solidFill>
                <a:latin typeface="Calibri"/>
                <a:ea typeface="Calibri"/>
                <a:cs typeface="Calibri"/>
                <a:sym typeface="Calibri"/>
              </a:rPr>
            </a:br>
            <a:r>
              <a:rPr lang="en" sz="1000" b="1" i="0" u="none" strike="noStrike" cap="none">
                <a:solidFill>
                  <a:srgbClr val="282828"/>
                </a:solidFill>
                <a:latin typeface="Calibri"/>
                <a:ea typeface="Calibri"/>
                <a:cs typeface="Calibri"/>
                <a:sym typeface="Calibri"/>
              </a:rPr>
              <a:t>de Coupure</a:t>
            </a:r>
            <a:endParaRPr sz="1100"/>
          </a:p>
        </p:txBody>
      </p:sp>
      <p:sp>
        <p:nvSpPr>
          <p:cNvPr id="169" name="Google Shape;169;p28"/>
          <p:cNvSpPr/>
          <p:nvPr/>
        </p:nvSpPr>
        <p:spPr>
          <a:xfrm>
            <a:off x="2514566" y="1920245"/>
            <a:ext cx="2057400" cy="480000"/>
          </a:xfrm>
          <a:prstGeom prst="rect">
            <a:avLst/>
          </a:prstGeom>
          <a:solidFill>
            <a:srgbClr val="FAFAFC"/>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0" i="0" u="none" strike="noStrike" cap="none">
                <a:solidFill>
                  <a:srgbClr val="282828"/>
                </a:solidFill>
                <a:latin typeface="Calibri"/>
                <a:ea typeface="Calibri"/>
                <a:cs typeface="Calibri"/>
                <a:sym typeface="Calibri"/>
              </a:rPr>
              <a:t>Impureté Gini</a:t>
            </a:r>
            <a:endParaRPr sz="1100"/>
          </a:p>
        </p:txBody>
      </p:sp>
      <p:sp>
        <p:nvSpPr>
          <p:cNvPr id="170" name="Google Shape;170;p28"/>
          <p:cNvSpPr/>
          <p:nvPr/>
        </p:nvSpPr>
        <p:spPr>
          <a:xfrm>
            <a:off x="4572021" y="1920245"/>
            <a:ext cx="2057400" cy="480000"/>
          </a:xfrm>
          <a:prstGeom prst="rect">
            <a:avLst/>
          </a:prstGeom>
          <a:solidFill>
            <a:srgbClr val="FAFAFC"/>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0" i="0" u="none" strike="noStrike" cap="none">
                <a:solidFill>
                  <a:srgbClr val="282828"/>
                </a:solidFill>
                <a:latin typeface="Calibri"/>
                <a:ea typeface="Calibri"/>
                <a:cs typeface="Calibri"/>
                <a:sym typeface="Calibri"/>
              </a:rPr>
              <a:t>Ratio de gain</a:t>
            </a:r>
            <a:endParaRPr sz="1100"/>
          </a:p>
        </p:txBody>
      </p:sp>
      <p:sp>
        <p:nvSpPr>
          <p:cNvPr id="171" name="Google Shape;171;p28"/>
          <p:cNvSpPr/>
          <p:nvPr/>
        </p:nvSpPr>
        <p:spPr>
          <a:xfrm>
            <a:off x="6629476" y="1920245"/>
            <a:ext cx="2057400" cy="480000"/>
          </a:xfrm>
          <a:prstGeom prst="rect">
            <a:avLst/>
          </a:prstGeom>
          <a:solidFill>
            <a:srgbClr val="FAFAFC"/>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0" i="0" u="none" strike="noStrike" cap="none">
                <a:solidFill>
                  <a:srgbClr val="282828"/>
                </a:solidFill>
                <a:latin typeface="Calibri"/>
                <a:ea typeface="Calibri"/>
                <a:cs typeface="Calibri"/>
                <a:sym typeface="Calibri"/>
              </a:rPr>
              <a:t>Analyse Discriminante</a:t>
            </a:r>
            <a:br>
              <a:rPr lang="en" sz="1000" b="0" i="0" u="none" strike="noStrike" cap="none">
                <a:solidFill>
                  <a:srgbClr val="282828"/>
                </a:solidFill>
                <a:latin typeface="Calibri"/>
                <a:ea typeface="Calibri"/>
                <a:cs typeface="Calibri"/>
                <a:sym typeface="Calibri"/>
              </a:rPr>
            </a:br>
            <a:r>
              <a:rPr lang="en" sz="1000" b="0" i="0" u="none" strike="noStrike" cap="none">
                <a:solidFill>
                  <a:srgbClr val="282828"/>
                </a:solidFill>
                <a:latin typeface="Calibri"/>
                <a:ea typeface="Calibri"/>
                <a:cs typeface="Calibri"/>
                <a:sym typeface="Calibri"/>
              </a:rPr>
              <a:t>Quadratique</a:t>
            </a:r>
            <a:endParaRPr sz="1100"/>
          </a:p>
        </p:txBody>
      </p:sp>
      <p:sp>
        <p:nvSpPr>
          <p:cNvPr id="172" name="Google Shape;172;p28"/>
          <p:cNvSpPr/>
          <p:nvPr/>
        </p:nvSpPr>
        <p:spPr>
          <a:xfrm>
            <a:off x="457111" y="2400305"/>
            <a:ext cx="2057400" cy="480000"/>
          </a:xfrm>
          <a:prstGeom prst="rect">
            <a:avLst/>
          </a:prstGeom>
          <a:solidFill>
            <a:srgbClr val="E6EBF0"/>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1" i="0" u="none" strike="noStrike" cap="none">
                <a:solidFill>
                  <a:srgbClr val="282828"/>
                </a:solidFill>
                <a:latin typeface="Calibri"/>
                <a:ea typeface="Calibri"/>
                <a:cs typeface="Calibri"/>
                <a:sym typeface="Calibri"/>
              </a:rPr>
              <a:t>Gestion des</a:t>
            </a:r>
            <a:br>
              <a:rPr lang="en" sz="1000" b="1" i="0" u="none" strike="noStrike" cap="none">
                <a:solidFill>
                  <a:srgbClr val="282828"/>
                </a:solidFill>
                <a:latin typeface="Calibri"/>
                <a:ea typeface="Calibri"/>
                <a:cs typeface="Calibri"/>
                <a:sym typeface="Calibri"/>
              </a:rPr>
            </a:br>
            <a:r>
              <a:rPr lang="en" sz="1000" b="1" i="0" u="none" strike="noStrike" cap="none">
                <a:solidFill>
                  <a:srgbClr val="282828"/>
                </a:solidFill>
                <a:latin typeface="Calibri"/>
                <a:ea typeface="Calibri"/>
                <a:cs typeface="Calibri"/>
                <a:sym typeface="Calibri"/>
              </a:rPr>
              <a:t>Variables Catégoriques</a:t>
            </a:r>
            <a:endParaRPr sz="1100"/>
          </a:p>
        </p:txBody>
      </p:sp>
      <p:sp>
        <p:nvSpPr>
          <p:cNvPr id="173" name="Google Shape;173;p28"/>
          <p:cNvSpPr/>
          <p:nvPr/>
        </p:nvSpPr>
        <p:spPr>
          <a:xfrm>
            <a:off x="2514566" y="2400305"/>
            <a:ext cx="2057400" cy="480000"/>
          </a:xfrm>
          <a:prstGeom prst="rect">
            <a:avLst/>
          </a:prstGeom>
          <a:solidFill>
            <a:srgbClr val="FAFAFC"/>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0" i="0" u="none" strike="noStrike" cap="none">
                <a:solidFill>
                  <a:srgbClr val="282828"/>
                </a:solidFill>
                <a:latin typeface="Calibri"/>
                <a:ea typeface="Calibri"/>
                <a:cs typeface="Calibri"/>
                <a:sym typeface="Calibri"/>
              </a:rPr>
              <a:t>Énumération</a:t>
            </a:r>
            <a:br>
              <a:rPr lang="en" sz="1000" b="0" i="0" u="none" strike="noStrike" cap="none">
                <a:solidFill>
                  <a:srgbClr val="282828"/>
                </a:solidFill>
                <a:latin typeface="Calibri"/>
                <a:ea typeface="Calibri"/>
                <a:cs typeface="Calibri"/>
                <a:sym typeface="Calibri"/>
              </a:rPr>
            </a:br>
            <a:r>
              <a:rPr lang="en" sz="1000" b="0" i="0" u="none" strike="noStrike" cap="none">
                <a:solidFill>
                  <a:srgbClr val="282828"/>
                </a:solidFill>
                <a:latin typeface="Calibri"/>
                <a:ea typeface="Calibri"/>
                <a:cs typeface="Calibri"/>
                <a:sym typeface="Calibri"/>
              </a:rPr>
              <a:t>de sous-ensembles</a:t>
            </a:r>
            <a:endParaRPr sz="1100"/>
          </a:p>
        </p:txBody>
      </p:sp>
      <p:sp>
        <p:nvSpPr>
          <p:cNvPr id="174" name="Google Shape;174;p28"/>
          <p:cNvSpPr/>
          <p:nvPr/>
        </p:nvSpPr>
        <p:spPr>
          <a:xfrm>
            <a:off x="4572021" y="2400305"/>
            <a:ext cx="2057400" cy="480000"/>
          </a:xfrm>
          <a:prstGeom prst="rect">
            <a:avLst/>
          </a:prstGeom>
          <a:solidFill>
            <a:srgbClr val="FAFAFC"/>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0" i="0" u="none" strike="noStrike" cap="none">
                <a:solidFill>
                  <a:srgbClr val="282828"/>
                </a:solidFill>
                <a:latin typeface="Calibri"/>
                <a:ea typeface="Calibri"/>
                <a:cs typeface="Calibri"/>
                <a:sym typeface="Calibri"/>
              </a:rPr>
              <a:t>Coupures</a:t>
            </a:r>
            <a:br>
              <a:rPr lang="en" sz="1000" b="0" i="0" u="none" strike="noStrike" cap="none">
                <a:solidFill>
                  <a:srgbClr val="282828"/>
                </a:solidFill>
                <a:latin typeface="Calibri"/>
                <a:ea typeface="Calibri"/>
                <a:cs typeface="Calibri"/>
                <a:sym typeface="Calibri"/>
              </a:rPr>
            </a:br>
            <a:r>
              <a:rPr lang="en" sz="1000" b="0" i="0" u="none" strike="noStrike" cap="none">
                <a:solidFill>
                  <a:srgbClr val="282828"/>
                </a:solidFill>
                <a:latin typeface="Calibri"/>
                <a:ea typeface="Calibri"/>
                <a:cs typeface="Calibri"/>
                <a:sym typeface="Calibri"/>
              </a:rPr>
              <a:t>multi-voies</a:t>
            </a:r>
            <a:endParaRPr sz="1100"/>
          </a:p>
        </p:txBody>
      </p:sp>
      <p:sp>
        <p:nvSpPr>
          <p:cNvPr id="175" name="Google Shape;175;p28"/>
          <p:cNvSpPr/>
          <p:nvPr/>
        </p:nvSpPr>
        <p:spPr>
          <a:xfrm>
            <a:off x="6629476" y="2400305"/>
            <a:ext cx="2057400" cy="480000"/>
          </a:xfrm>
          <a:prstGeom prst="rect">
            <a:avLst/>
          </a:prstGeom>
          <a:solidFill>
            <a:srgbClr val="FAFAFC"/>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0" i="0" u="none" strike="noStrike" cap="none">
                <a:solidFill>
                  <a:srgbClr val="282828"/>
                </a:solidFill>
                <a:latin typeface="Calibri"/>
                <a:ea typeface="Calibri"/>
                <a:cs typeface="Calibri"/>
                <a:sym typeface="Calibri"/>
              </a:rPr>
              <a:t>Transformation</a:t>
            </a:r>
            <a:br>
              <a:rPr lang="en" sz="1000" b="0" i="0" u="none" strike="noStrike" cap="none">
                <a:solidFill>
                  <a:srgbClr val="282828"/>
                </a:solidFill>
                <a:latin typeface="Calibri"/>
                <a:ea typeface="Calibri"/>
                <a:cs typeface="Calibri"/>
                <a:sym typeface="Calibri"/>
              </a:rPr>
            </a:br>
            <a:r>
              <a:rPr lang="en" sz="1000" b="0" i="0" u="none" strike="noStrike" cap="none">
                <a:solidFill>
                  <a:srgbClr val="282828"/>
                </a:solidFill>
                <a:latin typeface="Calibri"/>
                <a:ea typeface="Calibri"/>
                <a:cs typeface="Calibri"/>
                <a:sym typeface="Calibri"/>
              </a:rPr>
              <a:t>CRIMCOORDS</a:t>
            </a:r>
            <a:endParaRPr sz="1100"/>
          </a:p>
        </p:txBody>
      </p:sp>
      <p:sp>
        <p:nvSpPr>
          <p:cNvPr id="176" name="Google Shape;176;p28"/>
          <p:cNvSpPr/>
          <p:nvPr/>
        </p:nvSpPr>
        <p:spPr>
          <a:xfrm>
            <a:off x="457111" y="2880365"/>
            <a:ext cx="2057400" cy="480000"/>
          </a:xfrm>
          <a:prstGeom prst="rect">
            <a:avLst/>
          </a:prstGeom>
          <a:solidFill>
            <a:srgbClr val="E6EBF0"/>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1" i="0" u="none" strike="noStrike" cap="none">
                <a:solidFill>
                  <a:srgbClr val="282828"/>
                </a:solidFill>
                <a:latin typeface="Calibri"/>
                <a:ea typeface="Calibri"/>
                <a:cs typeface="Calibri"/>
                <a:sym typeface="Calibri"/>
              </a:rPr>
              <a:t>Complexité</a:t>
            </a:r>
            <a:endParaRPr sz="1100"/>
          </a:p>
        </p:txBody>
      </p:sp>
      <p:sp>
        <p:nvSpPr>
          <p:cNvPr id="177" name="Google Shape;177;p28"/>
          <p:cNvSpPr/>
          <p:nvPr/>
        </p:nvSpPr>
        <p:spPr>
          <a:xfrm>
            <a:off x="2514566" y="2880365"/>
            <a:ext cx="2057400" cy="480000"/>
          </a:xfrm>
          <a:prstGeom prst="rect">
            <a:avLst/>
          </a:prstGeom>
          <a:solidFill>
            <a:srgbClr val="FAFAFC"/>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0" i="0" u="none" strike="noStrike" cap="none">
                <a:solidFill>
                  <a:srgbClr val="282828"/>
                </a:solidFill>
                <a:latin typeface="Calibri"/>
                <a:ea typeface="Calibri"/>
                <a:cs typeface="Calibri"/>
                <a:sym typeface="Calibri"/>
              </a:rPr>
              <a:t>O(n²p)</a:t>
            </a:r>
            <a:endParaRPr sz="1100"/>
          </a:p>
        </p:txBody>
      </p:sp>
      <p:sp>
        <p:nvSpPr>
          <p:cNvPr id="178" name="Google Shape;178;p28"/>
          <p:cNvSpPr/>
          <p:nvPr/>
        </p:nvSpPr>
        <p:spPr>
          <a:xfrm>
            <a:off x="4572021" y="2880365"/>
            <a:ext cx="2057400" cy="480000"/>
          </a:xfrm>
          <a:prstGeom prst="rect">
            <a:avLst/>
          </a:prstGeom>
          <a:solidFill>
            <a:srgbClr val="FAFAFC"/>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0" i="0" u="none" strike="noStrike" cap="none">
                <a:solidFill>
                  <a:srgbClr val="282828"/>
                </a:solidFill>
                <a:latin typeface="Calibri"/>
                <a:ea typeface="Calibri"/>
                <a:cs typeface="Calibri"/>
                <a:sym typeface="Calibri"/>
              </a:rPr>
              <a:t>O(np log n)</a:t>
            </a:r>
            <a:endParaRPr sz="1100"/>
          </a:p>
        </p:txBody>
      </p:sp>
      <p:sp>
        <p:nvSpPr>
          <p:cNvPr id="179" name="Google Shape;179;p28"/>
          <p:cNvSpPr/>
          <p:nvPr/>
        </p:nvSpPr>
        <p:spPr>
          <a:xfrm>
            <a:off x="6629476" y="2880365"/>
            <a:ext cx="2057400" cy="480000"/>
          </a:xfrm>
          <a:prstGeom prst="rect">
            <a:avLst/>
          </a:prstGeom>
          <a:solidFill>
            <a:srgbClr val="FAFAFC"/>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0" i="0" u="none" strike="noStrike" cap="none">
                <a:solidFill>
                  <a:srgbClr val="282828"/>
                </a:solidFill>
                <a:latin typeface="Calibri"/>
                <a:ea typeface="Calibri"/>
                <a:cs typeface="Calibri"/>
                <a:sym typeface="Calibri"/>
              </a:rPr>
              <a:t>O(np)</a:t>
            </a:r>
            <a:endParaRPr sz="1100"/>
          </a:p>
        </p:txBody>
      </p:sp>
      <p:sp>
        <p:nvSpPr>
          <p:cNvPr id="180" name="Google Shape;180;p28"/>
          <p:cNvSpPr/>
          <p:nvPr/>
        </p:nvSpPr>
        <p:spPr>
          <a:xfrm>
            <a:off x="457111" y="3360425"/>
            <a:ext cx="2057400" cy="480000"/>
          </a:xfrm>
          <a:prstGeom prst="rect">
            <a:avLst/>
          </a:prstGeom>
          <a:solidFill>
            <a:srgbClr val="E6EBF0"/>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1" i="0" u="none" strike="noStrike" cap="none">
                <a:solidFill>
                  <a:srgbClr val="282828"/>
                </a:solidFill>
                <a:latin typeface="Calibri"/>
                <a:ea typeface="Calibri"/>
                <a:cs typeface="Calibri"/>
                <a:sym typeface="Calibri"/>
              </a:rPr>
              <a:t>Niveau de Biais</a:t>
            </a:r>
            <a:endParaRPr sz="1100"/>
          </a:p>
        </p:txBody>
      </p:sp>
      <p:sp>
        <p:nvSpPr>
          <p:cNvPr id="181" name="Google Shape;181;p28"/>
          <p:cNvSpPr/>
          <p:nvPr/>
        </p:nvSpPr>
        <p:spPr>
          <a:xfrm>
            <a:off x="2514566" y="3360425"/>
            <a:ext cx="2057400" cy="480000"/>
          </a:xfrm>
          <a:prstGeom prst="rect">
            <a:avLst/>
          </a:prstGeom>
          <a:solidFill>
            <a:srgbClr val="FAFAFC"/>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0" i="0" u="none" strike="noStrike" cap="none">
                <a:solidFill>
                  <a:srgbClr val="282828"/>
                </a:solidFill>
                <a:latin typeface="Calibri"/>
                <a:ea typeface="Calibri"/>
                <a:cs typeface="Calibri"/>
                <a:sym typeface="Calibri"/>
              </a:rPr>
              <a:t>Élevé</a:t>
            </a:r>
            <a:endParaRPr sz="1100"/>
          </a:p>
        </p:txBody>
      </p:sp>
      <p:sp>
        <p:nvSpPr>
          <p:cNvPr id="182" name="Google Shape;182;p28"/>
          <p:cNvSpPr/>
          <p:nvPr/>
        </p:nvSpPr>
        <p:spPr>
          <a:xfrm>
            <a:off x="4572021" y="3360425"/>
            <a:ext cx="2057400" cy="480000"/>
          </a:xfrm>
          <a:prstGeom prst="rect">
            <a:avLst/>
          </a:prstGeom>
          <a:solidFill>
            <a:srgbClr val="FAFAFC"/>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0" i="0" u="none" strike="noStrike" cap="none">
                <a:solidFill>
                  <a:srgbClr val="282828"/>
                </a:solidFill>
                <a:latin typeface="Calibri"/>
                <a:ea typeface="Calibri"/>
                <a:cs typeface="Calibri"/>
                <a:sym typeface="Calibri"/>
              </a:rPr>
              <a:t>Modéré</a:t>
            </a:r>
            <a:endParaRPr sz="1100"/>
          </a:p>
        </p:txBody>
      </p:sp>
      <p:sp>
        <p:nvSpPr>
          <p:cNvPr id="183" name="Google Shape;183;p28"/>
          <p:cNvSpPr/>
          <p:nvPr/>
        </p:nvSpPr>
        <p:spPr>
          <a:xfrm>
            <a:off x="6629476" y="3360425"/>
            <a:ext cx="2057400" cy="480000"/>
          </a:xfrm>
          <a:prstGeom prst="rect">
            <a:avLst/>
          </a:prstGeom>
          <a:solidFill>
            <a:srgbClr val="FAFAFC"/>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000" b="0" i="0" u="none" strike="noStrike" cap="none">
                <a:solidFill>
                  <a:srgbClr val="282828"/>
                </a:solidFill>
                <a:latin typeface="Calibri"/>
                <a:ea typeface="Calibri"/>
                <a:cs typeface="Calibri"/>
                <a:sym typeface="Calibri"/>
              </a:rPr>
              <a:t>Négligeable</a:t>
            </a:r>
            <a:endParaRPr sz="1100"/>
          </a:p>
        </p:txBody>
      </p:sp>
      <p:sp>
        <p:nvSpPr>
          <p:cNvPr id="184" name="Google Shape;184;p28"/>
          <p:cNvSpPr/>
          <p:nvPr/>
        </p:nvSpPr>
        <p:spPr>
          <a:xfrm>
            <a:off x="617236" y="3977640"/>
            <a:ext cx="7886910" cy="617220"/>
          </a:xfrm>
          <a:prstGeom prst="roundRect">
            <a:avLst>
              <a:gd name="adj" fmla="val 16667"/>
            </a:avLst>
          </a:prstGeom>
          <a:solidFill>
            <a:srgbClr val="FFF8DC"/>
          </a:solidFill>
          <a:ln w="9525" cap="flat" cmpd="sng">
            <a:solidFill>
              <a:srgbClr val="C8B464"/>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200" b="0" i="0" u="none" strike="noStrike" cap="none">
                <a:solidFill>
                  <a:srgbClr val="645014"/>
                </a:solidFill>
                <a:latin typeface="Calibri"/>
                <a:ea typeface="Calibri"/>
                <a:cs typeface="Calibri"/>
                <a:sym typeface="Calibri"/>
              </a:rPr>
              <a:t>💡 Point Clé : L'approche statistique de QUEST élimine le biais de sélection tout en maintenant l'efficacité computationnelle</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9"/>
          <p:cNvSpPr/>
          <p:nvPr/>
        </p:nvSpPr>
        <p:spPr>
          <a:xfrm>
            <a:off x="0" y="0"/>
            <a:ext cx="9144015" cy="822960"/>
          </a:xfrm>
          <a:prstGeom prst="rect">
            <a:avLst/>
          </a:prstGeom>
          <a:solidFill>
            <a:srgbClr val="19375F"/>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91" name="Google Shape;191;p29"/>
          <p:cNvSpPr txBox="1"/>
          <p:nvPr/>
        </p:nvSpPr>
        <p:spPr>
          <a:xfrm>
            <a:off x="342909" y="205740"/>
            <a:ext cx="8458197" cy="54864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2700" b="1" i="0" u="none" strike="noStrike" cap="none">
                <a:solidFill>
                  <a:srgbClr val="FFFFFF"/>
                </a:solidFill>
                <a:latin typeface="Calibri"/>
                <a:ea typeface="Calibri"/>
                <a:cs typeface="Calibri"/>
                <a:sym typeface="Calibri"/>
              </a:rPr>
              <a:t>Idée Centrale : Le Principe de Découplage</a:t>
            </a:r>
            <a:endParaRPr sz="1100"/>
          </a:p>
        </p:txBody>
      </p:sp>
      <p:sp>
        <p:nvSpPr>
          <p:cNvPr id="192" name="Google Shape;192;p29"/>
          <p:cNvSpPr/>
          <p:nvPr/>
        </p:nvSpPr>
        <p:spPr>
          <a:xfrm>
            <a:off x="388506" y="1028692"/>
            <a:ext cx="3771900" cy="1577400"/>
          </a:xfrm>
          <a:prstGeom prst="roundRect">
            <a:avLst>
              <a:gd name="adj" fmla="val 16667"/>
            </a:avLst>
          </a:prstGeom>
          <a:solidFill>
            <a:srgbClr val="2980B9"/>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700" b="1" i="0" u="none" strike="noStrike" cap="none">
                <a:solidFill>
                  <a:srgbClr val="FFFFFF"/>
                </a:solidFill>
                <a:latin typeface="Calibri"/>
                <a:ea typeface="Calibri"/>
                <a:cs typeface="Calibri"/>
                <a:sym typeface="Calibri"/>
              </a:rPr>
              <a:t>Étape 1 : Sélection de Variable</a:t>
            </a:r>
            <a:endParaRPr sz="1100"/>
          </a:p>
          <a:p>
            <a:pPr marL="0" marR="0" lvl="0" indent="0" algn="l" rtl="0">
              <a:spcBef>
                <a:spcPts val="0"/>
              </a:spcBef>
              <a:spcAft>
                <a:spcPts val="0"/>
              </a:spcAft>
              <a:buNone/>
            </a:pPr>
            <a:br>
              <a:rPr lang="en" sz="1200" b="0" i="0" u="none" strike="noStrike" cap="none">
                <a:solidFill>
                  <a:srgbClr val="DCE6F0"/>
                </a:solidFill>
                <a:latin typeface="Calibri"/>
                <a:ea typeface="Calibri"/>
                <a:cs typeface="Calibri"/>
                <a:sym typeface="Calibri"/>
              </a:rPr>
            </a:br>
            <a:r>
              <a:rPr lang="en" sz="1200" b="0" i="0" u="none" strike="noStrike" cap="none">
                <a:solidFill>
                  <a:srgbClr val="DCE6F0"/>
                </a:solidFill>
                <a:latin typeface="Calibri"/>
                <a:ea typeface="Calibri"/>
                <a:cs typeface="Calibri"/>
                <a:sym typeface="Calibri"/>
              </a:rPr>
              <a:t>• Utiliser des tests statistiques pour</a:t>
            </a:r>
            <a:br>
              <a:rPr lang="en" sz="1200" b="0" i="0" u="none" strike="noStrike" cap="none">
                <a:solidFill>
                  <a:srgbClr val="DCE6F0"/>
                </a:solidFill>
                <a:latin typeface="Calibri"/>
                <a:ea typeface="Calibri"/>
                <a:cs typeface="Calibri"/>
                <a:sym typeface="Calibri"/>
              </a:rPr>
            </a:br>
            <a:r>
              <a:rPr lang="en" sz="1200" b="0" i="0" u="none" strike="noStrike" cap="none">
                <a:solidFill>
                  <a:srgbClr val="DCE6F0"/>
                </a:solidFill>
                <a:latin typeface="Calibri"/>
                <a:ea typeface="Calibri"/>
                <a:cs typeface="Calibri"/>
                <a:sym typeface="Calibri"/>
              </a:rPr>
              <a:t>  sélectionner la MEILLEURE variable</a:t>
            </a:r>
            <a:br>
              <a:rPr lang="en" sz="1200" b="0" i="0" u="none" strike="noStrike" cap="none">
                <a:solidFill>
                  <a:srgbClr val="DCE6F0"/>
                </a:solidFill>
                <a:latin typeface="Calibri"/>
                <a:ea typeface="Calibri"/>
                <a:cs typeface="Calibri"/>
                <a:sym typeface="Calibri"/>
              </a:rPr>
            </a:br>
            <a:r>
              <a:rPr lang="en" sz="1200" b="0" i="0" u="none" strike="noStrike" cap="none">
                <a:solidFill>
                  <a:srgbClr val="DCE6F0"/>
                </a:solidFill>
                <a:latin typeface="Calibri"/>
                <a:ea typeface="Calibri"/>
                <a:cs typeface="Calibri"/>
                <a:sym typeface="Calibri"/>
              </a:rPr>
              <a:t>• Indépendant du point de coupure</a:t>
            </a:r>
            <a:br>
              <a:rPr lang="en" sz="1200" b="0" i="0" u="none" strike="noStrike" cap="none">
                <a:solidFill>
                  <a:srgbClr val="DCE6F0"/>
                </a:solidFill>
                <a:latin typeface="Calibri"/>
                <a:ea typeface="Calibri"/>
                <a:cs typeface="Calibri"/>
                <a:sym typeface="Calibri"/>
              </a:rPr>
            </a:br>
            <a:r>
              <a:rPr lang="en" sz="1200" b="0" i="0" u="none" strike="noStrike" cap="none">
                <a:solidFill>
                  <a:srgbClr val="DCE6F0"/>
                </a:solidFill>
                <a:latin typeface="Calibri"/>
                <a:ea typeface="Calibri"/>
                <a:cs typeface="Calibri"/>
                <a:sym typeface="Calibri"/>
              </a:rPr>
              <a:t>• Basé sur les p-valeurs</a:t>
            </a:r>
            <a:endParaRPr sz="1100"/>
          </a:p>
        </p:txBody>
      </p:sp>
      <p:sp>
        <p:nvSpPr>
          <p:cNvPr id="193" name="Google Shape;193;p29"/>
          <p:cNvSpPr/>
          <p:nvPr/>
        </p:nvSpPr>
        <p:spPr>
          <a:xfrm>
            <a:off x="4297670" y="1577333"/>
            <a:ext cx="548700" cy="342900"/>
          </a:xfrm>
          <a:prstGeom prst="rightArrow">
            <a:avLst>
              <a:gd name="adj1" fmla="val 50000"/>
              <a:gd name="adj2" fmla="val 50000"/>
            </a:avLst>
          </a:prstGeom>
          <a:solidFill>
            <a:srgbClr val="646464"/>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94" name="Google Shape;194;p29"/>
          <p:cNvSpPr/>
          <p:nvPr/>
        </p:nvSpPr>
        <p:spPr>
          <a:xfrm>
            <a:off x="4983488" y="1028692"/>
            <a:ext cx="3771900" cy="1577400"/>
          </a:xfrm>
          <a:prstGeom prst="roundRect">
            <a:avLst>
              <a:gd name="adj" fmla="val 16667"/>
            </a:avLst>
          </a:prstGeom>
          <a:solidFill>
            <a:srgbClr val="27AE60"/>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700" b="1" i="0" u="none" strike="noStrike" cap="none">
                <a:solidFill>
                  <a:srgbClr val="FFFFFF"/>
                </a:solidFill>
                <a:latin typeface="Calibri"/>
                <a:ea typeface="Calibri"/>
                <a:cs typeface="Calibri"/>
                <a:sym typeface="Calibri"/>
              </a:rPr>
              <a:t>Étape 2 : Sélection du Point de Coupure</a:t>
            </a:r>
            <a:endParaRPr sz="1100"/>
          </a:p>
          <a:p>
            <a:pPr marL="0" marR="0" lvl="0" indent="0" algn="l" rtl="0">
              <a:spcBef>
                <a:spcPts val="0"/>
              </a:spcBef>
              <a:spcAft>
                <a:spcPts val="0"/>
              </a:spcAft>
              <a:buNone/>
            </a:pPr>
            <a:br>
              <a:rPr lang="en" sz="1200" b="0" i="0" u="none" strike="noStrike" cap="none">
                <a:solidFill>
                  <a:srgbClr val="DCF0E6"/>
                </a:solidFill>
                <a:latin typeface="Calibri"/>
                <a:ea typeface="Calibri"/>
                <a:cs typeface="Calibri"/>
                <a:sym typeface="Calibri"/>
              </a:rPr>
            </a:br>
            <a:r>
              <a:rPr lang="en" sz="1200" b="0" i="0" u="none" strike="noStrike" cap="none">
                <a:solidFill>
                  <a:srgbClr val="DCF0E6"/>
                </a:solidFill>
                <a:latin typeface="Calibri"/>
                <a:ea typeface="Calibri"/>
                <a:cs typeface="Calibri"/>
                <a:sym typeface="Calibri"/>
              </a:rPr>
              <a:t>• Appliquer l'ADQ pour trouver le</a:t>
            </a:r>
            <a:br>
              <a:rPr lang="en" sz="1200" b="0" i="0" u="none" strike="noStrike" cap="none">
                <a:solidFill>
                  <a:srgbClr val="DCF0E6"/>
                </a:solidFill>
                <a:latin typeface="Calibri"/>
                <a:ea typeface="Calibri"/>
                <a:cs typeface="Calibri"/>
                <a:sym typeface="Calibri"/>
              </a:rPr>
            </a:br>
            <a:r>
              <a:rPr lang="en" sz="1200" b="0" i="0" u="none" strike="noStrike" cap="none">
                <a:solidFill>
                  <a:srgbClr val="DCF0E6"/>
                </a:solidFill>
                <a:latin typeface="Calibri"/>
                <a:ea typeface="Calibri"/>
                <a:cs typeface="Calibri"/>
                <a:sym typeface="Calibri"/>
              </a:rPr>
              <a:t>  point de coupure optimal</a:t>
            </a:r>
            <a:br>
              <a:rPr lang="en" sz="1200" b="0" i="0" u="none" strike="noStrike" cap="none">
                <a:solidFill>
                  <a:srgbClr val="DCF0E6"/>
                </a:solidFill>
                <a:latin typeface="Calibri"/>
                <a:ea typeface="Calibri"/>
                <a:cs typeface="Calibri"/>
                <a:sym typeface="Calibri"/>
              </a:rPr>
            </a:br>
            <a:r>
              <a:rPr lang="en" sz="1200" b="0" i="0" u="none" strike="noStrike" cap="none">
                <a:solidFill>
                  <a:srgbClr val="DCF0E6"/>
                </a:solidFill>
                <a:latin typeface="Calibri"/>
                <a:ea typeface="Calibri"/>
                <a:cs typeface="Calibri"/>
                <a:sym typeface="Calibri"/>
              </a:rPr>
              <a:t>• Pour la variable sélectionnée uniquement</a:t>
            </a:r>
            <a:br>
              <a:rPr lang="en" sz="1200" b="0" i="0" u="none" strike="noStrike" cap="none">
                <a:solidFill>
                  <a:srgbClr val="DCF0E6"/>
                </a:solidFill>
                <a:latin typeface="Calibri"/>
                <a:ea typeface="Calibri"/>
                <a:cs typeface="Calibri"/>
                <a:sym typeface="Calibri"/>
              </a:rPr>
            </a:br>
            <a:r>
              <a:rPr lang="en" sz="1200" b="0" i="0" u="none" strike="noStrike" cap="none">
                <a:solidFill>
                  <a:srgbClr val="DCF0E6"/>
                </a:solidFill>
                <a:latin typeface="Calibri"/>
                <a:ea typeface="Calibri"/>
                <a:cs typeface="Calibri"/>
                <a:sym typeface="Calibri"/>
              </a:rPr>
              <a:t>• Basé sur les distributions de classes</a:t>
            </a:r>
            <a:endParaRPr sz="1100"/>
          </a:p>
        </p:txBody>
      </p:sp>
      <p:sp>
        <p:nvSpPr>
          <p:cNvPr id="195" name="Google Shape;195;p29"/>
          <p:cNvSpPr/>
          <p:nvPr/>
        </p:nvSpPr>
        <p:spPr>
          <a:xfrm>
            <a:off x="628568" y="2939860"/>
            <a:ext cx="7887000" cy="1714500"/>
          </a:xfrm>
          <a:prstGeom prst="roundRect">
            <a:avLst>
              <a:gd name="adj" fmla="val 16667"/>
            </a:avLst>
          </a:prstGeom>
          <a:solidFill>
            <a:srgbClr val="FFFFFF"/>
          </a:solidFill>
          <a:ln w="9525" cap="flat" cmpd="sng">
            <a:solidFill>
              <a:srgbClr val="C8C8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500" b="1" i="0" u="none" strike="noStrike" cap="none">
                <a:solidFill>
                  <a:srgbClr val="19375F"/>
                </a:solidFill>
                <a:latin typeface="Calibri"/>
                <a:ea typeface="Calibri"/>
                <a:cs typeface="Calibri"/>
                <a:sym typeface="Calibri"/>
              </a:rPr>
              <a:t>Pourquoi le Découplage Est Important Statistiquement :</a:t>
            </a:r>
            <a:endParaRPr sz="1100"/>
          </a:p>
          <a:p>
            <a:pPr marL="0" marR="0" lvl="0" indent="0" algn="l" rtl="0">
              <a:spcBef>
                <a:spcPts val="0"/>
              </a:spcBef>
              <a:spcAft>
                <a:spcPts val="0"/>
              </a:spcAft>
              <a:buNone/>
            </a:pPr>
            <a:br>
              <a:rPr lang="en" sz="1200" b="0" i="0" u="none" strike="noStrike" cap="none">
                <a:solidFill>
                  <a:srgbClr val="3C3C3C"/>
                </a:solidFill>
                <a:latin typeface="Calibri"/>
                <a:ea typeface="Calibri"/>
                <a:cs typeface="Calibri"/>
                <a:sym typeface="Calibri"/>
              </a:rPr>
            </a:br>
            <a:r>
              <a:rPr lang="en" sz="1200" b="0" i="0" u="none" strike="noStrike" cap="none">
                <a:solidFill>
                  <a:srgbClr val="3C3C3C"/>
                </a:solidFill>
                <a:latin typeface="Calibri"/>
                <a:ea typeface="Calibri"/>
                <a:cs typeface="Calibri"/>
                <a:sym typeface="Calibri"/>
              </a:rPr>
              <a:t>✓ Élimine le biais : La sélection de variable ne dépend pas du nombre de coupures possibles</a:t>
            </a:r>
            <a:endParaRPr sz="1100"/>
          </a:p>
          <a:p>
            <a:pPr marL="0" marR="0" lvl="0" indent="0" algn="l" rtl="0">
              <a:spcBef>
                <a:spcPts val="0"/>
              </a:spcBef>
              <a:spcAft>
                <a:spcPts val="0"/>
              </a:spcAft>
              <a:buNone/>
            </a:pPr>
            <a:r>
              <a:rPr lang="en" sz="1200" b="0" i="0" u="none" strike="noStrike" cap="none">
                <a:solidFill>
                  <a:srgbClr val="3C3C3C"/>
                </a:solidFill>
                <a:latin typeface="Calibri"/>
                <a:ea typeface="Calibri"/>
                <a:cs typeface="Calibri"/>
                <a:sym typeface="Calibri"/>
              </a:rPr>
              <a:t>✓ Rigueur statistique : Chaque variable est évaluée avec le même cadre de tests d'hypothèses</a:t>
            </a:r>
            <a:endParaRPr sz="1100"/>
          </a:p>
          <a:p>
            <a:pPr marL="0" marR="0" lvl="0" indent="0" algn="l" rtl="0">
              <a:spcBef>
                <a:spcPts val="0"/>
              </a:spcBef>
              <a:spcAft>
                <a:spcPts val="0"/>
              </a:spcAft>
              <a:buNone/>
            </a:pPr>
            <a:r>
              <a:rPr lang="en" sz="1200" b="0" i="0" u="none" strike="noStrike" cap="none">
                <a:solidFill>
                  <a:srgbClr val="3C3C3C"/>
                </a:solidFill>
                <a:latin typeface="Calibri"/>
                <a:ea typeface="Calibri"/>
                <a:cs typeface="Calibri"/>
                <a:sym typeface="Calibri"/>
              </a:rPr>
              <a:t>✓ Computational efficiency: Only need to find split point for ONE variable per node</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0"/>
          <p:cNvSpPr/>
          <p:nvPr/>
        </p:nvSpPr>
        <p:spPr>
          <a:xfrm>
            <a:off x="0" y="0"/>
            <a:ext cx="9144015" cy="822960"/>
          </a:xfrm>
          <a:prstGeom prst="rect">
            <a:avLst/>
          </a:prstGeom>
          <a:solidFill>
            <a:srgbClr val="19375F"/>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202" name="Google Shape;202;p30"/>
          <p:cNvSpPr txBox="1"/>
          <p:nvPr/>
        </p:nvSpPr>
        <p:spPr>
          <a:xfrm>
            <a:off x="342909" y="205740"/>
            <a:ext cx="8458197" cy="54864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2700" b="1" i="0" u="none" strike="noStrike" cap="none">
                <a:solidFill>
                  <a:srgbClr val="FFFFFF"/>
                </a:solidFill>
                <a:latin typeface="Calibri"/>
                <a:ea typeface="Calibri"/>
                <a:cs typeface="Calibri"/>
                <a:sym typeface="Calibri"/>
              </a:rPr>
              <a:t>Vue d'Ensemble de l'Algorithme</a:t>
            </a:r>
            <a:endParaRPr sz="1100"/>
          </a:p>
        </p:txBody>
      </p:sp>
      <p:sp>
        <p:nvSpPr>
          <p:cNvPr id="203" name="Google Shape;203;p30"/>
          <p:cNvSpPr/>
          <p:nvPr/>
        </p:nvSpPr>
        <p:spPr>
          <a:xfrm>
            <a:off x="217072" y="1067530"/>
            <a:ext cx="1920300" cy="617100"/>
          </a:xfrm>
          <a:prstGeom prst="roundRect">
            <a:avLst>
              <a:gd name="adj" fmla="val 16667"/>
            </a:avLst>
          </a:prstGeom>
          <a:solidFill>
            <a:srgbClr val="646464"/>
          </a:solidFill>
          <a:ln w="9525" cap="flat" cmpd="sng">
            <a:solidFill>
              <a:srgbClr val="1E1E1E"/>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rgbClr val="FFFFFF"/>
                </a:solidFill>
                <a:latin typeface="Calibri"/>
                <a:ea typeface="Calibri"/>
                <a:cs typeface="Calibri"/>
                <a:sym typeface="Calibri"/>
              </a:rPr>
              <a:t>Début :</a:t>
            </a:r>
            <a:br>
              <a:rPr lang="en" sz="900" b="1" i="0" u="none" strike="noStrike" cap="none">
                <a:solidFill>
                  <a:srgbClr val="FFFFFF"/>
                </a:solidFill>
                <a:latin typeface="Calibri"/>
                <a:ea typeface="Calibri"/>
                <a:cs typeface="Calibri"/>
                <a:sym typeface="Calibri"/>
              </a:rPr>
            </a:br>
            <a:r>
              <a:rPr lang="en" sz="900" b="1" i="0" u="none" strike="noStrike" cap="none">
                <a:solidFill>
                  <a:srgbClr val="FFFFFF"/>
                </a:solidFill>
                <a:latin typeface="Calibri"/>
                <a:ea typeface="Calibri"/>
                <a:cs typeface="Calibri"/>
                <a:sym typeface="Calibri"/>
              </a:rPr>
              <a:t>Nœud avec données</a:t>
            </a:r>
            <a:endParaRPr sz="1100"/>
          </a:p>
        </p:txBody>
      </p:sp>
      <p:sp>
        <p:nvSpPr>
          <p:cNvPr id="204" name="Google Shape;204;p30"/>
          <p:cNvSpPr/>
          <p:nvPr/>
        </p:nvSpPr>
        <p:spPr>
          <a:xfrm>
            <a:off x="2480272" y="1067530"/>
            <a:ext cx="1920300" cy="617100"/>
          </a:xfrm>
          <a:prstGeom prst="roundRect">
            <a:avLst>
              <a:gd name="adj" fmla="val 16667"/>
            </a:avLst>
          </a:prstGeom>
          <a:solidFill>
            <a:srgbClr val="2980B9"/>
          </a:solidFill>
          <a:ln w="9525" cap="flat" cmpd="sng">
            <a:solidFill>
              <a:srgbClr val="1E1E1E"/>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rgbClr val="FFFFFF"/>
                </a:solidFill>
                <a:latin typeface="Calibri"/>
                <a:ea typeface="Calibri"/>
                <a:cs typeface="Calibri"/>
                <a:sym typeface="Calibri"/>
              </a:rPr>
              <a:t>Algorithme 3 :</a:t>
            </a:r>
            <a:br>
              <a:rPr lang="en" sz="900" b="1" i="0" u="none" strike="noStrike" cap="none">
                <a:solidFill>
                  <a:srgbClr val="FFFFFF"/>
                </a:solidFill>
                <a:latin typeface="Calibri"/>
                <a:ea typeface="Calibri"/>
                <a:cs typeface="Calibri"/>
                <a:sym typeface="Calibri"/>
              </a:rPr>
            </a:br>
            <a:r>
              <a:rPr lang="en" sz="900" b="1" i="0" u="none" strike="noStrike" cap="none">
                <a:solidFill>
                  <a:srgbClr val="FFFFFF"/>
                </a:solidFill>
                <a:latin typeface="Calibri"/>
                <a:ea typeface="Calibri"/>
                <a:cs typeface="Calibri"/>
                <a:sym typeface="Calibri"/>
              </a:rPr>
              <a:t>Sélection de Variable</a:t>
            </a:r>
            <a:endParaRPr sz="1100"/>
          </a:p>
        </p:txBody>
      </p:sp>
      <p:sp>
        <p:nvSpPr>
          <p:cNvPr id="205" name="Google Shape;205;p30"/>
          <p:cNvSpPr/>
          <p:nvPr/>
        </p:nvSpPr>
        <p:spPr>
          <a:xfrm>
            <a:off x="4743472" y="1067530"/>
            <a:ext cx="1920300" cy="617100"/>
          </a:xfrm>
          <a:prstGeom prst="roundRect">
            <a:avLst>
              <a:gd name="adj" fmla="val 16667"/>
            </a:avLst>
          </a:prstGeom>
          <a:solidFill>
            <a:srgbClr val="8E44AD"/>
          </a:solidFill>
          <a:ln w="9525" cap="flat" cmpd="sng">
            <a:solidFill>
              <a:srgbClr val="1E1E1E"/>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rgbClr val="FFFFFF"/>
                </a:solidFill>
                <a:latin typeface="Calibri"/>
                <a:ea typeface="Calibri"/>
                <a:cs typeface="Calibri"/>
                <a:sym typeface="Calibri"/>
              </a:rPr>
              <a:t>La variable est-elle</a:t>
            </a:r>
            <a:br>
              <a:rPr lang="en" sz="900" b="1" i="0" u="none" strike="noStrike" cap="none">
                <a:solidFill>
                  <a:srgbClr val="FFFFFF"/>
                </a:solidFill>
                <a:latin typeface="Calibri"/>
                <a:ea typeface="Calibri"/>
                <a:cs typeface="Calibri"/>
                <a:sym typeface="Calibri"/>
              </a:rPr>
            </a:br>
            <a:r>
              <a:rPr lang="en" sz="900" b="1" i="0" u="none" strike="noStrike" cap="none">
                <a:solidFill>
                  <a:srgbClr val="FFFFFF"/>
                </a:solidFill>
                <a:latin typeface="Calibri"/>
                <a:ea typeface="Calibri"/>
                <a:cs typeface="Calibri"/>
                <a:sym typeface="Calibri"/>
              </a:rPr>
              <a:t>catégorielle ?</a:t>
            </a:r>
            <a:endParaRPr sz="1100"/>
          </a:p>
        </p:txBody>
      </p:sp>
      <p:sp>
        <p:nvSpPr>
          <p:cNvPr id="206" name="Google Shape;206;p30"/>
          <p:cNvSpPr/>
          <p:nvPr/>
        </p:nvSpPr>
        <p:spPr>
          <a:xfrm>
            <a:off x="7006673" y="1067530"/>
            <a:ext cx="1920300" cy="617100"/>
          </a:xfrm>
          <a:prstGeom prst="roundRect">
            <a:avLst>
              <a:gd name="adj" fmla="val 16667"/>
            </a:avLst>
          </a:prstGeom>
          <a:solidFill>
            <a:srgbClr val="E67E22"/>
          </a:solidFill>
          <a:ln w="9525" cap="flat" cmpd="sng">
            <a:solidFill>
              <a:srgbClr val="1E1E1E"/>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rgbClr val="FFFFFF"/>
                </a:solidFill>
                <a:latin typeface="Calibri"/>
                <a:ea typeface="Calibri"/>
                <a:cs typeface="Calibri"/>
                <a:sym typeface="Calibri"/>
              </a:rPr>
              <a:t>Algorithme 2 :</a:t>
            </a:r>
            <a:br>
              <a:rPr lang="en" sz="900" b="1" i="0" u="none" strike="noStrike" cap="none">
                <a:solidFill>
                  <a:srgbClr val="FFFFFF"/>
                </a:solidFill>
                <a:latin typeface="Calibri"/>
                <a:ea typeface="Calibri"/>
                <a:cs typeface="Calibri"/>
                <a:sym typeface="Calibri"/>
              </a:rPr>
            </a:br>
            <a:r>
              <a:rPr lang="en" sz="900" b="1" i="0" u="none" strike="noStrike" cap="none">
                <a:solidFill>
                  <a:srgbClr val="FFFFFF"/>
                </a:solidFill>
                <a:latin typeface="Calibri"/>
                <a:ea typeface="Calibri"/>
                <a:cs typeface="Calibri"/>
                <a:sym typeface="Calibri"/>
              </a:rPr>
              <a:t>CRIMCOORDS</a:t>
            </a:r>
            <a:endParaRPr sz="1100"/>
          </a:p>
        </p:txBody>
      </p:sp>
      <p:sp>
        <p:nvSpPr>
          <p:cNvPr id="207" name="Google Shape;207;p30"/>
          <p:cNvSpPr/>
          <p:nvPr/>
        </p:nvSpPr>
        <p:spPr>
          <a:xfrm>
            <a:off x="4743472" y="2027650"/>
            <a:ext cx="1920300" cy="617100"/>
          </a:xfrm>
          <a:prstGeom prst="roundRect">
            <a:avLst>
              <a:gd name="adj" fmla="val 16667"/>
            </a:avLst>
          </a:prstGeom>
          <a:solidFill>
            <a:srgbClr val="27AE60"/>
          </a:solidFill>
          <a:ln w="9525" cap="flat" cmpd="sng">
            <a:solidFill>
              <a:srgbClr val="1E1E1E"/>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rgbClr val="FFFFFF"/>
                </a:solidFill>
                <a:latin typeface="Calibri"/>
                <a:ea typeface="Calibri"/>
                <a:cs typeface="Calibri"/>
                <a:sym typeface="Calibri"/>
              </a:rPr>
              <a:t>Algorithme 1 :</a:t>
            </a:r>
            <a:br>
              <a:rPr lang="en" sz="900" b="1" i="0" u="none" strike="noStrike" cap="none">
                <a:solidFill>
                  <a:srgbClr val="FFFFFF"/>
                </a:solidFill>
                <a:latin typeface="Calibri"/>
                <a:ea typeface="Calibri"/>
                <a:cs typeface="Calibri"/>
                <a:sym typeface="Calibri"/>
              </a:rPr>
            </a:br>
            <a:r>
              <a:rPr lang="en" sz="900" b="1" i="0" u="none" strike="noStrike" cap="none">
                <a:solidFill>
                  <a:srgbClr val="FFFFFF"/>
                </a:solidFill>
                <a:latin typeface="Calibri"/>
                <a:ea typeface="Calibri"/>
                <a:cs typeface="Calibri"/>
                <a:sym typeface="Calibri"/>
              </a:rPr>
              <a:t>Point de Coupure (ADQ)</a:t>
            </a:r>
            <a:endParaRPr sz="1100"/>
          </a:p>
        </p:txBody>
      </p:sp>
      <p:sp>
        <p:nvSpPr>
          <p:cNvPr id="208" name="Google Shape;208;p30"/>
          <p:cNvSpPr/>
          <p:nvPr/>
        </p:nvSpPr>
        <p:spPr>
          <a:xfrm>
            <a:off x="4743472" y="2987770"/>
            <a:ext cx="1920300" cy="617100"/>
          </a:xfrm>
          <a:prstGeom prst="roundRect">
            <a:avLst>
              <a:gd name="adj" fmla="val 16667"/>
            </a:avLst>
          </a:prstGeom>
          <a:solidFill>
            <a:srgbClr val="2980B9"/>
          </a:solidFill>
          <a:ln w="9525" cap="flat" cmpd="sng">
            <a:solidFill>
              <a:srgbClr val="1E1E1E"/>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rgbClr val="FFFFFF"/>
                </a:solidFill>
                <a:latin typeface="Calibri"/>
                <a:ea typeface="Calibri"/>
                <a:cs typeface="Calibri"/>
                <a:sym typeface="Calibri"/>
              </a:rPr>
              <a:t>Créer les Nœuds</a:t>
            </a:r>
            <a:br>
              <a:rPr lang="en" sz="900" b="1" i="0" u="none" strike="noStrike" cap="none">
                <a:solidFill>
                  <a:srgbClr val="FFFFFF"/>
                </a:solidFill>
                <a:latin typeface="Calibri"/>
                <a:ea typeface="Calibri"/>
                <a:cs typeface="Calibri"/>
                <a:sym typeface="Calibri"/>
              </a:rPr>
            </a:br>
            <a:r>
              <a:rPr lang="en" sz="900" b="1" i="0" u="none" strike="noStrike" cap="none">
                <a:solidFill>
                  <a:srgbClr val="FFFFFF"/>
                </a:solidFill>
                <a:latin typeface="Calibri"/>
                <a:ea typeface="Calibri"/>
                <a:cs typeface="Calibri"/>
                <a:sym typeface="Calibri"/>
              </a:rPr>
              <a:t>Fils Gauche &amp; Droit</a:t>
            </a:r>
            <a:endParaRPr sz="1100"/>
          </a:p>
        </p:txBody>
      </p:sp>
      <p:sp>
        <p:nvSpPr>
          <p:cNvPr id="209" name="Google Shape;209;p30"/>
          <p:cNvSpPr/>
          <p:nvPr/>
        </p:nvSpPr>
        <p:spPr>
          <a:xfrm>
            <a:off x="4743472" y="3947890"/>
            <a:ext cx="1920300" cy="617100"/>
          </a:xfrm>
          <a:prstGeom prst="roundRect">
            <a:avLst>
              <a:gd name="adj" fmla="val 16667"/>
            </a:avLst>
          </a:prstGeom>
          <a:solidFill>
            <a:srgbClr val="646464"/>
          </a:solidFill>
          <a:ln w="9525" cap="flat" cmpd="sng">
            <a:solidFill>
              <a:srgbClr val="1E1E1E"/>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rgbClr val="FFFFFF"/>
                </a:solidFill>
                <a:latin typeface="Calibri"/>
                <a:ea typeface="Calibri"/>
                <a:cs typeface="Calibri"/>
                <a:sym typeface="Calibri"/>
              </a:rPr>
              <a:t>Récurser sur les</a:t>
            </a:r>
            <a:br>
              <a:rPr lang="en" sz="900" b="1" i="0" u="none" strike="noStrike" cap="none">
                <a:solidFill>
                  <a:srgbClr val="FFFFFF"/>
                </a:solidFill>
                <a:latin typeface="Calibri"/>
                <a:ea typeface="Calibri"/>
                <a:cs typeface="Calibri"/>
                <a:sym typeface="Calibri"/>
              </a:rPr>
            </a:br>
            <a:r>
              <a:rPr lang="en" sz="900" b="1" i="0" u="none" strike="noStrike" cap="none">
                <a:solidFill>
                  <a:srgbClr val="FFFFFF"/>
                </a:solidFill>
                <a:latin typeface="Calibri"/>
                <a:ea typeface="Calibri"/>
                <a:cs typeface="Calibri"/>
                <a:sym typeface="Calibri"/>
              </a:rPr>
              <a:t>Nœuds Fils</a:t>
            </a:r>
            <a:endParaRPr sz="1100"/>
          </a:p>
        </p:txBody>
      </p:sp>
      <p:sp>
        <p:nvSpPr>
          <p:cNvPr id="210" name="Google Shape;210;p30"/>
          <p:cNvSpPr txBox="1"/>
          <p:nvPr/>
        </p:nvSpPr>
        <p:spPr>
          <a:xfrm>
            <a:off x="2171654" y="1273270"/>
            <a:ext cx="274200" cy="2538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1200" b="1" i="0" u="none" strike="noStrike" cap="none">
                <a:solidFill>
                  <a:srgbClr val="505050"/>
                </a:solidFill>
                <a:latin typeface="Calibri"/>
                <a:ea typeface="Calibri"/>
                <a:cs typeface="Calibri"/>
                <a:sym typeface="Calibri"/>
              </a:rPr>
              <a:t>→</a:t>
            </a:r>
            <a:endParaRPr sz="1100"/>
          </a:p>
        </p:txBody>
      </p:sp>
      <p:sp>
        <p:nvSpPr>
          <p:cNvPr id="211" name="Google Shape;211;p30"/>
          <p:cNvSpPr txBox="1"/>
          <p:nvPr/>
        </p:nvSpPr>
        <p:spPr>
          <a:xfrm>
            <a:off x="217072" y="3742150"/>
            <a:ext cx="2057400" cy="654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b="1" i="0" u="none" strike="noStrike" cap="none">
                <a:solidFill>
                  <a:srgbClr val="3C3C3C"/>
                </a:solidFill>
                <a:latin typeface="Calibri"/>
                <a:ea typeface="Calibri"/>
                <a:cs typeface="Calibri"/>
                <a:sym typeface="Calibri"/>
              </a:rPr>
              <a:t>Legend:</a:t>
            </a:r>
            <a:endParaRPr sz="1100"/>
          </a:p>
          <a:p>
            <a:pPr marL="0" marR="0" lvl="0" indent="0" algn="l" rtl="0">
              <a:spcBef>
                <a:spcPts val="0"/>
              </a:spcBef>
              <a:spcAft>
                <a:spcPts val="0"/>
              </a:spcAft>
              <a:buNone/>
            </a:pPr>
            <a:r>
              <a:rPr lang="en" sz="900" b="0" i="0" u="none" strike="noStrike" cap="none">
                <a:solidFill>
                  <a:schemeClr val="dk1"/>
                </a:solidFill>
                <a:latin typeface="Calibri"/>
                <a:ea typeface="Calibri"/>
                <a:cs typeface="Calibri"/>
                <a:sym typeface="Calibri"/>
              </a:rPr>
              <a:t>🔵 Core algorithms</a:t>
            </a:r>
            <a:endParaRPr sz="1100"/>
          </a:p>
          <a:p>
            <a:pPr marL="0" marR="0" lvl="0" indent="0" algn="l" rtl="0">
              <a:spcBef>
                <a:spcPts val="0"/>
              </a:spcBef>
              <a:spcAft>
                <a:spcPts val="0"/>
              </a:spcAft>
              <a:buNone/>
            </a:pPr>
            <a:r>
              <a:rPr lang="en" sz="900" b="0" i="0" u="none" strike="noStrike" cap="none">
                <a:solidFill>
                  <a:schemeClr val="dk1"/>
                </a:solidFill>
                <a:latin typeface="Calibri"/>
                <a:ea typeface="Calibri"/>
                <a:cs typeface="Calibri"/>
                <a:sym typeface="Calibri"/>
              </a:rPr>
              <a:t>🟢 Split computation</a:t>
            </a:r>
            <a:endParaRPr sz="1100"/>
          </a:p>
          <a:p>
            <a:pPr marL="0" marR="0" lvl="0" indent="0" algn="l" rtl="0">
              <a:spcBef>
                <a:spcPts val="0"/>
              </a:spcBef>
              <a:spcAft>
                <a:spcPts val="0"/>
              </a:spcAft>
              <a:buNone/>
            </a:pPr>
            <a:r>
              <a:rPr lang="en" sz="900" b="0" i="0" u="none" strike="noStrike" cap="none">
                <a:solidFill>
                  <a:schemeClr val="dk1"/>
                </a:solidFill>
                <a:latin typeface="Calibri"/>
                <a:ea typeface="Calibri"/>
                <a:cs typeface="Calibri"/>
                <a:sym typeface="Calibri"/>
              </a:rPr>
              <a:t>🟠 Transformation</a:t>
            </a:r>
            <a:endParaRPr sz="1100"/>
          </a:p>
        </p:txBody>
      </p:sp>
      <p:sp>
        <p:nvSpPr>
          <p:cNvPr id="212" name="Google Shape;212;p30"/>
          <p:cNvSpPr/>
          <p:nvPr/>
        </p:nvSpPr>
        <p:spPr>
          <a:xfrm>
            <a:off x="2184963" y="1319050"/>
            <a:ext cx="261000" cy="1785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13" name="Google Shape;213;p30"/>
          <p:cNvSpPr/>
          <p:nvPr/>
        </p:nvSpPr>
        <p:spPr>
          <a:xfrm>
            <a:off x="4441513" y="1321188"/>
            <a:ext cx="261000" cy="1785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14" name="Google Shape;214;p30"/>
          <p:cNvSpPr/>
          <p:nvPr/>
        </p:nvSpPr>
        <p:spPr>
          <a:xfrm>
            <a:off x="6704713" y="1321200"/>
            <a:ext cx="261000" cy="1785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15" name="Google Shape;215;p30"/>
          <p:cNvSpPr/>
          <p:nvPr/>
        </p:nvSpPr>
        <p:spPr>
          <a:xfrm rot="5400000">
            <a:off x="5573113" y="1766950"/>
            <a:ext cx="261000" cy="1785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16" name="Google Shape;216;p30"/>
          <p:cNvSpPr/>
          <p:nvPr/>
        </p:nvSpPr>
        <p:spPr>
          <a:xfrm rot="5400000">
            <a:off x="5573113" y="2727075"/>
            <a:ext cx="261000" cy="1785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17" name="Google Shape;217;p30"/>
          <p:cNvSpPr/>
          <p:nvPr/>
        </p:nvSpPr>
        <p:spPr>
          <a:xfrm rot="5400000">
            <a:off x="5573113" y="3687200"/>
            <a:ext cx="261000" cy="1785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18" name="Google Shape;218;p30"/>
          <p:cNvSpPr/>
          <p:nvPr/>
        </p:nvSpPr>
        <p:spPr>
          <a:xfrm rot="-5400000" flipH="1">
            <a:off x="7078963" y="1886775"/>
            <a:ext cx="487800" cy="6324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19" name="Google Shape;219;p30"/>
          <p:cNvSpPr txBox="1"/>
          <p:nvPr/>
        </p:nvSpPr>
        <p:spPr>
          <a:xfrm>
            <a:off x="5792875" y="1677563"/>
            <a:ext cx="525600" cy="38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Calibri"/>
                <a:ea typeface="Calibri"/>
                <a:cs typeface="Calibri"/>
                <a:sym typeface="Calibri"/>
              </a:rPr>
              <a:t>Non</a:t>
            </a:r>
            <a:endParaRPr sz="1200">
              <a:solidFill>
                <a:schemeClr val="dk1"/>
              </a:solidFill>
              <a:latin typeface="Calibri"/>
              <a:ea typeface="Calibri"/>
              <a:cs typeface="Calibri"/>
              <a:sym typeface="Calibri"/>
            </a:endParaRPr>
          </a:p>
        </p:txBody>
      </p:sp>
      <p:sp>
        <p:nvSpPr>
          <p:cNvPr id="220" name="Google Shape;220;p30"/>
          <p:cNvSpPr txBox="1"/>
          <p:nvPr/>
        </p:nvSpPr>
        <p:spPr>
          <a:xfrm>
            <a:off x="7828600" y="1997778"/>
            <a:ext cx="1098300" cy="48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Calibri"/>
                <a:ea typeface="Calibri"/>
                <a:cs typeface="Calibri"/>
                <a:sym typeface="Calibri"/>
              </a:rPr>
              <a:t>Transformée</a:t>
            </a:r>
            <a:endParaRPr sz="1200">
              <a:solidFill>
                <a:schemeClr val="dk1"/>
              </a:solidFill>
              <a:latin typeface="Calibri"/>
              <a:ea typeface="Calibri"/>
              <a:cs typeface="Calibri"/>
              <a:sym typeface="Calibri"/>
            </a:endParaRPr>
          </a:p>
        </p:txBody>
      </p:sp>
      <p:sp>
        <p:nvSpPr>
          <p:cNvPr id="221" name="Google Shape;221;p30"/>
          <p:cNvSpPr txBox="1"/>
          <p:nvPr/>
        </p:nvSpPr>
        <p:spPr>
          <a:xfrm>
            <a:off x="6622025" y="1067513"/>
            <a:ext cx="525600" cy="38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Calibri"/>
                <a:ea typeface="Calibri"/>
                <a:cs typeface="Calibri"/>
                <a:sym typeface="Calibri"/>
              </a:rPr>
              <a:t>Oui</a:t>
            </a:r>
            <a:endParaRPr sz="1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1"/>
          <p:cNvSpPr/>
          <p:nvPr/>
        </p:nvSpPr>
        <p:spPr>
          <a:xfrm>
            <a:off x="0" y="0"/>
            <a:ext cx="9144015" cy="822960"/>
          </a:xfrm>
          <a:prstGeom prst="rect">
            <a:avLst/>
          </a:prstGeom>
          <a:solidFill>
            <a:srgbClr val="19375F"/>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228" name="Google Shape;228;p31"/>
          <p:cNvSpPr txBox="1"/>
          <p:nvPr/>
        </p:nvSpPr>
        <p:spPr>
          <a:xfrm>
            <a:off x="342909" y="205740"/>
            <a:ext cx="8458197" cy="54864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2700" b="1" i="0" u="none" strike="noStrike" cap="none">
                <a:solidFill>
                  <a:srgbClr val="FFFFFF"/>
                </a:solidFill>
                <a:latin typeface="Calibri"/>
                <a:ea typeface="Calibri"/>
                <a:cs typeface="Calibri"/>
                <a:sym typeface="Calibri"/>
              </a:rPr>
              <a:t>Algorithme 3 : Sélection de Variable</a:t>
            </a:r>
            <a:endParaRPr sz="1100"/>
          </a:p>
        </p:txBody>
      </p:sp>
      <p:sp>
        <p:nvSpPr>
          <p:cNvPr id="229" name="Google Shape;229;p31"/>
          <p:cNvSpPr/>
          <p:nvPr/>
        </p:nvSpPr>
        <p:spPr>
          <a:xfrm>
            <a:off x="342909" y="1028700"/>
            <a:ext cx="4114910" cy="1920240"/>
          </a:xfrm>
          <a:prstGeom prst="roundRect">
            <a:avLst>
              <a:gd name="adj" fmla="val 16667"/>
            </a:avLst>
          </a:prstGeom>
          <a:solidFill>
            <a:srgbClr val="FFFFFF"/>
          </a:solidFill>
          <a:ln w="9525" cap="flat" cmpd="sng">
            <a:solidFill>
              <a:srgbClr val="2980B9"/>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400" b="1" i="0" u="none" strike="noStrike" cap="none">
                <a:solidFill>
                  <a:srgbClr val="2980B9"/>
                </a:solidFill>
                <a:latin typeface="Calibri"/>
                <a:ea typeface="Calibri"/>
                <a:cs typeface="Calibri"/>
                <a:sym typeface="Calibri"/>
              </a:rPr>
              <a:t>Variables Continues : </a:t>
            </a:r>
            <a:r>
              <a:rPr lang="en" b="1">
                <a:solidFill>
                  <a:srgbClr val="2980B9"/>
                </a:solidFill>
                <a:latin typeface="Calibri"/>
                <a:ea typeface="Calibri"/>
                <a:cs typeface="Calibri"/>
                <a:sym typeface="Calibri"/>
              </a:rPr>
              <a:t>ANOVA F-Test</a:t>
            </a:r>
            <a:endParaRPr sz="1100"/>
          </a:p>
          <a:p>
            <a:pPr marL="0" marR="0" lvl="0" indent="0" algn="l" rtl="0">
              <a:spcBef>
                <a:spcPts val="0"/>
              </a:spcBef>
              <a:spcAft>
                <a:spcPts val="0"/>
              </a:spcAft>
              <a:buNone/>
            </a:pPr>
            <a:br>
              <a:rPr lang="en" sz="1100" b="0" i="0" u="none" strike="noStrike" cap="none">
                <a:solidFill>
                  <a:srgbClr val="3C3C3C"/>
                </a:solidFill>
                <a:latin typeface="Calibri"/>
                <a:ea typeface="Calibri"/>
                <a:cs typeface="Calibri"/>
                <a:sym typeface="Calibri"/>
              </a:rPr>
            </a:br>
            <a:r>
              <a:rPr lang="en" sz="1100" b="0" i="0" u="none" strike="noStrike" cap="none">
                <a:solidFill>
                  <a:srgbClr val="3C3C3C"/>
                </a:solidFill>
                <a:latin typeface="Calibri"/>
                <a:ea typeface="Calibri"/>
                <a:cs typeface="Calibri"/>
                <a:sym typeface="Calibri"/>
              </a:rPr>
              <a:t>Vérifie si les moyennes de classe diffèrent significativement</a:t>
            </a:r>
            <a:endParaRPr sz="1100"/>
          </a:p>
          <a:p>
            <a:pPr marL="0" marR="0" lvl="0" indent="0" algn="l" rtl="0">
              <a:spcBef>
                <a:spcPts val="0"/>
              </a:spcBef>
              <a:spcAft>
                <a:spcPts val="0"/>
              </a:spcAft>
              <a:buNone/>
            </a:pPr>
            <a:br>
              <a:rPr lang="en" sz="1200" b="0" i="0" u="none" strike="noStrike" cap="none">
                <a:solidFill>
                  <a:srgbClr val="282828"/>
                </a:solidFill>
                <a:latin typeface="Calibri"/>
                <a:ea typeface="Calibri"/>
                <a:cs typeface="Calibri"/>
                <a:sym typeface="Calibri"/>
              </a:rPr>
            </a:br>
            <a:r>
              <a:rPr lang="en" sz="1200" b="0" i="0" u="none" strike="noStrike" cap="none">
                <a:solidFill>
                  <a:srgbClr val="282828"/>
                </a:solidFill>
                <a:latin typeface="Calibri"/>
                <a:ea typeface="Calibri"/>
                <a:cs typeface="Calibri"/>
                <a:sym typeface="Calibri"/>
              </a:rPr>
              <a:t>        SSB / (J - 1)</a:t>
            </a:r>
            <a:endParaRPr sz="1100"/>
          </a:p>
          <a:p>
            <a:pPr marL="0" marR="0" lvl="0" indent="0" algn="l" rtl="0">
              <a:spcBef>
                <a:spcPts val="0"/>
              </a:spcBef>
              <a:spcAft>
                <a:spcPts val="0"/>
              </a:spcAft>
              <a:buNone/>
            </a:pPr>
            <a:r>
              <a:rPr lang="en" sz="1200" b="0" i="0" u="none" strike="noStrike" cap="none">
                <a:solidFill>
                  <a:srgbClr val="282828"/>
                </a:solidFill>
                <a:latin typeface="Calibri"/>
                <a:ea typeface="Calibri"/>
                <a:cs typeface="Calibri"/>
                <a:sym typeface="Calibri"/>
              </a:rPr>
              <a:t>F = ─────────────</a:t>
            </a:r>
            <a:endParaRPr sz="1100"/>
          </a:p>
          <a:p>
            <a:pPr marL="0" marR="0" lvl="0" indent="0" algn="l" rtl="0">
              <a:spcBef>
                <a:spcPts val="0"/>
              </a:spcBef>
              <a:spcAft>
                <a:spcPts val="0"/>
              </a:spcAft>
              <a:buNone/>
            </a:pPr>
            <a:r>
              <a:rPr lang="en" sz="1200" b="0" i="0" u="none" strike="noStrike" cap="none">
                <a:solidFill>
                  <a:srgbClr val="282828"/>
                </a:solidFill>
                <a:latin typeface="Calibri"/>
                <a:ea typeface="Calibri"/>
                <a:cs typeface="Calibri"/>
                <a:sym typeface="Calibri"/>
              </a:rPr>
              <a:t>        SSW / (n - J)</a:t>
            </a:r>
            <a:endParaRPr sz="1100"/>
          </a:p>
          <a:p>
            <a:pPr marL="0" marR="0" lvl="0" indent="0" algn="l" rtl="0">
              <a:spcBef>
                <a:spcPts val="0"/>
              </a:spcBef>
              <a:spcAft>
                <a:spcPts val="0"/>
              </a:spcAft>
              <a:buNone/>
            </a:pPr>
            <a:br>
              <a:rPr lang="en" sz="900" b="0" i="0" u="none" strike="noStrike" cap="none">
                <a:solidFill>
                  <a:srgbClr val="505050"/>
                </a:solidFill>
                <a:latin typeface="Calibri"/>
                <a:ea typeface="Calibri"/>
                <a:cs typeface="Calibri"/>
                <a:sym typeface="Calibri"/>
              </a:rPr>
            </a:br>
            <a:r>
              <a:rPr lang="en" sz="900" b="0" i="0" u="none" strike="noStrike" cap="none">
                <a:solidFill>
                  <a:srgbClr val="505050"/>
                </a:solidFill>
                <a:latin typeface="Calibri"/>
                <a:ea typeface="Calibri"/>
                <a:cs typeface="Calibri"/>
                <a:sym typeface="Calibri"/>
              </a:rPr>
              <a:t>SSB = Between-group sum of squares</a:t>
            </a:r>
            <a:endParaRPr sz="1100"/>
          </a:p>
          <a:p>
            <a:pPr marL="0" marR="0" lvl="0" indent="0" algn="l" rtl="0">
              <a:spcBef>
                <a:spcPts val="0"/>
              </a:spcBef>
              <a:spcAft>
                <a:spcPts val="0"/>
              </a:spcAft>
              <a:buNone/>
            </a:pPr>
            <a:r>
              <a:rPr lang="en" sz="900" b="0" i="0" u="none" strike="noStrike" cap="none">
                <a:solidFill>
                  <a:srgbClr val="505050"/>
                </a:solidFill>
                <a:latin typeface="Calibri"/>
                <a:ea typeface="Calibri"/>
                <a:cs typeface="Calibri"/>
                <a:sym typeface="Calibri"/>
              </a:rPr>
              <a:t>SSW = Within-group sum of squares</a:t>
            </a:r>
            <a:endParaRPr sz="1100"/>
          </a:p>
        </p:txBody>
      </p:sp>
      <p:sp>
        <p:nvSpPr>
          <p:cNvPr id="230" name="Google Shape;230;p31"/>
          <p:cNvSpPr/>
          <p:nvPr/>
        </p:nvSpPr>
        <p:spPr>
          <a:xfrm>
            <a:off x="4663564" y="1028700"/>
            <a:ext cx="4114910" cy="1920240"/>
          </a:xfrm>
          <a:prstGeom prst="roundRect">
            <a:avLst>
              <a:gd name="adj" fmla="val 16667"/>
            </a:avLst>
          </a:prstGeom>
          <a:solidFill>
            <a:srgbClr val="FFFFFF"/>
          </a:solidFill>
          <a:ln w="9525" cap="flat" cmpd="sng">
            <a:solidFill>
              <a:srgbClr val="27AE6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400" b="1" i="0" u="none" strike="noStrike" cap="none">
                <a:solidFill>
                  <a:srgbClr val="27AE60"/>
                </a:solidFill>
                <a:latin typeface="Calibri"/>
                <a:ea typeface="Calibri"/>
                <a:cs typeface="Calibri"/>
                <a:sym typeface="Calibri"/>
              </a:rPr>
              <a:t>Variables Catégoriques : Test du Chi-Deux</a:t>
            </a:r>
            <a:endParaRPr sz="1100"/>
          </a:p>
          <a:p>
            <a:pPr marL="0" marR="0" lvl="0" indent="0" algn="l" rtl="0">
              <a:spcBef>
                <a:spcPts val="0"/>
              </a:spcBef>
              <a:spcAft>
                <a:spcPts val="0"/>
              </a:spcAft>
              <a:buNone/>
            </a:pPr>
            <a:br>
              <a:rPr lang="en" sz="1100" b="0" i="0" u="none" strike="noStrike" cap="none">
                <a:solidFill>
                  <a:srgbClr val="3C3C3C"/>
                </a:solidFill>
                <a:latin typeface="Calibri"/>
                <a:ea typeface="Calibri"/>
                <a:cs typeface="Calibri"/>
                <a:sym typeface="Calibri"/>
              </a:rPr>
            </a:br>
            <a:r>
              <a:rPr lang="en" sz="1100" b="0" i="0" u="none" strike="noStrike" cap="none">
                <a:solidFill>
                  <a:srgbClr val="3C3C3C"/>
                </a:solidFill>
                <a:latin typeface="Calibri"/>
                <a:ea typeface="Calibri"/>
                <a:cs typeface="Calibri"/>
                <a:sym typeface="Calibri"/>
              </a:rPr>
              <a:t>Vérifie l'indépendance entre la variable et la classe</a:t>
            </a:r>
            <a:endParaRPr sz="1100"/>
          </a:p>
          <a:p>
            <a:pPr marL="0" marR="0" lvl="0" indent="0" algn="l" rtl="0">
              <a:spcBef>
                <a:spcPts val="0"/>
              </a:spcBef>
              <a:spcAft>
                <a:spcPts val="0"/>
              </a:spcAft>
              <a:buNone/>
            </a:pPr>
            <a:br>
              <a:rPr lang="en" sz="1200" b="0" i="0" u="none" strike="noStrike" cap="none">
                <a:solidFill>
                  <a:srgbClr val="282828"/>
                </a:solidFill>
                <a:latin typeface="Calibri"/>
                <a:ea typeface="Calibri"/>
                <a:cs typeface="Calibri"/>
                <a:sym typeface="Calibri"/>
              </a:rPr>
            </a:br>
            <a:r>
              <a:rPr lang="en" sz="1200" b="0" i="0" u="none" strike="noStrike" cap="none">
                <a:solidFill>
                  <a:srgbClr val="282828"/>
                </a:solidFill>
                <a:latin typeface="Calibri"/>
                <a:ea typeface="Calibri"/>
                <a:cs typeface="Calibri"/>
                <a:sym typeface="Calibri"/>
              </a:rPr>
              <a:t>           (Oᵢⱼ - Eᵢⱼ)²</a:t>
            </a:r>
            <a:endParaRPr sz="1100"/>
          </a:p>
          <a:p>
            <a:pPr marL="0" marR="0" lvl="0" indent="0" algn="l" rtl="0">
              <a:spcBef>
                <a:spcPts val="0"/>
              </a:spcBef>
              <a:spcAft>
                <a:spcPts val="0"/>
              </a:spcAft>
              <a:buNone/>
            </a:pPr>
            <a:r>
              <a:rPr lang="en" sz="1200" b="0" i="0" u="none" strike="noStrike" cap="none">
                <a:solidFill>
                  <a:srgbClr val="282828"/>
                </a:solidFill>
                <a:latin typeface="Calibri"/>
                <a:ea typeface="Calibri"/>
                <a:cs typeface="Calibri"/>
                <a:sym typeface="Calibri"/>
              </a:rPr>
              <a:t>χ² = Σ  ─────────────</a:t>
            </a:r>
            <a:endParaRPr sz="1100"/>
          </a:p>
          <a:p>
            <a:pPr marL="0" marR="0" lvl="0" indent="0" algn="l" rtl="0">
              <a:spcBef>
                <a:spcPts val="0"/>
              </a:spcBef>
              <a:spcAft>
                <a:spcPts val="0"/>
              </a:spcAft>
              <a:buNone/>
            </a:pPr>
            <a:r>
              <a:rPr lang="en" sz="1200" b="0" i="0" u="none" strike="noStrike" cap="none">
                <a:solidFill>
                  <a:srgbClr val="282828"/>
                </a:solidFill>
                <a:latin typeface="Calibri"/>
                <a:ea typeface="Calibri"/>
                <a:cs typeface="Calibri"/>
                <a:sym typeface="Calibri"/>
              </a:rPr>
              <a:t>              Eᵢⱼ</a:t>
            </a:r>
            <a:endParaRPr sz="1100"/>
          </a:p>
          <a:p>
            <a:pPr marL="0" marR="0" lvl="0" indent="0" algn="l" rtl="0">
              <a:spcBef>
                <a:spcPts val="0"/>
              </a:spcBef>
              <a:spcAft>
                <a:spcPts val="0"/>
              </a:spcAft>
              <a:buNone/>
            </a:pPr>
            <a:br>
              <a:rPr lang="en" sz="900" b="0" i="0" u="none" strike="noStrike" cap="none">
                <a:solidFill>
                  <a:srgbClr val="505050"/>
                </a:solidFill>
                <a:latin typeface="Calibri"/>
                <a:ea typeface="Calibri"/>
                <a:cs typeface="Calibri"/>
                <a:sym typeface="Calibri"/>
              </a:rPr>
            </a:br>
            <a:r>
              <a:rPr lang="en" sz="900" b="0" i="0" u="none" strike="noStrike" cap="none">
                <a:solidFill>
                  <a:srgbClr val="505050"/>
                </a:solidFill>
                <a:latin typeface="Calibri"/>
                <a:ea typeface="Calibri"/>
                <a:cs typeface="Calibri"/>
                <a:sym typeface="Calibri"/>
              </a:rPr>
              <a:t>O = Observed frequency</a:t>
            </a:r>
            <a:endParaRPr sz="1100"/>
          </a:p>
          <a:p>
            <a:pPr marL="0" marR="0" lvl="0" indent="0" algn="l" rtl="0">
              <a:spcBef>
                <a:spcPts val="0"/>
              </a:spcBef>
              <a:spcAft>
                <a:spcPts val="0"/>
              </a:spcAft>
              <a:buNone/>
            </a:pPr>
            <a:r>
              <a:rPr lang="en" sz="900" b="0" i="0" u="none" strike="noStrike" cap="none">
                <a:solidFill>
                  <a:srgbClr val="505050"/>
                </a:solidFill>
                <a:latin typeface="Calibri"/>
                <a:ea typeface="Calibri"/>
                <a:cs typeface="Calibri"/>
                <a:sym typeface="Calibri"/>
              </a:rPr>
              <a:t>E = Expected frequency under independence</a:t>
            </a:r>
            <a:endParaRPr sz="1100"/>
          </a:p>
        </p:txBody>
      </p:sp>
      <p:sp>
        <p:nvSpPr>
          <p:cNvPr id="231" name="Google Shape;231;p31"/>
          <p:cNvSpPr txBox="1"/>
          <p:nvPr/>
        </p:nvSpPr>
        <p:spPr>
          <a:xfrm>
            <a:off x="342909" y="3086100"/>
            <a:ext cx="8435565" cy="1714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b="0" i="0" u="none" strike="noStrike" cap="none">
                <a:solidFill>
                  <a:srgbClr val="323232"/>
                </a:solidFill>
                <a:latin typeface="Calibri"/>
                <a:ea typeface="Calibri"/>
                <a:cs typeface="Calibri"/>
                <a:sym typeface="Calibri"/>
              </a:rPr>
              <a:t>Correction de Bonferroni : Ajuste le niveau de signification α* = α/p pour contrôler le taux d'erreur global</a:t>
            </a:r>
            <a:endParaRPr sz="1100"/>
          </a:p>
          <a:p>
            <a:pPr marL="0" marR="0" lvl="0" indent="0" algn="l" rtl="0">
              <a:spcBef>
                <a:spcPts val="600"/>
              </a:spcBef>
              <a:spcAft>
                <a:spcPts val="0"/>
              </a:spcAft>
              <a:buNone/>
            </a:pPr>
            <a:r>
              <a:rPr lang="en" sz="1400" b="0" i="0" u="none" strike="noStrike" cap="none">
                <a:solidFill>
                  <a:srgbClr val="323232"/>
                </a:solidFill>
                <a:latin typeface="Calibri"/>
                <a:ea typeface="Calibri"/>
                <a:cs typeface="Calibri"/>
                <a:sym typeface="Calibri"/>
              </a:rPr>
              <a:t>Test de Levene Fallback : Si ANOVA n'est pas significatif mais les variances diffèrent,</a:t>
            </a:r>
            <a:endParaRPr sz="1100"/>
          </a:p>
          <a:p>
            <a:pPr marL="342900" marR="0" lvl="1" indent="0" algn="l" rtl="0">
              <a:spcBef>
                <a:spcPts val="600"/>
              </a:spcBef>
              <a:spcAft>
                <a:spcPts val="0"/>
              </a:spcAft>
              <a:buNone/>
            </a:pPr>
            <a:r>
              <a:rPr lang="en" sz="1400" b="0" i="0" u="none" strike="noStrike" cap="none">
                <a:solidFill>
                  <a:srgbClr val="323232"/>
                </a:solidFill>
                <a:latin typeface="Calibri"/>
                <a:ea typeface="Calibri"/>
                <a:cs typeface="Calibri"/>
                <a:sym typeface="Calibri"/>
              </a:rPr>
              <a:t>utiliser la statistique du test de Levene à la place (teste l'égalité des variances entre classes)</a:t>
            </a:r>
            <a:endParaRPr sz="1100"/>
          </a:p>
          <a:p>
            <a:pPr marL="0" marR="0" lvl="0" indent="0" algn="l" rtl="0">
              <a:spcBef>
                <a:spcPts val="600"/>
              </a:spcBef>
              <a:spcAft>
                <a:spcPts val="0"/>
              </a:spcAft>
              <a:buNone/>
            </a:pPr>
            <a:r>
              <a:rPr lang="en" sz="1400" b="0" i="0" u="none" strike="noStrike" cap="none">
                <a:solidFill>
                  <a:srgbClr val="323232"/>
                </a:solidFill>
                <a:latin typeface="Calibri"/>
                <a:ea typeface="Calibri"/>
                <a:cs typeface="Calibri"/>
                <a:sym typeface="Calibri"/>
              </a:rPr>
              <a:t>Sélection Finale : Choisir la variable avec la plus petite p-valeur ajustée</a:t>
            </a:r>
            <a:endParaRPr sz="1100"/>
          </a:p>
        </p:txBody>
      </p:sp>
      <p:sp>
        <p:nvSpPr>
          <p:cNvPr id="232" name="Google Shape;232;p31"/>
          <p:cNvSpPr/>
          <p:nvPr/>
        </p:nvSpPr>
        <p:spPr>
          <a:xfrm>
            <a:off x="342909" y="4320540"/>
            <a:ext cx="8435565" cy="548640"/>
          </a:xfrm>
          <a:prstGeom prst="roundRect">
            <a:avLst>
              <a:gd name="adj" fmla="val 16667"/>
            </a:avLst>
          </a:prstGeom>
          <a:solidFill>
            <a:srgbClr val="E8F5E9"/>
          </a:solidFill>
          <a:ln w="9525" cap="flat" cmpd="sng">
            <a:solidFill>
              <a:srgbClr val="4CAF5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100" b="0" i="0" u="none" strike="noStrike" cap="none">
                <a:solidFill>
                  <a:srgbClr val="1B5E20"/>
                </a:solidFill>
                <a:latin typeface="Calibri"/>
                <a:ea typeface="Calibri"/>
                <a:cs typeface="Calibri"/>
                <a:sym typeface="Calibri"/>
              </a:rPr>
              <a:t>✓ Pourquoi Non Biaisé : Les p-valeurs des deux tests suivent des distributions nulles connues — aucun avantage pour les variables multi-catégoriques</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2"/>
          <p:cNvSpPr/>
          <p:nvPr/>
        </p:nvSpPr>
        <p:spPr>
          <a:xfrm>
            <a:off x="0" y="0"/>
            <a:ext cx="9144015" cy="822960"/>
          </a:xfrm>
          <a:prstGeom prst="rect">
            <a:avLst/>
          </a:prstGeom>
          <a:solidFill>
            <a:srgbClr val="19375F"/>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239" name="Google Shape;239;p32"/>
          <p:cNvSpPr txBox="1"/>
          <p:nvPr/>
        </p:nvSpPr>
        <p:spPr>
          <a:xfrm>
            <a:off x="342909" y="205740"/>
            <a:ext cx="8458197" cy="54864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2700" b="1" i="0" u="none" strike="noStrike" cap="none">
                <a:solidFill>
                  <a:srgbClr val="FFFFFF"/>
                </a:solidFill>
                <a:latin typeface="Calibri"/>
                <a:ea typeface="Calibri"/>
                <a:cs typeface="Calibri"/>
                <a:sym typeface="Calibri"/>
              </a:rPr>
              <a:t>Algorithme 2 : Transformation CRIMCOORDS</a:t>
            </a:r>
            <a:endParaRPr sz="1100"/>
          </a:p>
        </p:txBody>
      </p:sp>
      <p:sp>
        <p:nvSpPr>
          <p:cNvPr id="240" name="Google Shape;240;p32"/>
          <p:cNvSpPr/>
          <p:nvPr/>
        </p:nvSpPr>
        <p:spPr>
          <a:xfrm>
            <a:off x="342909" y="1028700"/>
            <a:ext cx="4114910" cy="1028700"/>
          </a:xfrm>
          <a:prstGeom prst="roundRect">
            <a:avLst>
              <a:gd name="adj" fmla="val 16667"/>
            </a:avLst>
          </a:prstGeom>
          <a:solidFill>
            <a:srgbClr val="FFEBEB"/>
          </a:solidFill>
          <a:ln w="9525" cap="flat" cmpd="sng">
            <a:solidFill>
              <a:srgbClr val="C86464"/>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400" b="1" i="0" u="none" strike="noStrike" cap="none">
                <a:solidFill>
                  <a:srgbClr val="963232"/>
                </a:solidFill>
                <a:latin typeface="Calibri"/>
                <a:ea typeface="Calibri"/>
                <a:cs typeface="Calibri"/>
                <a:sym typeface="Calibri"/>
              </a:rPr>
              <a:t>Le Problème</a:t>
            </a:r>
            <a:endParaRPr sz="1100"/>
          </a:p>
          <a:p>
            <a:pPr marL="0" marR="0" lvl="0" indent="0" algn="l" rtl="0">
              <a:spcBef>
                <a:spcPts val="0"/>
              </a:spcBef>
              <a:spcAft>
                <a:spcPts val="0"/>
              </a:spcAft>
              <a:buNone/>
            </a:pPr>
            <a:r>
              <a:rPr lang="en" sz="1100" b="0" i="0" u="none" strike="noStrike" cap="none">
                <a:solidFill>
                  <a:srgbClr val="503232"/>
                </a:solidFill>
                <a:latin typeface="Calibri"/>
                <a:ea typeface="Calibri"/>
                <a:cs typeface="Calibri"/>
                <a:sym typeface="Calibri"/>
              </a:rPr>
              <a:t>• Les variables catégoriques ne peuvent pas être directement divisées</a:t>
            </a:r>
            <a:br>
              <a:rPr lang="en" sz="1100" b="0" i="0" u="none" strike="noStrike" cap="none">
                <a:solidFill>
                  <a:srgbClr val="503232"/>
                </a:solidFill>
                <a:latin typeface="Calibri"/>
                <a:ea typeface="Calibri"/>
                <a:cs typeface="Calibri"/>
                <a:sym typeface="Calibri"/>
              </a:rPr>
            </a:br>
            <a:r>
              <a:rPr lang="en" sz="1100" b="0" i="0" u="none" strike="noStrike" cap="none">
                <a:solidFill>
                  <a:srgbClr val="503232"/>
                </a:solidFill>
                <a:latin typeface="Calibri"/>
                <a:ea typeface="Calibri"/>
                <a:cs typeface="Calibri"/>
                <a:sym typeface="Calibri"/>
              </a:rPr>
              <a:t>• L'ADQ nécessite des valeurs numériques</a:t>
            </a:r>
            <a:br>
              <a:rPr lang="en" sz="1100" b="0" i="0" u="none" strike="noStrike" cap="none">
                <a:solidFill>
                  <a:srgbClr val="503232"/>
                </a:solidFill>
                <a:latin typeface="Calibri"/>
                <a:ea typeface="Calibri"/>
                <a:cs typeface="Calibri"/>
                <a:sym typeface="Calibri"/>
              </a:rPr>
            </a:br>
            <a:r>
              <a:rPr lang="en" sz="1100" b="0" i="0" u="none" strike="noStrike" cap="none">
                <a:solidFill>
                  <a:srgbClr val="503232"/>
                </a:solidFill>
                <a:latin typeface="Calibri"/>
                <a:ea typeface="Calibri"/>
                <a:cs typeface="Calibri"/>
                <a:sym typeface="Calibri"/>
              </a:rPr>
              <a:t>• La recherche exhaustive de sous-ensembles est biaisée</a:t>
            </a:r>
            <a:endParaRPr sz="1100"/>
          </a:p>
        </p:txBody>
      </p:sp>
      <p:sp>
        <p:nvSpPr>
          <p:cNvPr id="241" name="Google Shape;241;p32"/>
          <p:cNvSpPr/>
          <p:nvPr/>
        </p:nvSpPr>
        <p:spPr>
          <a:xfrm>
            <a:off x="4663564" y="1028700"/>
            <a:ext cx="4114910" cy="1028700"/>
          </a:xfrm>
          <a:prstGeom prst="roundRect">
            <a:avLst>
              <a:gd name="adj" fmla="val 16667"/>
            </a:avLst>
          </a:prstGeom>
          <a:solidFill>
            <a:srgbClr val="E8F5E9"/>
          </a:solidFill>
          <a:ln w="9525" cap="flat" cmpd="sng">
            <a:solidFill>
              <a:srgbClr val="4CAF5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400" b="1" i="0" u="none" strike="noStrike" cap="none">
                <a:solidFill>
                  <a:srgbClr val="1B5E20"/>
                </a:solidFill>
                <a:latin typeface="Calibri"/>
                <a:ea typeface="Calibri"/>
                <a:cs typeface="Calibri"/>
                <a:sym typeface="Calibri"/>
              </a:rPr>
              <a:t>Solution CRIMCOORDS</a:t>
            </a:r>
            <a:endParaRPr sz="1100"/>
          </a:p>
          <a:p>
            <a:pPr marL="0" marR="0" lvl="0" indent="0" algn="l" rtl="0">
              <a:spcBef>
                <a:spcPts val="0"/>
              </a:spcBef>
              <a:spcAft>
                <a:spcPts val="0"/>
              </a:spcAft>
              <a:buNone/>
            </a:pPr>
            <a:r>
              <a:rPr lang="en" sz="1100" b="0" i="0" u="none" strike="noStrike" cap="none">
                <a:solidFill>
                  <a:srgbClr val="1E461E"/>
                </a:solidFill>
                <a:latin typeface="Calibri"/>
                <a:ea typeface="Calibri"/>
                <a:cs typeface="Calibri"/>
                <a:sym typeface="Calibri"/>
              </a:rPr>
              <a:t>• Transformer les catégories en scores numériques</a:t>
            </a:r>
            <a:br>
              <a:rPr lang="en" sz="1100" b="0" i="0" u="none" strike="noStrike" cap="none">
                <a:solidFill>
                  <a:srgbClr val="1E461E"/>
                </a:solidFill>
                <a:latin typeface="Calibri"/>
                <a:ea typeface="Calibri"/>
                <a:cs typeface="Calibri"/>
                <a:sym typeface="Calibri"/>
              </a:rPr>
            </a:br>
            <a:r>
              <a:rPr lang="en" sz="1100" b="0" i="0" u="none" strike="noStrike" cap="none">
                <a:solidFill>
                  <a:srgbClr val="1E461E"/>
                </a:solidFill>
                <a:latin typeface="Calibri"/>
                <a:ea typeface="Calibri"/>
                <a:cs typeface="Calibri"/>
                <a:sym typeface="Calibri"/>
              </a:rPr>
              <a:t>• Utiliser les principes de l'analyse discriminante</a:t>
            </a:r>
            <a:br>
              <a:rPr lang="en" sz="1100" b="0" i="0" u="none" strike="noStrike" cap="none">
                <a:solidFill>
                  <a:srgbClr val="1E461E"/>
                </a:solidFill>
                <a:latin typeface="Calibri"/>
                <a:ea typeface="Calibri"/>
                <a:cs typeface="Calibri"/>
                <a:sym typeface="Calibri"/>
              </a:rPr>
            </a:br>
            <a:r>
              <a:rPr lang="en" sz="1100" b="0" i="0" u="none" strike="noStrike" cap="none">
                <a:solidFill>
                  <a:srgbClr val="1E461E"/>
                </a:solidFill>
                <a:latin typeface="Calibri"/>
                <a:ea typeface="Calibri"/>
                <a:cs typeface="Calibri"/>
                <a:sym typeface="Calibri"/>
              </a:rPr>
              <a:t>• Permettre la recherche standard de coupure par ADQ</a:t>
            </a:r>
            <a:endParaRPr sz="1100"/>
          </a:p>
        </p:txBody>
      </p:sp>
      <p:sp>
        <p:nvSpPr>
          <p:cNvPr id="242" name="Google Shape;242;p32"/>
          <p:cNvSpPr/>
          <p:nvPr/>
        </p:nvSpPr>
        <p:spPr>
          <a:xfrm>
            <a:off x="342909" y="2263140"/>
            <a:ext cx="1920291" cy="960120"/>
          </a:xfrm>
          <a:prstGeom prst="roundRect">
            <a:avLst>
              <a:gd name="adj" fmla="val 16667"/>
            </a:avLst>
          </a:prstGeom>
          <a:solidFill>
            <a:srgbClr val="E67E22"/>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100" b="1" i="0" u="none" strike="noStrike" cap="none">
                <a:solidFill>
                  <a:srgbClr val="FFFFFF"/>
                </a:solidFill>
                <a:latin typeface="Calibri"/>
                <a:ea typeface="Calibri"/>
                <a:cs typeface="Calibri"/>
                <a:sym typeface="Calibri"/>
              </a:rPr>
              <a:t>1. Codage One-Hot</a:t>
            </a:r>
            <a:endParaRPr sz="1100"/>
          </a:p>
          <a:p>
            <a:pPr marL="0" marR="0" lvl="0" indent="0" algn="ctr" rtl="0">
              <a:spcBef>
                <a:spcPts val="0"/>
              </a:spcBef>
              <a:spcAft>
                <a:spcPts val="0"/>
              </a:spcAft>
              <a:buNone/>
            </a:pPr>
            <a:r>
              <a:rPr lang="en" sz="900" b="0" i="0" u="none" strike="noStrike" cap="none">
                <a:solidFill>
                  <a:srgbClr val="F0F0F0"/>
                </a:solidFill>
                <a:latin typeface="Calibri"/>
                <a:ea typeface="Calibri"/>
                <a:cs typeface="Calibri"/>
                <a:sym typeface="Calibri"/>
              </a:rPr>
              <a:t>Créer une matrice</a:t>
            </a:r>
            <a:br>
              <a:rPr lang="en" sz="900" b="0" i="0" u="none" strike="noStrike" cap="none">
                <a:solidFill>
                  <a:srgbClr val="F0F0F0"/>
                </a:solidFill>
                <a:latin typeface="Calibri"/>
                <a:ea typeface="Calibri"/>
                <a:cs typeface="Calibri"/>
                <a:sym typeface="Calibri"/>
              </a:rPr>
            </a:br>
            <a:r>
              <a:rPr lang="en" sz="900" b="0" i="0" u="none" strike="noStrike" cap="none">
                <a:solidFill>
                  <a:srgbClr val="F0F0F0"/>
                </a:solidFill>
                <a:latin typeface="Calibri"/>
                <a:ea typeface="Calibri"/>
                <a:cs typeface="Calibri"/>
                <a:sym typeface="Calibri"/>
              </a:rPr>
              <a:t>d'indicateurs Z</a:t>
            </a:r>
            <a:br>
              <a:rPr lang="en" sz="900" b="0" i="0" u="none" strike="noStrike" cap="none">
                <a:solidFill>
                  <a:srgbClr val="F0F0F0"/>
                </a:solidFill>
                <a:latin typeface="Calibri"/>
                <a:ea typeface="Calibri"/>
                <a:cs typeface="Calibri"/>
                <a:sym typeface="Calibri"/>
              </a:rPr>
            </a:br>
            <a:r>
              <a:rPr lang="en" sz="900" b="0" i="0" u="none" strike="noStrike" cap="none">
                <a:solidFill>
                  <a:srgbClr val="F0F0F0"/>
                </a:solidFill>
                <a:latin typeface="Calibri"/>
                <a:ea typeface="Calibri"/>
                <a:cs typeface="Calibri"/>
                <a:sym typeface="Calibri"/>
              </a:rPr>
              <a:t>(n × k)</a:t>
            </a:r>
            <a:endParaRPr sz="1100"/>
          </a:p>
        </p:txBody>
      </p:sp>
      <p:sp>
        <p:nvSpPr>
          <p:cNvPr id="243" name="Google Shape;243;p32"/>
          <p:cNvSpPr/>
          <p:nvPr/>
        </p:nvSpPr>
        <p:spPr>
          <a:xfrm>
            <a:off x="2537528" y="2263140"/>
            <a:ext cx="1920300" cy="960000"/>
          </a:xfrm>
          <a:prstGeom prst="roundRect">
            <a:avLst>
              <a:gd name="adj" fmla="val 16667"/>
            </a:avLst>
          </a:prstGeom>
          <a:solidFill>
            <a:srgbClr val="8E44AD"/>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100" b="1" i="0" u="none" strike="noStrike" cap="none">
                <a:solidFill>
                  <a:srgbClr val="FFFFFF"/>
                </a:solidFill>
                <a:latin typeface="Calibri"/>
                <a:ea typeface="Calibri"/>
                <a:cs typeface="Calibri"/>
                <a:sym typeface="Calibri"/>
              </a:rPr>
              <a:t>2. Centrer la Matrice</a:t>
            </a:r>
            <a:endParaRPr sz="1100"/>
          </a:p>
          <a:p>
            <a:pPr marL="0" marR="0" lvl="0" indent="0" algn="ctr" rtl="0">
              <a:spcBef>
                <a:spcPts val="0"/>
              </a:spcBef>
              <a:spcAft>
                <a:spcPts val="0"/>
              </a:spcAft>
              <a:buNone/>
            </a:pPr>
            <a:r>
              <a:rPr lang="en" sz="900" b="0" i="0" u="none" strike="noStrike" cap="none">
                <a:solidFill>
                  <a:srgbClr val="F0F0F0"/>
                </a:solidFill>
                <a:latin typeface="Calibri"/>
                <a:ea typeface="Calibri"/>
                <a:cs typeface="Calibri"/>
                <a:sym typeface="Calibri"/>
              </a:rPr>
              <a:t>Soustraire les</a:t>
            </a:r>
            <a:br>
              <a:rPr lang="en" sz="900" b="0" i="0" u="none" strike="noStrike" cap="none">
                <a:solidFill>
                  <a:srgbClr val="F0F0F0"/>
                </a:solidFill>
                <a:latin typeface="Calibri"/>
                <a:ea typeface="Calibri"/>
                <a:cs typeface="Calibri"/>
                <a:sym typeface="Calibri"/>
              </a:rPr>
            </a:br>
            <a:r>
              <a:rPr lang="en" sz="900" b="0" i="0" u="none" strike="noStrike" cap="none">
                <a:solidFill>
                  <a:srgbClr val="F0F0F0"/>
                </a:solidFill>
                <a:latin typeface="Calibri"/>
                <a:ea typeface="Calibri"/>
                <a:cs typeface="Calibri"/>
                <a:sym typeface="Calibri"/>
              </a:rPr>
              <a:t>moyennes de classe de Z</a:t>
            </a:r>
            <a:endParaRPr sz="1100"/>
          </a:p>
        </p:txBody>
      </p:sp>
      <p:sp>
        <p:nvSpPr>
          <p:cNvPr id="244" name="Google Shape;244;p32"/>
          <p:cNvSpPr/>
          <p:nvPr/>
        </p:nvSpPr>
        <p:spPr>
          <a:xfrm>
            <a:off x="4732146" y="2263140"/>
            <a:ext cx="1920291" cy="960120"/>
          </a:xfrm>
          <a:prstGeom prst="roundRect">
            <a:avLst>
              <a:gd name="adj" fmla="val 16667"/>
            </a:avLst>
          </a:prstGeom>
          <a:solidFill>
            <a:srgbClr val="2980B9"/>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100" b="1" i="0" u="none" strike="noStrike" cap="none">
                <a:solidFill>
                  <a:srgbClr val="FFFFFF"/>
                </a:solidFill>
                <a:latin typeface="Calibri"/>
                <a:ea typeface="Calibri"/>
                <a:cs typeface="Calibri"/>
                <a:sym typeface="Calibri"/>
              </a:rPr>
              <a:t>3. Décomposition SVD</a:t>
            </a:r>
            <a:endParaRPr sz="1100"/>
          </a:p>
          <a:p>
            <a:pPr marL="0" marR="0" lvl="0" indent="0" algn="ctr" rtl="0">
              <a:spcBef>
                <a:spcPts val="0"/>
              </a:spcBef>
              <a:spcAft>
                <a:spcPts val="0"/>
              </a:spcAft>
              <a:buNone/>
            </a:pPr>
            <a:r>
              <a:rPr lang="en" sz="900" b="0" i="0" u="none" strike="noStrike" cap="none">
                <a:solidFill>
                  <a:srgbClr val="F0F0F0"/>
                </a:solidFill>
                <a:latin typeface="Calibri"/>
                <a:ea typeface="Calibri"/>
                <a:cs typeface="Calibri"/>
                <a:sym typeface="Calibri"/>
              </a:rPr>
              <a:t>Décomposer pour</a:t>
            </a:r>
            <a:br>
              <a:rPr lang="en" sz="900" b="0" i="0" u="none" strike="noStrike" cap="none">
                <a:solidFill>
                  <a:srgbClr val="F0F0F0"/>
                </a:solidFill>
                <a:latin typeface="Calibri"/>
                <a:ea typeface="Calibri"/>
                <a:cs typeface="Calibri"/>
                <a:sym typeface="Calibri"/>
              </a:rPr>
            </a:br>
            <a:r>
              <a:rPr lang="en" sz="900" b="0" i="0" u="none" strike="noStrike" cap="none">
                <a:solidFill>
                  <a:srgbClr val="F0F0F0"/>
                </a:solidFill>
                <a:latin typeface="Calibri"/>
                <a:ea typeface="Calibri"/>
                <a:cs typeface="Calibri"/>
                <a:sym typeface="Calibri"/>
              </a:rPr>
              <a:t>gérer la singularité</a:t>
            </a:r>
            <a:br>
              <a:rPr lang="en" sz="900" b="0" i="0" u="none" strike="noStrike" cap="none">
                <a:solidFill>
                  <a:srgbClr val="F0F0F0"/>
                </a:solidFill>
                <a:latin typeface="Calibri"/>
                <a:ea typeface="Calibri"/>
                <a:cs typeface="Calibri"/>
                <a:sym typeface="Calibri"/>
              </a:rPr>
            </a:br>
            <a:r>
              <a:rPr lang="en" sz="900" b="0" i="0" u="none" strike="noStrike" cap="none">
                <a:solidFill>
                  <a:srgbClr val="F0F0F0"/>
                </a:solidFill>
                <a:latin typeface="Calibri"/>
                <a:ea typeface="Calibri"/>
                <a:cs typeface="Calibri"/>
                <a:sym typeface="Calibri"/>
              </a:rPr>
              <a:t>Z = UΣVᵀ</a:t>
            </a:r>
            <a:endParaRPr sz="1100"/>
          </a:p>
        </p:txBody>
      </p:sp>
      <p:sp>
        <p:nvSpPr>
          <p:cNvPr id="245" name="Google Shape;245;p32"/>
          <p:cNvSpPr/>
          <p:nvPr/>
        </p:nvSpPr>
        <p:spPr>
          <a:xfrm>
            <a:off x="6926765" y="2263140"/>
            <a:ext cx="1920291" cy="960120"/>
          </a:xfrm>
          <a:prstGeom prst="roundRect">
            <a:avLst>
              <a:gd name="adj" fmla="val 16667"/>
            </a:avLst>
          </a:prstGeom>
          <a:solidFill>
            <a:srgbClr val="27AE60"/>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100" b="1" i="0" u="none" strike="noStrike" cap="none">
                <a:solidFill>
                  <a:srgbClr val="FFFFFF"/>
                </a:solidFill>
                <a:latin typeface="Calibri"/>
                <a:ea typeface="Calibri"/>
                <a:cs typeface="Calibri"/>
                <a:sym typeface="Calibri"/>
              </a:rPr>
              <a:t>4. Projeter</a:t>
            </a:r>
            <a:endParaRPr sz="1100"/>
          </a:p>
          <a:p>
            <a:pPr marL="0" marR="0" lvl="0" indent="0" algn="ctr" rtl="0">
              <a:spcBef>
                <a:spcPts val="0"/>
              </a:spcBef>
              <a:spcAft>
                <a:spcPts val="0"/>
              </a:spcAft>
              <a:buNone/>
            </a:pPr>
            <a:r>
              <a:rPr lang="en" sz="900" b="0" i="0" u="none" strike="noStrike" cap="none">
                <a:solidFill>
                  <a:srgbClr val="F0F0F0"/>
                </a:solidFill>
                <a:latin typeface="Calibri"/>
                <a:ea typeface="Calibri"/>
                <a:cs typeface="Calibri"/>
                <a:sym typeface="Calibri"/>
              </a:rPr>
              <a:t>Calculer les scores</a:t>
            </a:r>
            <a:br>
              <a:rPr lang="en" sz="900" b="0" i="0" u="none" strike="noStrike" cap="none">
                <a:solidFill>
                  <a:srgbClr val="F0F0F0"/>
                </a:solidFill>
                <a:latin typeface="Calibri"/>
                <a:ea typeface="Calibri"/>
                <a:cs typeface="Calibri"/>
                <a:sym typeface="Calibri"/>
              </a:rPr>
            </a:br>
            <a:r>
              <a:rPr lang="en" sz="900" b="0" i="0" u="none" strike="noStrike" cap="none">
                <a:solidFill>
                  <a:srgbClr val="F0F0F0"/>
                </a:solidFill>
                <a:latin typeface="Calibri"/>
                <a:ea typeface="Calibri"/>
                <a:cs typeface="Calibri"/>
                <a:sym typeface="Calibri"/>
              </a:rPr>
              <a:t>x* = Z · v₁</a:t>
            </a:r>
            <a:br>
              <a:rPr lang="en" sz="900" b="0" i="0" u="none" strike="noStrike" cap="none">
                <a:solidFill>
                  <a:srgbClr val="F0F0F0"/>
                </a:solidFill>
                <a:latin typeface="Calibri"/>
                <a:ea typeface="Calibri"/>
                <a:cs typeface="Calibri"/>
                <a:sym typeface="Calibri"/>
              </a:rPr>
            </a:br>
            <a:r>
              <a:rPr lang="en" sz="900" b="0" i="0" u="none" strike="noStrike" cap="none">
                <a:solidFill>
                  <a:srgbClr val="F0F0F0"/>
                </a:solidFill>
                <a:latin typeface="Calibri"/>
                <a:ea typeface="Calibri"/>
                <a:cs typeface="Calibri"/>
                <a:sym typeface="Calibri"/>
              </a:rPr>
              <a:t>(premier composant)</a:t>
            </a:r>
            <a:endParaRPr sz="1100"/>
          </a:p>
        </p:txBody>
      </p:sp>
      <p:sp>
        <p:nvSpPr>
          <p:cNvPr id="246" name="Google Shape;246;p32"/>
          <p:cNvSpPr/>
          <p:nvPr/>
        </p:nvSpPr>
        <p:spPr>
          <a:xfrm>
            <a:off x="342909" y="3429000"/>
            <a:ext cx="8435565" cy="1371600"/>
          </a:xfrm>
          <a:prstGeom prst="roundRect">
            <a:avLst>
              <a:gd name="adj" fmla="val 16667"/>
            </a:avLst>
          </a:prstGeom>
          <a:solidFill>
            <a:srgbClr val="FFFFFF"/>
          </a:solidFill>
          <a:ln w="9525" cap="flat" cmpd="sng">
            <a:solidFill>
              <a:srgbClr val="969696"/>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b="1">
                <a:solidFill>
                  <a:srgbClr val="19375F"/>
                </a:solidFill>
                <a:latin typeface="Calibri"/>
                <a:ea typeface="Calibri"/>
                <a:cs typeface="Calibri"/>
                <a:sym typeface="Calibri"/>
              </a:rPr>
              <a:t>Pourquoi</a:t>
            </a:r>
            <a:r>
              <a:rPr lang="en" sz="1400" b="1" i="0" u="none" strike="noStrike" cap="none">
                <a:solidFill>
                  <a:srgbClr val="19375F"/>
                </a:solidFill>
                <a:latin typeface="Calibri"/>
                <a:ea typeface="Calibri"/>
                <a:cs typeface="Calibri"/>
                <a:sym typeface="Calibri"/>
              </a:rPr>
              <a:t> CRIMCOORDS </a:t>
            </a:r>
            <a:r>
              <a:rPr lang="en" b="1">
                <a:solidFill>
                  <a:srgbClr val="19375F"/>
                </a:solidFill>
                <a:latin typeface="Calibri"/>
                <a:ea typeface="Calibri"/>
                <a:cs typeface="Calibri"/>
                <a:sym typeface="Calibri"/>
              </a:rPr>
              <a:t>est</a:t>
            </a:r>
            <a:r>
              <a:rPr lang="en" sz="1400" b="1" i="0" u="none" strike="noStrike" cap="none">
                <a:solidFill>
                  <a:srgbClr val="19375F"/>
                </a:solidFill>
                <a:latin typeface="Calibri"/>
                <a:ea typeface="Calibri"/>
                <a:cs typeface="Calibri"/>
                <a:sym typeface="Calibri"/>
              </a:rPr>
              <a:t> Essenti</a:t>
            </a:r>
            <a:r>
              <a:rPr lang="en" b="1">
                <a:solidFill>
                  <a:srgbClr val="19375F"/>
                </a:solidFill>
                <a:latin typeface="Calibri"/>
                <a:ea typeface="Calibri"/>
                <a:cs typeface="Calibri"/>
                <a:sym typeface="Calibri"/>
              </a:rPr>
              <a:t>e</a:t>
            </a:r>
            <a:r>
              <a:rPr lang="en" sz="1400" b="1" i="0" u="none" strike="noStrike" cap="none">
                <a:solidFill>
                  <a:srgbClr val="19375F"/>
                </a:solidFill>
                <a:latin typeface="Calibri"/>
                <a:ea typeface="Calibri"/>
                <a:cs typeface="Calibri"/>
                <a:sym typeface="Calibri"/>
              </a:rPr>
              <a:t>l:</a:t>
            </a:r>
            <a:endParaRPr sz="1100"/>
          </a:p>
          <a:p>
            <a:pPr marL="0" marR="0" lvl="0" indent="0" algn="l" rtl="0">
              <a:spcBef>
                <a:spcPts val="0"/>
              </a:spcBef>
              <a:spcAft>
                <a:spcPts val="0"/>
              </a:spcAft>
              <a:buNone/>
            </a:pPr>
            <a:r>
              <a:rPr lang="en" sz="1100" b="0" i="0" u="none" strike="noStrike" cap="none">
                <a:solidFill>
                  <a:srgbClr val="3C3C3C"/>
                </a:solidFill>
                <a:latin typeface="Calibri"/>
                <a:ea typeface="Calibri"/>
                <a:cs typeface="Calibri"/>
                <a:sym typeface="Calibri"/>
              </a:rPr>
              <a:t>• Problème de Matrice Singulière : L'encodage one-hot crée des colonnes linéairement dépendantes (elles somment à 1)</a:t>
            </a:r>
            <a:endParaRPr sz="1100"/>
          </a:p>
          <a:p>
            <a:pPr marL="0" marR="0" lvl="0" indent="0" algn="l" rtl="0">
              <a:spcBef>
                <a:spcPts val="0"/>
              </a:spcBef>
              <a:spcAft>
                <a:spcPts val="0"/>
              </a:spcAft>
              <a:buNone/>
            </a:pPr>
            <a:r>
              <a:rPr lang="en" sz="1100" b="0" i="0" u="none" strike="noStrike" cap="none">
                <a:solidFill>
                  <a:srgbClr val="3C3C3C"/>
                </a:solidFill>
                <a:latin typeface="Calibri"/>
                <a:ea typeface="Calibri"/>
                <a:cs typeface="Calibri"/>
                <a:sym typeface="Calibri"/>
              </a:rPr>
              <a:t>• Solution SVD : La Décomposition en Valeurs Singulières extrait les composantes significatives</a:t>
            </a:r>
            <a:endParaRPr sz="1100"/>
          </a:p>
          <a:p>
            <a:pPr marL="0" marR="0" lvl="0" indent="0" algn="l" rtl="0">
              <a:spcBef>
                <a:spcPts val="0"/>
              </a:spcBef>
              <a:spcAft>
                <a:spcPts val="0"/>
              </a:spcAft>
              <a:buNone/>
            </a:pPr>
            <a:r>
              <a:rPr lang="en" sz="1100" b="0" i="0" u="none" strike="noStrike" cap="none">
                <a:solidFill>
                  <a:srgbClr val="3C3C3C"/>
                </a:solidFill>
                <a:latin typeface="Calibri"/>
                <a:ea typeface="Calibri"/>
                <a:cs typeface="Calibri"/>
                <a:sym typeface="Calibri"/>
              </a:rPr>
              <a:t>• Préserve la Discrimination : La projection maximise la séparation entre classes</a:t>
            </a:r>
            <a:endParaRPr sz="1100"/>
          </a:p>
          <a:p>
            <a:pPr marL="0" marR="0" lvl="0" indent="0" algn="l" rtl="0">
              <a:spcBef>
                <a:spcPts val="0"/>
              </a:spcBef>
              <a:spcAft>
                <a:spcPts val="0"/>
              </a:spcAft>
              <a:buNone/>
            </a:pPr>
            <a:r>
              <a:rPr lang="en" sz="1100" b="0" i="0" u="none" strike="noStrike" cap="none">
                <a:solidFill>
                  <a:srgbClr val="3C3C3C"/>
                </a:solidFill>
                <a:latin typeface="Calibri"/>
                <a:ea typeface="Calibri"/>
                <a:cs typeface="Calibri"/>
                <a:sym typeface="Calibri"/>
              </a:rPr>
              <a:t>• Permet une Coupure Binaire : La valeur numérique transformée peut être soumise à un seuil comme les variables continues</a:t>
            </a:r>
            <a:endParaRPr sz="1100"/>
          </a:p>
        </p:txBody>
      </p:sp>
      <p:sp>
        <p:nvSpPr>
          <p:cNvPr id="247" name="Google Shape;247;p32"/>
          <p:cNvSpPr/>
          <p:nvPr/>
        </p:nvSpPr>
        <p:spPr>
          <a:xfrm>
            <a:off x="2283663" y="2658450"/>
            <a:ext cx="233400" cy="1695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48" name="Google Shape;248;p32"/>
          <p:cNvSpPr/>
          <p:nvPr/>
        </p:nvSpPr>
        <p:spPr>
          <a:xfrm>
            <a:off x="4478285" y="2658441"/>
            <a:ext cx="233400" cy="1695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49" name="Google Shape;249;p32"/>
          <p:cNvSpPr/>
          <p:nvPr/>
        </p:nvSpPr>
        <p:spPr>
          <a:xfrm>
            <a:off x="6672900" y="2658450"/>
            <a:ext cx="233400" cy="1695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3"/>
          <p:cNvSpPr/>
          <p:nvPr/>
        </p:nvSpPr>
        <p:spPr>
          <a:xfrm>
            <a:off x="0" y="0"/>
            <a:ext cx="9144015" cy="822960"/>
          </a:xfrm>
          <a:prstGeom prst="rect">
            <a:avLst/>
          </a:prstGeom>
          <a:solidFill>
            <a:srgbClr val="19375F"/>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256" name="Google Shape;256;p33"/>
          <p:cNvSpPr txBox="1"/>
          <p:nvPr/>
        </p:nvSpPr>
        <p:spPr>
          <a:xfrm>
            <a:off x="342909" y="205740"/>
            <a:ext cx="8458197" cy="54864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2700" b="1" i="0" u="none" strike="noStrike" cap="none">
                <a:solidFill>
                  <a:srgbClr val="FFFFFF"/>
                </a:solidFill>
                <a:latin typeface="Calibri"/>
                <a:ea typeface="Calibri"/>
                <a:cs typeface="Calibri"/>
                <a:sym typeface="Calibri"/>
              </a:rPr>
              <a:t>Algorithme 1 : Sélection du Point de Coupure (ADQ)</a:t>
            </a:r>
            <a:endParaRPr sz="1100"/>
          </a:p>
        </p:txBody>
      </p:sp>
      <p:sp>
        <p:nvSpPr>
          <p:cNvPr id="257" name="Google Shape;257;p33"/>
          <p:cNvSpPr/>
          <p:nvPr/>
        </p:nvSpPr>
        <p:spPr>
          <a:xfrm>
            <a:off x="342909" y="960120"/>
            <a:ext cx="4114910" cy="1508760"/>
          </a:xfrm>
          <a:prstGeom prst="roundRect">
            <a:avLst>
              <a:gd name="adj" fmla="val 16667"/>
            </a:avLst>
          </a:prstGeom>
          <a:solidFill>
            <a:srgbClr val="2980B9"/>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500" b="1" i="0" u="none" strike="noStrike" cap="none">
                <a:solidFill>
                  <a:srgbClr val="FFFFFF"/>
                </a:solidFill>
                <a:latin typeface="Calibri"/>
                <a:ea typeface="Calibri"/>
                <a:cs typeface="Calibri"/>
                <a:sym typeface="Calibri"/>
              </a:rPr>
              <a:t>Analyse Discriminante Quadratique</a:t>
            </a:r>
            <a:endParaRPr sz="1100"/>
          </a:p>
          <a:p>
            <a:pPr marL="0" marR="0" lvl="0" indent="0" algn="l" rtl="0">
              <a:spcBef>
                <a:spcPts val="0"/>
              </a:spcBef>
              <a:spcAft>
                <a:spcPts val="0"/>
              </a:spcAft>
              <a:buNone/>
            </a:pPr>
            <a:br>
              <a:rPr lang="en" sz="1100" b="0" i="0" u="none" strike="noStrike" cap="none">
                <a:solidFill>
                  <a:srgbClr val="DCE6F0"/>
                </a:solidFill>
                <a:latin typeface="Calibri"/>
                <a:ea typeface="Calibri"/>
                <a:cs typeface="Calibri"/>
                <a:sym typeface="Calibri"/>
              </a:rPr>
            </a:br>
            <a:r>
              <a:rPr lang="en" sz="1100" b="0" i="0" u="none" strike="noStrike" cap="none">
                <a:solidFill>
                  <a:srgbClr val="DCE6F0"/>
                </a:solidFill>
                <a:latin typeface="Calibri"/>
                <a:ea typeface="Calibri"/>
                <a:cs typeface="Calibri"/>
                <a:sym typeface="Calibri"/>
              </a:rPr>
              <a:t>• Suppose que les classes suivent des distributions normales</a:t>
            </a:r>
            <a:endParaRPr sz="1100"/>
          </a:p>
          <a:p>
            <a:pPr marL="0" marR="0" lvl="0" indent="0" algn="l" rtl="0">
              <a:spcBef>
                <a:spcPts val="0"/>
              </a:spcBef>
              <a:spcAft>
                <a:spcPts val="0"/>
              </a:spcAft>
              <a:buNone/>
            </a:pPr>
            <a:r>
              <a:rPr lang="en" sz="1100" b="0" i="0" u="none" strike="noStrike" cap="none">
                <a:solidFill>
                  <a:srgbClr val="DCE6F0"/>
                </a:solidFill>
                <a:latin typeface="Calibri"/>
                <a:ea typeface="Calibri"/>
                <a:cs typeface="Calibri"/>
                <a:sym typeface="Calibri"/>
              </a:rPr>
              <a:t>• Chaque classe a sa propre moyenne (μ) et variance (σ²)</a:t>
            </a:r>
            <a:endParaRPr sz="1100"/>
          </a:p>
          <a:p>
            <a:pPr marL="0" marR="0" lvl="0" indent="0" algn="l" rtl="0">
              <a:spcBef>
                <a:spcPts val="0"/>
              </a:spcBef>
              <a:spcAft>
                <a:spcPts val="0"/>
              </a:spcAft>
              <a:buNone/>
            </a:pPr>
            <a:r>
              <a:rPr lang="en" sz="1100" b="0" i="0" u="none" strike="noStrike" cap="none">
                <a:solidFill>
                  <a:srgbClr val="DCE6F0"/>
                </a:solidFill>
                <a:latin typeface="Calibri"/>
                <a:ea typeface="Calibri"/>
                <a:cs typeface="Calibri"/>
                <a:sym typeface="Calibri"/>
              </a:rPr>
              <a:t>• Trouver la frontière où les probabilités postérieures sont égales</a:t>
            </a:r>
            <a:endParaRPr sz="1100"/>
          </a:p>
          <a:p>
            <a:pPr marL="0" marR="0" lvl="0" indent="0" algn="l" rtl="0">
              <a:spcBef>
                <a:spcPts val="0"/>
              </a:spcBef>
              <a:spcAft>
                <a:spcPts val="0"/>
              </a:spcAft>
              <a:buNone/>
            </a:pPr>
            <a:r>
              <a:rPr lang="en" sz="1100" b="0" i="0" u="none" strike="noStrike" cap="none">
                <a:solidFill>
                  <a:srgbClr val="DCE6F0"/>
                </a:solidFill>
                <a:latin typeface="Calibri"/>
                <a:ea typeface="Calibri"/>
                <a:cs typeface="Calibri"/>
                <a:sym typeface="Calibri"/>
              </a:rPr>
              <a:t>• Pour J &gt; 2 classes : utiliser les deux plus grandes classes</a:t>
            </a:r>
            <a:endParaRPr sz="1100"/>
          </a:p>
        </p:txBody>
      </p:sp>
      <p:sp>
        <p:nvSpPr>
          <p:cNvPr id="258" name="Google Shape;258;p33"/>
          <p:cNvSpPr/>
          <p:nvPr/>
        </p:nvSpPr>
        <p:spPr>
          <a:xfrm>
            <a:off x="4663564" y="960120"/>
            <a:ext cx="4114910" cy="1508760"/>
          </a:xfrm>
          <a:prstGeom prst="roundRect">
            <a:avLst>
              <a:gd name="adj" fmla="val 16667"/>
            </a:avLst>
          </a:prstGeom>
          <a:solidFill>
            <a:srgbClr val="FFFFFF"/>
          </a:solidFill>
          <a:ln w="9525" cap="flat" cmpd="sng">
            <a:solidFill>
              <a:srgbClr val="646464"/>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400" b="1" i="0" u="none" strike="noStrike" cap="none">
                <a:solidFill>
                  <a:srgbClr val="323232"/>
                </a:solidFill>
                <a:latin typeface="Calibri"/>
                <a:ea typeface="Calibri"/>
                <a:cs typeface="Calibri"/>
                <a:sym typeface="Calibri"/>
              </a:rPr>
              <a:t>L'Équation Quadratique :</a:t>
            </a:r>
            <a:endParaRPr sz="1100"/>
          </a:p>
          <a:p>
            <a:pPr marL="0" marR="0" lvl="0" indent="0" algn="ctr" rtl="0">
              <a:spcBef>
                <a:spcPts val="0"/>
              </a:spcBef>
              <a:spcAft>
                <a:spcPts val="0"/>
              </a:spcAft>
              <a:buNone/>
            </a:pPr>
            <a:br>
              <a:rPr lang="en" sz="1500" b="0" i="0" u="none" strike="noStrike" cap="none">
                <a:solidFill>
                  <a:srgbClr val="2980B9"/>
                </a:solidFill>
                <a:latin typeface="Calibri"/>
                <a:ea typeface="Calibri"/>
                <a:cs typeface="Calibri"/>
                <a:sym typeface="Calibri"/>
              </a:rPr>
            </a:br>
            <a:r>
              <a:rPr lang="en" sz="1500" b="0" i="0" u="none" strike="noStrike" cap="none">
                <a:solidFill>
                  <a:srgbClr val="2980B9"/>
                </a:solidFill>
                <a:latin typeface="Calibri"/>
                <a:ea typeface="Calibri"/>
                <a:cs typeface="Calibri"/>
                <a:sym typeface="Calibri"/>
              </a:rPr>
              <a:t>    ax² + bx + c = 0</a:t>
            </a:r>
            <a:endParaRPr sz="1100">
              <a:solidFill>
                <a:srgbClr val="505050"/>
              </a:solidFill>
              <a:latin typeface="Calibri"/>
              <a:ea typeface="Calibri"/>
              <a:cs typeface="Calibri"/>
              <a:sym typeface="Calibri"/>
            </a:endParaRPr>
          </a:p>
          <a:p>
            <a:pPr marL="0" marR="0" lvl="0" indent="0" algn="l" rtl="0">
              <a:spcBef>
                <a:spcPts val="0"/>
              </a:spcBef>
              <a:spcAft>
                <a:spcPts val="0"/>
              </a:spcAft>
              <a:buNone/>
            </a:pPr>
            <a:r>
              <a:rPr lang="en" sz="1300" b="0" i="0" u="none" strike="noStrike" cap="none">
                <a:solidFill>
                  <a:srgbClr val="505050"/>
                </a:solidFill>
                <a:latin typeface="Calibri"/>
                <a:ea typeface="Calibri"/>
                <a:cs typeface="Calibri"/>
                <a:sym typeface="Calibri"/>
              </a:rPr>
              <a:t>où :</a:t>
            </a:r>
            <a:endParaRPr sz="1300"/>
          </a:p>
          <a:p>
            <a:pPr marL="0" marR="0" lvl="0" indent="0" algn="l" rtl="0">
              <a:spcBef>
                <a:spcPts val="0"/>
              </a:spcBef>
              <a:spcAft>
                <a:spcPts val="0"/>
              </a:spcAft>
              <a:buNone/>
            </a:pPr>
            <a:r>
              <a:rPr lang="en" sz="1300" b="0" i="0" u="none" strike="noStrike" cap="none">
                <a:solidFill>
                  <a:srgbClr val="505050"/>
                </a:solidFill>
                <a:latin typeface="Calibri"/>
                <a:ea typeface="Calibri"/>
                <a:cs typeface="Calibri"/>
                <a:sym typeface="Calibri"/>
              </a:rPr>
              <a:t>a = σ₁² - σ₂²</a:t>
            </a:r>
            <a:endParaRPr sz="1300"/>
          </a:p>
          <a:p>
            <a:pPr marL="0" marR="0" lvl="0" indent="0" algn="l" rtl="0">
              <a:spcBef>
                <a:spcPts val="0"/>
              </a:spcBef>
              <a:spcAft>
                <a:spcPts val="0"/>
              </a:spcAft>
              <a:buNone/>
            </a:pPr>
            <a:r>
              <a:rPr lang="en" sz="1300" b="0" i="0" u="none" strike="noStrike" cap="none">
                <a:solidFill>
                  <a:srgbClr val="505050"/>
                </a:solidFill>
                <a:latin typeface="Calibri"/>
                <a:ea typeface="Calibri"/>
                <a:cs typeface="Calibri"/>
                <a:sym typeface="Calibri"/>
              </a:rPr>
              <a:t>b = 2(μ₁σ₂² - μ₂σ₁²)</a:t>
            </a:r>
            <a:endParaRPr sz="1300"/>
          </a:p>
          <a:p>
            <a:pPr marL="0" marR="0" lvl="0" indent="0" algn="l" rtl="0">
              <a:spcBef>
                <a:spcPts val="0"/>
              </a:spcBef>
              <a:spcAft>
                <a:spcPts val="0"/>
              </a:spcAft>
              <a:buNone/>
            </a:pPr>
            <a:r>
              <a:rPr lang="en" sz="1100" b="0" i="0" u="none" strike="noStrike" cap="none">
                <a:solidFill>
                  <a:srgbClr val="505050"/>
                </a:solidFill>
                <a:latin typeface="Calibri"/>
                <a:ea typeface="Calibri"/>
                <a:cs typeface="Calibri"/>
                <a:sym typeface="Calibri"/>
              </a:rPr>
              <a:t>c = σ₁²μ₂² - σ₂²μ₁² + 2σ₁²σ₂² ln(σ₁π₂/σ₂π₁)</a:t>
            </a:r>
            <a:endParaRPr sz="1300"/>
          </a:p>
        </p:txBody>
      </p:sp>
      <p:sp>
        <p:nvSpPr>
          <p:cNvPr id="259" name="Google Shape;259;p33"/>
          <p:cNvSpPr txBox="1"/>
          <p:nvPr/>
        </p:nvSpPr>
        <p:spPr>
          <a:xfrm>
            <a:off x="342909" y="2674620"/>
            <a:ext cx="8435565" cy="2057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200" b="0" i="0" u="none" strike="noStrike" cap="none">
                <a:solidFill>
                  <a:srgbClr val="323232"/>
                </a:solidFill>
                <a:latin typeface="Calibri"/>
                <a:ea typeface="Calibri"/>
                <a:cs typeface="Calibri"/>
                <a:sym typeface="Calibri"/>
              </a:rPr>
              <a:t>1. Identifier les Deux Plus Grandes Classes : Si multiclasse, se concentrer sur les deux classes les plus fréquentes</a:t>
            </a:r>
            <a:endParaRPr sz="1100"/>
          </a:p>
          <a:p>
            <a:pPr marL="0" marR="0" lvl="0" indent="0" algn="l" rtl="0">
              <a:spcBef>
                <a:spcPts val="600"/>
              </a:spcBef>
              <a:spcAft>
                <a:spcPts val="0"/>
              </a:spcAft>
              <a:buNone/>
            </a:pPr>
            <a:r>
              <a:rPr lang="en" sz="1200" b="0" i="0" u="none" strike="noStrike" cap="none">
                <a:solidFill>
                  <a:srgbClr val="323232"/>
                </a:solidFill>
                <a:latin typeface="Calibri"/>
                <a:ea typeface="Calibri"/>
                <a:cs typeface="Calibri"/>
                <a:sym typeface="Calibri"/>
              </a:rPr>
              <a:t>2. Estimer les Paramètres : Calculer μ₁, μ₂ (moyennes) et σ₁², σ₂² (variances) pour chaque classe</a:t>
            </a:r>
            <a:endParaRPr sz="1100"/>
          </a:p>
          <a:p>
            <a:pPr marL="0" marR="0" lvl="0" indent="0" algn="l" rtl="0">
              <a:spcBef>
                <a:spcPts val="600"/>
              </a:spcBef>
              <a:spcAft>
                <a:spcPts val="0"/>
              </a:spcAft>
              <a:buNone/>
            </a:pPr>
            <a:r>
              <a:rPr lang="en" sz="1200" b="0" i="0" u="none" strike="noStrike" cap="none">
                <a:solidFill>
                  <a:srgbClr val="323232"/>
                </a:solidFill>
                <a:latin typeface="Calibri"/>
                <a:ea typeface="Calibri"/>
                <a:cs typeface="Calibri"/>
                <a:sym typeface="Calibri"/>
              </a:rPr>
              <a:t>3. Résoudre l'Équation Quadratique : Utiliser la formule quadratique pour trouver les racines</a:t>
            </a:r>
            <a:endParaRPr sz="1100"/>
          </a:p>
          <a:p>
            <a:pPr marL="0" marR="0" lvl="0" indent="0" algn="l" rtl="0">
              <a:spcBef>
                <a:spcPts val="600"/>
              </a:spcBef>
              <a:spcAft>
                <a:spcPts val="0"/>
              </a:spcAft>
              <a:buNone/>
            </a:pPr>
            <a:r>
              <a:rPr lang="en" sz="1200" b="0" i="0" u="none" strike="noStrike" cap="none">
                <a:solidFill>
                  <a:srgbClr val="323232"/>
                </a:solidFill>
                <a:latin typeface="Calibri"/>
                <a:ea typeface="Calibri"/>
                <a:cs typeface="Calibri"/>
                <a:sym typeface="Calibri"/>
              </a:rPr>
              <a:t>4. Sélectionner la Racine Valide : Choisir la racine qui se situe entre les moyennes des classes (μ₁ &lt; x* &lt; μ₂)</a:t>
            </a:r>
            <a:endParaRPr sz="1100"/>
          </a:p>
          <a:p>
            <a:pPr marL="0" marR="0" lvl="0" indent="0" algn="l" rtl="0">
              <a:spcBef>
                <a:spcPts val="600"/>
              </a:spcBef>
              <a:spcAft>
                <a:spcPts val="0"/>
              </a:spcAft>
              <a:buNone/>
            </a:pPr>
            <a:r>
              <a:rPr lang="en" sz="1200" b="0" i="0" u="none" strike="noStrike" cap="none">
                <a:solidFill>
                  <a:srgbClr val="323232"/>
                </a:solidFill>
                <a:latin typeface="Calibri"/>
                <a:ea typeface="Calibri"/>
                <a:cs typeface="Calibri"/>
                <a:sym typeface="Calibri"/>
              </a:rPr>
              <a:t>5. Gérer les Cas Particuliers : Si pas de racine valide, utiliser le point médian des moyennes ; si variances égales, utiliser l'ADL</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4"/>
          <p:cNvSpPr/>
          <p:nvPr/>
        </p:nvSpPr>
        <p:spPr>
          <a:xfrm>
            <a:off x="0" y="0"/>
            <a:ext cx="9144015" cy="822960"/>
          </a:xfrm>
          <a:prstGeom prst="rect">
            <a:avLst/>
          </a:prstGeom>
          <a:solidFill>
            <a:srgbClr val="19375F"/>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266" name="Google Shape;266;p34"/>
          <p:cNvSpPr txBox="1"/>
          <p:nvPr/>
        </p:nvSpPr>
        <p:spPr>
          <a:xfrm>
            <a:off x="342909" y="205740"/>
            <a:ext cx="8458197" cy="54864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2700" b="1" i="0" u="none" strike="noStrike" cap="none" dirty="0">
                <a:solidFill>
                  <a:srgbClr val="FFFFFF"/>
                </a:solidFill>
                <a:latin typeface="Calibri"/>
                <a:ea typeface="Calibri"/>
                <a:cs typeface="Calibri"/>
                <a:sym typeface="Calibri"/>
              </a:rPr>
              <a:t>Processus de Construction de l'Arbre</a:t>
            </a:r>
            <a:endParaRPr sz="1100" dirty="0"/>
          </a:p>
        </p:txBody>
      </p:sp>
      <p:sp>
        <p:nvSpPr>
          <p:cNvPr id="267" name="Google Shape;267;p34"/>
          <p:cNvSpPr/>
          <p:nvPr/>
        </p:nvSpPr>
        <p:spPr>
          <a:xfrm>
            <a:off x="354284" y="1371600"/>
            <a:ext cx="4114800" cy="2400300"/>
          </a:xfrm>
          <a:prstGeom prst="roundRect">
            <a:avLst>
              <a:gd name="adj" fmla="val 16667"/>
            </a:avLst>
          </a:prstGeom>
          <a:solidFill>
            <a:srgbClr val="FFFFFF"/>
          </a:solidFill>
          <a:ln w="9525" cap="flat" cmpd="sng">
            <a:solidFill>
              <a:srgbClr val="2980B9"/>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500" b="1" i="0" u="none" strike="noStrike" cap="none" dirty="0">
                <a:solidFill>
                  <a:srgbClr val="2980B9"/>
                </a:solidFill>
                <a:latin typeface="Calibri"/>
                <a:ea typeface="Calibri"/>
                <a:cs typeface="Calibri"/>
                <a:sym typeface="Calibri"/>
              </a:rPr>
              <a:t>Processus de Croissance Récursif</a:t>
            </a:r>
            <a:endParaRPr sz="1100" dirty="0"/>
          </a:p>
          <a:p>
            <a:pPr marL="0" marR="0" lvl="0" indent="0" algn="l" rtl="0">
              <a:spcBef>
                <a:spcPts val="0"/>
              </a:spcBef>
              <a:spcAft>
                <a:spcPts val="0"/>
              </a:spcAft>
              <a:buNone/>
            </a:pPr>
            <a:br>
              <a:rPr lang="en" sz="1100" b="0" i="0" u="none" strike="noStrike" cap="none" dirty="0">
                <a:solidFill>
                  <a:srgbClr val="3C3C3C"/>
                </a:solidFill>
                <a:latin typeface="Calibri"/>
                <a:ea typeface="Calibri"/>
                <a:cs typeface="Calibri"/>
                <a:sym typeface="Calibri"/>
              </a:rPr>
            </a:br>
            <a:r>
              <a:rPr lang="en" sz="1100" b="0" i="0" u="none" strike="noStrike" cap="none" dirty="0">
                <a:solidFill>
                  <a:srgbClr val="3C3C3C"/>
                </a:solidFill>
                <a:latin typeface="Calibri"/>
                <a:ea typeface="Calibri"/>
                <a:cs typeface="Calibri"/>
                <a:sym typeface="Calibri"/>
              </a:rPr>
              <a:t>1. Début à la racine (toutes les données d'entraînement)</a:t>
            </a:r>
            <a:endParaRPr sz="1100" dirty="0"/>
          </a:p>
          <a:p>
            <a:pPr marL="0" marR="0" lvl="0" indent="0" algn="l" rtl="0">
              <a:spcBef>
                <a:spcPts val="0"/>
              </a:spcBef>
              <a:spcAft>
                <a:spcPts val="0"/>
              </a:spcAft>
              <a:buNone/>
            </a:pPr>
            <a:r>
              <a:rPr lang="en" sz="1100" b="0" i="0" u="none" strike="noStrike" cap="none" dirty="0">
                <a:solidFill>
                  <a:srgbClr val="3C3C3C"/>
                </a:solidFill>
                <a:latin typeface="Calibri"/>
                <a:ea typeface="Calibri"/>
                <a:cs typeface="Calibri"/>
                <a:sym typeface="Calibri"/>
              </a:rPr>
              <a:t>2. Appliquer l'Algorithme 3 → sélectionner la meilleure variable</a:t>
            </a:r>
            <a:endParaRPr sz="1100" dirty="0"/>
          </a:p>
          <a:p>
            <a:pPr marL="0" marR="0" lvl="0" indent="0" algn="l" rtl="0">
              <a:spcBef>
                <a:spcPts val="0"/>
              </a:spcBef>
              <a:spcAft>
                <a:spcPts val="0"/>
              </a:spcAft>
              <a:buNone/>
            </a:pPr>
            <a:r>
              <a:rPr lang="en" sz="1100" b="0" i="0" u="none" strike="noStrike" cap="none" dirty="0">
                <a:solidFill>
                  <a:srgbClr val="3C3C3C"/>
                </a:solidFill>
                <a:latin typeface="Calibri"/>
                <a:ea typeface="Calibri"/>
                <a:cs typeface="Calibri"/>
                <a:sym typeface="Calibri"/>
              </a:rPr>
              <a:t>3. Si catégorielle → appliquer l'Algorithme 2</a:t>
            </a:r>
            <a:endParaRPr sz="1100" dirty="0"/>
          </a:p>
          <a:p>
            <a:pPr marL="0" marR="0" lvl="0" indent="0" algn="l" rtl="0">
              <a:spcBef>
                <a:spcPts val="0"/>
              </a:spcBef>
              <a:spcAft>
                <a:spcPts val="0"/>
              </a:spcAft>
              <a:buNone/>
            </a:pPr>
            <a:r>
              <a:rPr lang="en" sz="1100" b="0" i="0" u="none" strike="noStrike" cap="none" dirty="0">
                <a:solidFill>
                  <a:srgbClr val="3C3C3C"/>
                </a:solidFill>
                <a:latin typeface="Calibri"/>
                <a:ea typeface="Calibri"/>
                <a:cs typeface="Calibri"/>
                <a:sym typeface="Calibri"/>
              </a:rPr>
              <a:t>4. Appliquer l'Algorithme 1 → trouver le seuil de coupure</a:t>
            </a:r>
            <a:endParaRPr sz="1100" dirty="0"/>
          </a:p>
          <a:p>
            <a:pPr marL="0" marR="0" lvl="0" indent="0" algn="l" rtl="0">
              <a:spcBef>
                <a:spcPts val="0"/>
              </a:spcBef>
              <a:spcAft>
                <a:spcPts val="0"/>
              </a:spcAft>
              <a:buNone/>
            </a:pPr>
            <a:r>
              <a:rPr lang="en" sz="1100" b="0" i="0" u="none" strike="noStrike" cap="none" dirty="0">
                <a:solidFill>
                  <a:srgbClr val="3C3C3C"/>
                </a:solidFill>
                <a:latin typeface="Calibri"/>
                <a:ea typeface="Calibri"/>
                <a:cs typeface="Calibri"/>
                <a:sym typeface="Calibri"/>
              </a:rPr>
              <a:t>5. Créer deux nœuds fils sur la base du seuil</a:t>
            </a:r>
            <a:endParaRPr sz="1100" dirty="0"/>
          </a:p>
          <a:p>
            <a:pPr marL="0" marR="0" lvl="0" indent="0" algn="l" rtl="0">
              <a:spcBef>
                <a:spcPts val="0"/>
              </a:spcBef>
              <a:spcAft>
                <a:spcPts val="0"/>
              </a:spcAft>
              <a:buNone/>
            </a:pPr>
            <a:r>
              <a:rPr lang="en" sz="1100" b="0" i="0" u="none" strike="noStrike" cap="none" dirty="0">
                <a:solidFill>
                  <a:srgbClr val="3C3C3C"/>
                </a:solidFill>
                <a:latin typeface="Calibri"/>
                <a:ea typeface="Calibri"/>
                <a:cs typeface="Calibri"/>
                <a:sym typeface="Calibri"/>
              </a:rPr>
              <a:t>6. Assigner les données : gauche (≤ seuil), droite (&gt; seuil)</a:t>
            </a:r>
            <a:endParaRPr sz="1100" dirty="0"/>
          </a:p>
          <a:p>
            <a:pPr marL="0" marR="0" lvl="0" indent="0" algn="l" rtl="0">
              <a:spcBef>
                <a:spcPts val="0"/>
              </a:spcBef>
              <a:spcAft>
                <a:spcPts val="0"/>
              </a:spcAft>
              <a:buNone/>
            </a:pPr>
            <a:r>
              <a:rPr lang="en" sz="1100" b="0" i="0" u="none" strike="noStrike" cap="none" dirty="0">
                <a:solidFill>
                  <a:srgbClr val="3C3C3C"/>
                </a:solidFill>
                <a:latin typeface="Calibri"/>
                <a:ea typeface="Calibri"/>
                <a:cs typeface="Calibri"/>
                <a:sym typeface="Calibri"/>
              </a:rPr>
              <a:t>7. Récurser sur chaque nœud fils</a:t>
            </a:r>
            <a:endParaRPr sz="1100" dirty="0"/>
          </a:p>
          <a:p>
            <a:pPr marL="0" marR="0" lvl="0" indent="0" algn="l" rtl="0">
              <a:spcBef>
                <a:spcPts val="0"/>
              </a:spcBef>
              <a:spcAft>
                <a:spcPts val="0"/>
              </a:spcAft>
              <a:buNone/>
            </a:pPr>
            <a:r>
              <a:rPr lang="en" sz="1100" b="0" i="0" u="none" strike="noStrike" cap="none" dirty="0">
                <a:solidFill>
                  <a:srgbClr val="3C3C3C"/>
                </a:solidFill>
                <a:latin typeface="Calibri"/>
                <a:ea typeface="Calibri"/>
                <a:cs typeface="Calibri"/>
                <a:sym typeface="Calibri"/>
              </a:rPr>
              <a:t>8. Continuer jusqu'à ce que la condition d'arrêt soit atteinte</a:t>
            </a:r>
            <a:endParaRPr sz="1100" dirty="0"/>
          </a:p>
        </p:txBody>
      </p:sp>
      <p:sp>
        <p:nvSpPr>
          <p:cNvPr id="268" name="Google Shape;268;p34"/>
          <p:cNvSpPr/>
          <p:nvPr/>
        </p:nvSpPr>
        <p:spPr>
          <a:xfrm>
            <a:off x="4674939" y="1371600"/>
            <a:ext cx="4114800" cy="2400300"/>
          </a:xfrm>
          <a:prstGeom prst="roundRect">
            <a:avLst>
              <a:gd name="adj" fmla="val 16667"/>
            </a:avLst>
          </a:prstGeom>
          <a:solidFill>
            <a:srgbClr val="FFF8F0"/>
          </a:solidFill>
          <a:ln w="9525" cap="flat" cmpd="sng">
            <a:solidFill>
              <a:srgbClr val="E67E2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500" b="1" i="0" u="none" strike="noStrike" cap="none" dirty="0">
                <a:solidFill>
                  <a:srgbClr val="C86414"/>
                </a:solidFill>
                <a:latin typeface="Calibri"/>
                <a:ea typeface="Calibri"/>
                <a:cs typeface="Calibri"/>
                <a:sym typeface="Calibri"/>
              </a:rPr>
              <a:t>Conditions d'Arrêt</a:t>
            </a:r>
            <a:endParaRPr sz="1100" dirty="0"/>
          </a:p>
          <a:p>
            <a:pPr marL="0" marR="0" lvl="0" indent="0" algn="l" rtl="0">
              <a:spcBef>
                <a:spcPts val="0"/>
              </a:spcBef>
              <a:spcAft>
                <a:spcPts val="0"/>
              </a:spcAft>
              <a:buNone/>
            </a:pPr>
            <a:r>
              <a:rPr lang="en" sz="1000" b="0" i="0" u="none" strike="noStrike" cap="none" dirty="0">
                <a:solidFill>
                  <a:srgbClr val="503C28"/>
                </a:solidFill>
                <a:latin typeface="Calibri"/>
                <a:ea typeface="Calibri"/>
                <a:cs typeface="Calibri"/>
                <a:sym typeface="Calibri"/>
              </a:rPr>
              <a:t>Nœud Pur :</a:t>
            </a:r>
            <a:endParaRPr sz="1100" dirty="0"/>
          </a:p>
          <a:p>
            <a:pPr marL="0" marR="0" lvl="0" indent="0" algn="l" rtl="0">
              <a:spcBef>
                <a:spcPts val="0"/>
              </a:spcBef>
              <a:spcAft>
                <a:spcPts val="0"/>
              </a:spcAft>
              <a:buNone/>
            </a:pPr>
            <a:r>
              <a:rPr lang="en" sz="1000" b="0" i="0" u="none" strike="noStrike" cap="none" dirty="0">
                <a:solidFill>
                  <a:srgbClr val="503C28"/>
                </a:solidFill>
                <a:latin typeface="Calibri"/>
                <a:ea typeface="Calibri"/>
                <a:cs typeface="Calibri"/>
                <a:sym typeface="Calibri"/>
              </a:rPr>
              <a:t>    Tous les échantillons appartiennent à une classe</a:t>
            </a:r>
            <a:endParaRPr sz="1100" dirty="0"/>
          </a:p>
          <a:p>
            <a:pPr marL="0" marR="0" lvl="0" indent="0" algn="l" rtl="0">
              <a:spcBef>
                <a:spcPts val="0"/>
              </a:spcBef>
              <a:spcAft>
                <a:spcPts val="0"/>
              </a:spcAft>
              <a:buNone/>
            </a:pPr>
            <a:br>
              <a:rPr lang="en" sz="1000" b="0" i="0" u="none" strike="noStrike" cap="none" dirty="0">
                <a:solidFill>
                  <a:srgbClr val="503C28"/>
                </a:solidFill>
                <a:latin typeface="Calibri"/>
                <a:ea typeface="Calibri"/>
                <a:cs typeface="Calibri"/>
                <a:sym typeface="Calibri"/>
              </a:rPr>
            </a:br>
            <a:r>
              <a:rPr lang="en" sz="1000" b="0" i="0" u="none" strike="noStrike" cap="none" dirty="0">
                <a:solidFill>
                  <a:srgbClr val="503C28"/>
                </a:solidFill>
                <a:latin typeface="Calibri"/>
                <a:ea typeface="Calibri"/>
                <a:cs typeface="Calibri"/>
                <a:sym typeface="Calibri"/>
              </a:rPr>
              <a:t>Profondeur Maximale Atteinte :</a:t>
            </a:r>
            <a:endParaRPr sz="1100" dirty="0"/>
          </a:p>
          <a:p>
            <a:pPr marL="0" marR="0" lvl="0" indent="0" algn="l" rtl="0">
              <a:spcBef>
                <a:spcPts val="0"/>
              </a:spcBef>
              <a:spcAft>
                <a:spcPts val="0"/>
              </a:spcAft>
              <a:buNone/>
            </a:pPr>
            <a:r>
              <a:rPr lang="en" sz="1000" b="0" i="0" u="none" strike="noStrike" cap="none" dirty="0">
                <a:solidFill>
                  <a:srgbClr val="503C28"/>
                </a:solidFill>
                <a:latin typeface="Calibri"/>
                <a:ea typeface="Calibri"/>
                <a:cs typeface="Calibri"/>
                <a:sym typeface="Calibri"/>
              </a:rPr>
              <a:t>    L'arbre a atteint la limite spécifiée</a:t>
            </a:r>
            <a:endParaRPr sz="1100" dirty="0"/>
          </a:p>
          <a:p>
            <a:pPr marL="0" marR="0" lvl="0" indent="0" algn="l" rtl="0">
              <a:spcBef>
                <a:spcPts val="0"/>
              </a:spcBef>
              <a:spcAft>
                <a:spcPts val="0"/>
              </a:spcAft>
              <a:buNone/>
            </a:pPr>
            <a:br>
              <a:rPr lang="en" sz="1000" b="0" i="0" u="none" strike="noStrike" cap="none" dirty="0">
                <a:solidFill>
                  <a:srgbClr val="503C28"/>
                </a:solidFill>
                <a:latin typeface="Calibri"/>
                <a:ea typeface="Calibri"/>
                <a:cs typeface="Calibri"/>
                <a:sym typeface="Calibri"/>
              </a:rPr>
            </a:br>
            <a:r>
              <a:rPr lang="en" sz="1000" b="0" i="0" u="none" strike="noStrike" cap="none" dirty="0">
                <a:solidFill>
                  <a:srgbClr val="503C28"/>
                </a:solidFill>
                <a:latin typeface="Calibri"/>
                <a:ea typeface="Calibri"/>
                <a:cs typeface="Calibri"/>
                <a:sym typeface="Calibri"/>
              </a:rPr>
              <a:t>Nombre Minimum d'Échantillons : </a:t>
            </a:r>
            <a:endParaRPr sz="1100" dirty="0"/>
          </a:p>
          <a:p>
            <a:pPr marL="0" marR="0" lvl="0" indent="0" algn="l" rtl="0">
              <a:spcBef>
                <a:spcPts val="0"/>
              </a:spcBef>
              <a:spcAft>
                <a:spcPts val="0"/>
              </a:spcAft>
              <a:buNone/>
            </a:pPr>
            <a:r>
              <a:rPr lang="en" sz="1000" b="0" i="0" u="none" strike="noStrike" cap="none" dirty="0">
                <a:solidFill>
                  <a:srgbClr val="503C28"/>
                </a:solidFill>
                <a:latin typeface="Calibri"/>
                <a:ea typeface="Calibri"/>
                <a:cs typeface="Calibri"/>
                <a:sym typeface="Calibri"/>
              </a:rPr>
              <a:t>    Le nœud a moins d'échantillons que le seuil</a:t>
            </a:r>
            <a:endParaRPr sz="1100" dirty="0"/>
          </a:p>
          <a:p>
            <a:pPr marL="0" marR="0" lvl="0" indent="0" algn="l" rtl="0">
              <a:spcBef>
                <a:spcPts val="0"/>
              </a:spcBef>
              <a:spcAft>
                <a:spcPts val="0"/>
              </a:spcAft>
              <a:buNone/>
            </a:pPr>
            <a:br>
              <a:rPr lang="en" sz="1000" b="0" i="0" u="none" strike="noStrike" cap="none" dirty="0">
                <a:solidFill>
                  <a:srgbClr val="503C28"/>
                </a:solidFill>
                <a:latin typeface="Calibri"/>
                <a:ea typeface="Calibri"/>
                <a:cs typeface="Calibri"/>
                <a:sym typeface="Calibri"/>
              </a:rPr>
            </a:br>
            <a:r>
              <a:rPr lang="en" sz="1000" b="0" i="0" u="none" strike="noStrike" cap="none" dirty="0">
                <a:solidFill>
                  <a:srgbClr val="503C28"/>
                </a:solidFill>
                <a:latin typeface="Calibri"/>
                <a:ea typeface="Calibri"/>
                <a:cs typeface="Calibri"/>
                <a:sym typeface="Calibri"/>
              </a:rPr>
              <a:t>Aucune Variable Significative :</a:t>
            </a:r>
            <a:endParaRPr sz="1100" dirty="0"/>
          </a:p>
          <a:p>
            <a:pPr marL="0" marR="0" lvl="0" indent="0" algn="l" rtl="0">
              <a:spcBef>
                <a:spcPts val="0"/>
              </a:spcBef>
              <a:spcAft>
                <a:spcPts val="0"/>
              </a:spcAft>
              <a:buNone/>
            </a:pPr>
            <a:r>
              <a:rPr lang="en" sz="1000" b="0" i="0" u="none" strike="noStrike" cap="none" dirty="0">
                <a:solidFill>
                  <a:srgbClr val="503C28"/>
                </a:solidFill>
                <a:latin typeface="Calibri"/>
                <a:ea typeface="Calibri"/>
                <a:cs typeface="Calibri"/>
                <a:sym typeface="Calibri"/>
              </a:rPr>
              <a:t>    Toutes les p-valeurs dépassent le seuil de significativité</a:t>
            </a:r>
            <a:endParaRPr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65;p34"/>
          <p:cNvSpPr/>
          <p:nvPr/>
        </p:nvSpPr>
        <p:spPr>
          <a:xfrm>
            <a:off x="0" y="0"/>
            <a:ext cx="9144015" cy="822960"/>
          </a:xfrm>
          <a:prstGeom prst="rect">
            <a:avLst/>
          </a:prstGeom>
          <a:solidFill>
            <a:srgbClr val="19375F"/>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r>
              <a:rPr lang="fr-FR" sz="2800" b="1" dirty="0">
                <a:solidFill>
                  <a:schemeClr val="bg1"/>
                </a:solidFill>
                <a:latin typeface="Calibri" panose="020F0502020204030204" pitchFamily="34" charset="0"/>
                <a:ea typeface="Calibri" panose="020F0502020204030204" pitchFamily="34" charset="0"/>
                <a:cs typeface="Calibri" panose="020F0502020204030204" pitchFamily="34" charset="0"/>
              </a:rPr>
              <a:t>          Comparaison</a:t>
            </a:r>
            <a:r>
              <a:rPr lang="fr-FR" sz="2800" b="1" dirty="0">
                <a:solidFill>
                  <a:schemeClr val="bg1"/>
                </a:solidFill>
              </a:rPr>
              <a:t> </a:t>
            </a:r>
            <a:r>
              <a:rPr lang="fr-FR" sz="2800" b="1" dirty="0">
                <a:solidFill>
                  <a:schemeClr val="bg1"/>
                </a:solidFill>
                <a:latin typeface="Calibri" panose="020F0502020204030204" pitchFamily="34" charset="0"/>
                <a:ea typeface="Calibri" panose="020F0502020204030204" pitchFamily="34" charset="0"/>
                <a:cs typeface="Calibri" panose="020F0502020204030204" pitchFamily="34" charset="0"/>
              </a:rPr>
              <a:t>Méthodologique</a:t>
            </a:r>
            <a:r>
              <a:rPr lang="fr-FR" sz="2800" b="1" dirty="0">
                <a:solidFill>
                  <a:schemeClr val="bg1"/>
                </a:solidFill>
              </a:rPr>
              <a:t> QUEST vs </a:t>
            </a:r>
            <a:r>
              <a:rPr lang="fr-FR" sz="2800" b="1" dirty="0" err="1">
                <a:solidFill>
                  <a:schemeClr val="bg1"/>
                </a:solidFill>
              </a:rPr>
              <a:t>Rpart</a:t>
            </a:r>
            <a:endParaRPr lang="fr-FR" sz="2800" b="1" dirty="0">
              <a:solidFill>
                <a:schemeClr val="bg1"/>
              </a:solidFill>
            </a:endParaRPr>
          </a:p>
        </p:txBody>
      </p:sp>
      <p:sp>
        <p:nvSpPr>
          <p:cNvPr id="3" name="Google Shape;301;p37"/>
          <p:cNvSpPr/>
          <p:nvPr/>
        </p:nvSpPr>
        <p:spPr>
          <a:xfrm>
            <a:off x="516484" y="1078088"/>
            <a:ext cx="7114805" cy="784579"/>
          </a:xfrm>
          <a:prstGeom prst="roundRect">
            <a:avLst>
              <a:gd name="adj" fmla="val 16667"/>
            </a:avLst>
          </a:prstGeom>
          <a:solidFill>
            <a:srgbClr val="2980B9"/>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r>
              <a:rPr lang="fr-FR" sz="1500" b="1" dirty="0">
                <a:solidFill>
                  <a:schemeClr val="bg1"/>
                </a:solidFill>
              </a:rPr>
              <a:t>Objectif</a:t>
            </a:r>
            <a:r>
              <a:rPr lang="fr-FR" sz="1500" dirty="0">
                <a:solidFill>
                  <a:schemeClr val="bg1"/>
                </a:solidFill>
              </a:rPr>
              <a:t> : Évaluer les performances comparées de notre implémentation QUEST et de l'algorithme </a:t>
            </a:r>
            <a:r>
              <a:rPr lang="fr-FR" sz="1500" dirty="0" err="1">
                <a:solidFill>
                  <a:schemeClr val="bg1"/>
                </a:solidFill>
              </a:rPr>
              <a:t>rpart</a:t>
            </a:r>
            <a:r>
              <a:rPr lang="fr-FR" sz="1500" dirty="0">
                <a:solidFill>
                  <a:schemeClr val="bg1"/>
                </a:solidFill>
              </a:rPr>
              <a:t> (R) sur le </a:t>
            </a:r>
            <a:r>
              <a:rPr lang="fr-FR" sz="1500" dirty="0" err="1">
                <a:solidFill>
                  <a:schemeClr val="bg1"/>
                </a:solidFill>
              </a:rPr>
              <a:t>dataset</a:t>
            </a:r>
            <a:r>
              <a:rPr lang="fr-FR" sz="1500" dirty="0">
                <a:solidFill>
                  <a:schemeClr val="bg1"/>
                </a:solidFill>
              </a:rPr>
              <a:t> </a:t>
            </a:r>
            <a:r>
              <a:rPr lang="fr-FR" sz="1500" b="1" dirty="0">
                <a:solidFill>
                  <a:schemeClr val="bg1"/>
                </a:solidFill>
              </a:rPr>
              <a:t>Iris.</a:t>
            </a:r>
          </a:p>
          <a:p>
            <a:br>
              <a:rPr lang="fr-FR" sz="1100" dirty="0"/>
            </a:br>
            <a:endParaRPr sz="1100" dirty="0"/>
          </a:p>
        </p:txBody>
      </p:sp>
      <p:sp>
        <p:nvSpPr>
          <p:cNvPr id="5" name="Google Shape;267;p34"/>
          <p:cNvSpPr/>
          <p:nvPr/>
        </p:nvSpPr>
        <p:spPr>
          <a:xfrm>
            <a:off x="370389" y="2127923"/>
            <a:ext cx="4040821" cy="1749596"/>
          </a:xfrm>
          <a:prstGeom prst="roundRect">
            <a:avLst>
              <a:gd name="adj" fmla="val 16667"/>
            </a:avLst>
          </a:prstGeom>
          <a:solidFill>
            <a:srgbClr val="FFFFFF"/>
          </a:solidFill>
          <a:ln w="9525" cap="flat" cmpd="sng">
            <a:solidFill>
              <a:srgbClr val="2980B9"/>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500" b="1" dirty="0">
                <a:solidFill>
                  <a:srgbClr val="2980B9"/>
                </a:solidFill>
                <a:latin typeface="Calibri"/>
                <a:ea typeface="Calibri"/>
                <a:cs typeface="Calibri"/>
                <a:sym typeface="Calibri"/>
              </a:rPr>
              <a:t>QUEST Algorithm</a:t>
            </a:r>
            <a:endParaRPr sz="1100" dirty="0"/>
          </a:p>
          <a:p>
            <a:pPr lvl="0"/>
            <a:br>
              <a:rPr lang="en" sz="1100" b="0" i="0" u="none" strike="noStrike" cap="none" dirty="0">
                <a:solidFill>
                  <a:srgbClr val="3C3C3C"/>
                </a:solidFill>
                <a:latin typeface="Calibri"/>
                <a:ea typeface="Calibri"/>
                <a:cs typeface="Calibri"/>
                <a:sym typeface="Calibri"/>
              </a:rPr>
            </a:br>
            <a:r>
              <a:rPr lang="en" sz="1100" b="0" i="0" u="none" strike="noStrike" cap="none" dirty="0">
                <a:solidFill>
                  <a:srgbClr val="3C3C3C"/>
                </a:solidFill>
                <a:latin typeface="Calibri"/>
                <a:ea typeface="Calibri"/>
                <a:cs typeface="Calibri"/>
                <a:sym typeface="Calibri"/>
              </a:rPr>
              <a:t>1. </a:t>
            </a:r>
            <a:r>
              <a:rPr lang="fr-FR" sz="1200" dirty="0">
                <a:ea typeface="Calibri"/>
              </a:rPr>
              <a:t>A</a:t>
            </a:r>
            <a:r>
              <a:rPr lang="fr-FR" sz="1200" dirty="0"/>
              <a:t>rbre de décision binaire</a:t>
            </a:r>
            <a:r>
              <a:rPr lang="fr-FR" dirty="0"/>
              <a:t>.</a:t>
            </a:r>
            <a:endParaRPr sz="1100" dirty="0"/>
          </a:p>
          <a:p>
            <a:pPr lvl="0"/>
            <a:r>
              <a:rPr lang="en" sz="1200" b="0" i="0" u="none" strike="noStrike" cap="none" dirty="0">
                <a:solidFill>
                  <a:srgbClr val="3C3C3C"/>
                </a:solidFill>
                <a:latin typeface="Calibri"/>
                <a:ea typeface="Calibri"/>
                <a:cs typeface="Calibri"/>
                <a:sym typeface="Calibri"/>
              </a:rPr>
              <a:t>2. </a:t>
            </a:r>
            <a:r>
              <a:rPr lang="fr-FR" sz="1200" dirty="0">
                <a:ea typeface="Calibri"/>
              </a:rPr>
              <a:t>Élagage</a:t>
            </a:r>
            <a:r>
              <a:rPr lang="fr-FR" sz="1200" dirty="0"/>
              <a:t> par </a:t>
            </a:r>
            <a:r>
              <a:rPr lang="fr-FR" sz="1200" dirty="0" err="1"/>
              <a:t>cost-complexity</a:t>
            </a:r>
            <a:r>
              <a:rPr lang="fr-FR" sz="1200" dirty="0"/>
              <a:t> (</a:t>
            </a:r>
            <a:r>
              <a:rPr lang="fr-FR" sz="1200" dirty="0" err="1"/>
              <a:t>pruning</a:t>
            </a:r>
            <a:r>
              <a:rPr lang="fr-FR" sz="1200" dirty="0"/>
              <a:t>).</a:t>
            </a:r>
            <a:endParaRPr sz="1200" dirty="0"/>
          </a:p>
          <a:p>
            <a:pPr lvl="0"/>
            <a:r>
              <a:rPr lang="en" sz="1100" dirty="0">
                <a:solidFill>
                  <a:srgbClr val="3C3C3C"/>
                </a:solidFill>
                <a:latin typeface="Calibri"/>
                <a:ea typeface="Calibri"/>
                <a:cs typeface="Calibri"/>
                <a:sym typeface="Calibri"/>
              </a:rPr>
              <a:t>3</a:t>
            </a:r>
            <a:r>
              <a:rPr lang="en" sz="1100" b="0" i="0" u="none" strike="noStrike" cap="none" dirty="0">
                <a:solidFill>
                  <a:srgbClr val="3C3C3C"/>
                </a:solidFill>
                <a:latin typeface="Calibri"/>
                <a:ea typeface="Calibri"/>
                <a:cs typeface="Calibri"/>
                <a:sym typeface="Calibri"/>
              </a:rPr>
              <a:t>. </a:t>
            </a:r>
            <a:r>
              <a:rPr lang="fr-FR" sz="1200" dirty="0"/>
              <a:t>Tests statistiques pour le split (ANOVA et chi² )</a:t>
            </a:r>
            <a:endParaRPr sz="1200" dirty="0"/>
          </a:p>
          <a:p>
            <a:pPr lvl="0"/>
            <a:r>
              <a:rPr lang="en" sz="1100" dirty="0">
                <a:solidFill>
                  <a:srgbClr val="3C3C3C"/>
                </a:solidFill>
                <a:latin typeface="Calibri"/>
                <a:ea typeface="Calibri"/>
                <a:cs typeface="Calibri"/>
                <a:sym typeface="Calibri"/>
              </a:rPr>
              <a:t>4</a:t>
            </a:r>
            <a:r>
              <a:rPr lang="en" sz="1100" b="0" i="0" u="none" strike="noStrike" cap="none" dirty="0">
                <a:solidFill>
                  <a:srgbClr val="3C3C3C"/>
                </a:solidFill>
                <a:latin typeface="Calibri"/>
                <a:ea typeface="Calibri"/>
                <a:cs typeface="Calibri"/>
                <a:sym typeface="Calibri"/>
              </a:rPr>
              <a:t>. </a:t>
            </a:r>
            <a:r>
              <a:rPr lang="fr-FR" sz="1200" dirty="0"/>
              <a:t>Pour les variables continues, utilise QDA pour trouver le point de split optimal.</a:t>
            </a:r>
            <a:endParaRPr sz="1200" dirty="0"/>
          </a:p>
          <a:p>
            <a:pPr lvl="0"/>
            <a:r>
              <a:rPr lang="en" sz="1100" dirty="0">
                <a:solidFill>
                  <a:srgbClr val="3C3C3C"/>
                </a:solidFill>
                <a:latin typeface="Calibri"/>
                <a:ea typeface="Calibri"/>
                <a:cs typeface="Calibri"/>
                <a:sym typeface="Calibri"/>
              </a:rPr>
              <a:t>5</a:t>
            </a:r>
            <a:r>
              <a:rPr lang="en" sz="1100" b="0" i="0" u="none" strike="noStrike" cap="none" dirty="0">
                <a:solidFill>
                  <a:srgbClr val="3C3C3C"/>
                </a:solidFill>
                <a:latin typeface="Calibri"/>
                <a:ea typeface="Calibri"/>
                <a:cs typeface="Calibri"/>
                <a:sym typeface="Calibri"/>
              </a:rPr>
              <a:t>. </a:t>
            </a:r>
            <a:r>
              <a:rPr lang="fr-FR" sz="1200" dirty="0"/>
              <a:t>CRIMCOORDS pour transformer les variables catégorielles en continues, puis utilise QDA.</a:t>
            </a:r>
            <a:r>
              <a:rPr lang="en" sz="1200" b="0" i="0" u="none" strike="noStrike" cap="none" dirty="0">
                <a:solidFill>
                  <a:srgbClr val="3C3C3C"/>
                </a:solidFill>
                <a:latin typeface="Calibri"/>
                <a:ea typeface="Calibri"/>
                <a:cs typeface="Calibri"/>
                <a:sym typeface="Calibri"/>
              </a:rPr>
              <a:t> </a:t>
            </a:r>
            <a:endParaRPr sz="1200" dirty="0"/>
          </a:p>
        </p:txBody>
      </p:sp>
      <p:sp>
        <p:nvSpPr>
          <p:cNvPr id="8" name="Google Shape;267;p34"/>
          <p:cNvSpPr/>
          <p:nvPr/>
        </p:nvSpPr>
        <p:spPr>
          <a:xfrm>
            <a:off x="4572007" y="2117795"/>
            <a:ext cx="4450567" cy="1720427"/>
          </a:xfrm>
          <a:prstGeom prst="roundRect">
            <a:avLst>
              <a:gd name="adj" fmla="val 16667"/>
            </a:avLst>
          </a:prstGeom>
          <a:solidFill>
            <a:schemeClr val="accent6">
              <a:lumMod val="20000"/>
              <a:lumOff val="80000"/>
            </a:schemeClr>
          </a:solidFill>
          <a:ln w="9525" cap="flat" cmpd="sng">
            <a:solidFill>
              <a:srgbClr val="2980B9"/>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500" b="1" dirty="0">
                <a:solidFill>
                  <a:schemeClr val="accent6">
                    <a:lumMod val="75000"/>
                  </a:schemeClr>
                </a:solidFill>
                <a:latin typeface="Calibri"/>
                <a:ea typeface="Calibri"/>
                <a:cs typeface="Calibri"/>
                <a:sym typeface="Calibri"/>
              </a:rPr>
              <a:t>Rpart(CART++)</a:t>
            </a:r>
            <a:endParaRPr sz="1100" dirty="0">
              <a:solidFill>
                <a:schemeClr val="accent6">
                  <a:lumMod val="75000"/>
                </a:schemeClr>
              </a:solidFill>
            </a:endParaRPr>
          </a:p>
          <a:p>
            <a:pPr lvl="0"/>
            <a:br>
              <a:rPr lang="en" sz="1200" b="0" i="0" u="none" strike="noStrike" cap="none" dirty="0">
                <a:solidFill>
                  <a:srgbClr val="3C3C3C"/>
                </a:solidFill>
                <a:latin typeface="Calibri"/>
                <a:ea typeface="Calibri"/>
                <a:cs typeface="Calibri"/>
                <a:sym typeface="Calibri"/>
              </a:rPr>
            </a:br>
            <a:r>
              <a:rPr lang="en" sz="1200" b="0" i="0" u="none" strike="noStrike" cap="none" dirty="0">
                <a:solidFill>
                  <a:srgbClr val="3C3C3C"/>
                </a:solidFill>
                <a:latin typeface="Calibri"/>
                <a:ea typeface="Calibri"/>
                <a:cs typeface="Calibri"/>
                <a:sym typeface="Calibri"/>
              </a:rPr>
              <a:t>1</a:t>
            </a:r>
            <a:r>
              <a:rPr lang="en" sz="1200" b="0" i="0" u="none" strike="noStrike" cap="none" dirty="0">
                <a:solidFill>
                  <a:srgbClr val="3C3C3C"/>
                </a:solidFill>
                <a:latin typeface="+mn-lt"/>
                <a:ea typeface="Calibri"/>
                <a:cs typeface="Calibri"/>
                <a:sym typeface="Calibri"/>
              </a:rPr>
              <a:t>. Pruning plus </a:t>
            </a:r>
            <a:r>
              <a:rPr lang="fr-FR" sz="1200" b="0" i="0" u="none" strike="noStrike" cap="none" dirty="0">
                <a:solidFill>
                  <a:srgbClr val="3C3C3C"/>
                </a:solidFill>
                <a:latin typeface="+mn-lt"/>
                <a:ea typeface="Calibri"/>
                <a:cs typeface="Calibri"/>
                <a:sym typeface="Calibri"/>
              </a:rPr>
              <a:t>sophistiqué avec validation croisée intégrée.</a:t>
            </a:r>
            <a:r>
              <a:rPr lang="fr-FR" sz="1200" dirty="0">
                <a:latin typeface="+mn-lt"/>
              </a:rPr>
              <a:t> </a:t>
            </a:r>
            <a:endParaRPr sz="1200" dirty="0">
              <a:latin typeface="+mn-lt"/>
            </a:endParaRPr>
          </a:p>
          <a:p>
            <a:r>
              <a:rPr lang="en" sz="1100" b="0" i="0" u="none" strike="noStrike" cap="none" dirty="0">
                <a:solidFill>
                  <a:srgbClr val="3C3C3C"/>
                </a:solidFill>
                <a:latin typeface="Calibri"/>
                <a:ea typeface="Calibri"/>
                <a:cs typeface="Calibri"/>
                <a:sym typeface="Calibri"/>
              </a:rPr>
              <a:t>2. </a:t>
            </a:r>
            <a:r>
              <a:rPr lang="fr-FR" sz="1050" dirty="0">
                <a:solidFill>
                  <a:srgbClr val="3C3C3C"/>
                </a:solidFill>
                <a:latin typeface="Calibri"/>
                <a:ea typeface="Calibri"/>
                <a:cs typeface="Calibri"/>
                <a:sym typeface="Calibri"/>
              </a:rPr>
              <a:t> </a:t>
            </a:r>
            <a:r>
              <a:rPr lang="fr-FR" sz="1100" dirty="0">
                <a:ea typeface="Calibri"/>
              </a:rPr>
              <a:t>A</a:t>
            </a:r>
            <a:r>
              <a:rPr lang="fr-FR" sz="1100" dirty="0"/>
              <a:t>rbre de décision binaire.</a:t>
            </a:r>
            <a:endParaRPr lang="fr-FR" sz="1050" dirty="0"/>
          </a:p>
          <a:p>
            <a:pPr marL="228600" indent="-228600">
              <a:buAutoNum type="arabicPeriod" startAt="3"/>
            </a:pPr>
            <a:r>
              <a:rPr lang="fr-FR" sz="1100" dirty="0">
                <a:ea typeface="Calibri"/>
              </a:rPr>
              <a:t>Élagage</a:t>
            </a:r>
            <a:r>
              <a:rPr lang="fr-FR" sz="1100" dirty="0"/>
              <a:t> par </a:t>
            </a:r>
            <a:r>
              <a:rPr lang="fr-FR" sz="1100" dirty="0" err="1"/>
              <a:t>cost-complexity</a:t>
            </a:r>
            <a:r>
              <a:rPr lang="fr-FR" sz="1100" dirty="0"/>
              <a:t> (</a:t>
            </a:r>
            <a:r>
              <a:rPr lang="fr-FR" sz="1100" dirty="0" err="1"/>
              <a:t>pruning</a:t>
            </a:r>
            <a:r>
              <a:rPr lang="fr-FR" sz="1100" dirty="0"/>
              <a:t>)</a:t>
            </a:r>
          </a:p>
          <a:p>
            <a:pPr lvl="0"/>
            <a:r>
              <a:rPr lang="fr-FR" sz="1100" dirty="0"/>
              <a:t>4. </a:t>
            </a:r>
            <a:r>
              <a:rPr lang="fr-FR" sz="1200" dirty="0"/>
              <a:t>Mesure d'impureté (Gini ou entropie) et est biaisé en faveur des variables avec plus de catégories</a:t>
            </a:r>
            <a:r>
              <a:rPr lang="fr-FR" dirty="0"/>
              <a:t>.</a:t>
            </a:r>
          </a:p>
          <a:p>
            <a:pPr lvl="0"/>
            <a:r>
              <a:rPr lang="fr-FR" sz="1100" dirty="0"/>
              <a:t>5. </a:t>
            </a:r>
            <a:r>
              <a:rPr lang="fr-FR" sz="1200" dirty="0"/>
              <a:t>Recherche exhaustive tous les points de split possible</a:t>
            </a:r>
            <a:endParaRPr sz="1200" dirty="0"/>
          </a:p>
        </p:txBody>
      </p:sp>
      <p:sp>
        <p:nvSpPr>
          <p:cNvPr id="14" name="Rectangle 13"/>
          <p:cNvSpPr/>
          <p:nvPr/>
        </p:nvSpPr>
        <p:spPr>
          <a:xfrm>
            <a:off x="233680" y="4260860"/>
            <a:ext cx="5191760" cy="307777"/>
          </a:xfrm>
          <a:prstGeom prst="rect">
            <a:avLst/>
          </a:prstGeom>
        </p:spPr>
        <p:txBody>
          <a:bodyPr wrap="square">
            <a:spAutoFit/>
          </a:bodyPr>
          <a:lstStyle/>
          <a:p>
            <a:r>
              <a:rPr lang="fr-FR" b="1" dirty="0"/>
              <a:t>Données</a:t>
            </a:r>
            <a:r>
              <a:rPr lang="fr-FR" dirty="0"/>
              <a:t> : Iris </a:t>
            </a:r>
            <a:r>
              <a:rPr lang="fr-FR" dirty="0" err="1"/>
              <a:t>Dataset</a:t>
            </a:r>
            <a:r>
              <a:rPr lang="fr-FR" dirty="0"/>
              <a:t> (150 échantillons, 4 </a:t>
            </a:r>
            <a:r>
              <a:rPr lang="fr-FR" dirty="0" err="1"/>
              <a:t>features</a:t>
            </a:r>
            <a:r>
              <a:rPr lang="fr-FR" dirty="0"/>
              <a:t>, 3 classes)</a:t>
            </a:r>
          </a:p>
        </p:txBody>
      </p:sp>
    </p:spTree>
    <p:extLst>
      <p:ext uri="{BB962C8B-B14F-4D97-AF65-F5344CB8AC3E}">
        <p14:creationId xmlns:p14="http://schemas.microsoft.com/office/powerpoint/2010/main" val="2410269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65;p34"/>
          <p:cNvSpPr/>
          <p:nvPr/>
        </p:nvSpPr>
        <p:spPr>
          <a:xfrm>
            <a:off x="0" y="0"/>
            <a:ext cx="9144015" cy="822960"/>
          </a:xfrm>
          <a:prstGeom prst="rect">
            <a:avLst/>
          </a:prstGeom>
          <a:solidFill>
            <a:srgbClr val="19375F"/>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r>
              <a:rPr lang="fr-FR" sz="2800" b="1" dirty="0">
                <a:solidFill>
                  <a:schemeClr val="bg1"/>
                </a:solidFill>
                <a:latin typeface="Calibri" panose="020F0502020204030204" pitchFamily="34" charset="0"/>
                <a:ea typeface="Calibri" panose="020F0502020204030204" pitchFamily="34" charset="0"/>
                <a:cs typeface="Calibri" panose="020F0502020204030204" pitchFamily="34" charset="0"/>
              </a:rPr>
              <a:t>                                       Résultats</a:t>
            </a:r>
            <a:endParaRPr lang="fr-FR" sz="2800" b="1" dirty="0">
              <a:solidFill>
                <a:schemeClr val="bg1"/>
              </a:solidFill>
            </a:endParaRPr>
          </a:p>
        </p:txBody>
      </p:sp>
      <p:sp>
        <p:nvSpPr>
          <p:cNvPr id="4" name="Rectangle 1"/>
          <p:cNvSpPr>
            <a:spLocks noChangeArrowheads="1"/>
          </p:cNvSpPr>
          <p:nvPr/>
        </p:nvSpPr>
        <p:spPr bwMode="auto">
          <a:xfrm>
            <a:off x="155752" y="934669"/>
            <a:ext cx="2734204" cy="7385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2352" rIns="0" bIns="7617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500" b="1" i="0" u="none" strike="noStrike" cap="none" normalizeH="0" baseline="0" dirty="0">
                <a:ln>
                  <a:noFill/>
                </a:ln>
                <a:solidFill>
                  <a:schemeClr val="accent6">
                    <a:lumMod val="75000"/>
                  </a:schemeClr>
                </a:solidFill>
                <a:effectLst/>
                <a:latin typeface="quote-cjk-patch"/>
              </a:rPr>
              <a:t>📊 Métriques de Performance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graphicFrame>
        <p:nvGraphicFramePr>
          <p:cNvPr id="6" name="Tableau 5"/>
          <p:cNvGraphicFramePr>
            <a:graphicFrameLocks noGrp="1"/>
          </p:cNvGraphicFramePr>
          <p:nvPr>
            <p:extLst>
              <p:ext uri="{D42A27DB-BD31-4B8C-83A1-F6EECF244321}">
                <p14:modId xmlns:p14="http://schemas.microsoft.com/office/powerpoint/2010/main" val="737305981"/>
              </p:ext>
            </p:extLst>
          </p:nvPr>
        </p:nvGraphicFramePr>
        <p:xfrm>
          <a:off x="1524007" y="1898126"/>
          <a:ext cx="6096000" cy="2138878"/>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130683286"/>
                    </a:ext>
                  </a:extLst>
                </a:gridCol>
                <a:gridCol w="2032000">
                  <a:extLst>
                    <a:ext uri="{9D8B030D-6E8A-4147-A177-3AD203B41FA5}">
                      <a16:colId xmlns:a16="http://schemas.microsoft.com/office/drawing/2014/main" val="4225863959"/>
                    </a:ext>
                  </a:extLst>
                </a:gridCol>
                <a:gridCol w="2032000">
                  <a:extLst>
                    <a:ext uri="{9D8B030D-6E8A-4147-A177-3AD203B41FA5}">
                      <a16:colId xmlns:a16="http://schemas.microsoft.com/office/drawing/2014/main" val="208277628"/>
                    </a:ext>
                  </a:extLst>
                </a:gridCol>
              </a:tblGrid>
              <a:tr h="0">
                <a:tc>
                  <a:txBody>
                    <a:bodyPr/>
                    <a:lstStyle/>
                    <a:p>
                      <a:pPr algn="l"/>
                      <a:r>
                        <a:rPr lang="fr-FR" sz="1100" b="1" dirty="0">
                          <a:effectLst/>
                          <a:latin typeface="quote-cjk-patch"/>
                        </a:rPr>
                        <a:t>Métrique</a:t>
                      </a:r>
                      <a:endParaRPr lang="fr-FR" sz="1100" b="0" dirty="0">
                        <a:effectLst/>
                        <a:latin typeface="quote-cjk-patch"/>
                      </a:endParaRPr>
                    </a:p>
                  </a:txBody>
                  <a:tcPr marL="70222" marR="93630" marT="58519" marB="58519" anchor="ctr"/>
                </a:tc>
                <a:tc>
                  <a:txBody>
                    <a:bodyPr/>
                    <a:lstStyle/>
                    <a:p>
                      <a:pPr algn="l"/>
                      <a:r>
                        <a:rPr lang="fr-FR" sz="1100" b="1" dirty="0">
                          <a:effectLst/>
                          <a:latin typeface="quote-cjk-patch"/>
                        </a:rPr>
                        <a:t>QUEST (Python)</a:t>
                      </a:r>
                      <a:endParaRPr lang="fr-FR" sz="1100" b="0" dirty="0">
                        <a:effectLst/>
                        <a:latin typeface="quote-cjk-patch"/>
                      </a:endParaRPr>
                    </a:p>
                  </a:txBody>
                  <a:tcPr marL="93630" marR="93630" marT="58519" marB="58519" anchor="ctr"/>
                </a:tc>
                <a:tc>
                  <a:txBody>
                    <a:bodyPr/>
                    <a:lstStyle/>
                    <a:p>
                      <a:pPr algn="l"/>
                      <a:r>
                        <a:rPr lang="fr-FR" sz="1100" b="1" dirty="0" err="1">
                          <a:effectLst/>
                          <a:latin typeface="quote-cjk-patch"/>
                        </a:rPr>
                        <a:t>rpart</a:t>
                      </a:r>
                      <a:r>
                        <a:rPr lang="fr-FR" sz="1100" b="1" dirty="0">
                          <a:effectLst/>
                          <a:latin typeface="quote-cjk-patch"/>
                        </a:rPr>
                        <a:t> (R)</a:t>
                      </a:r>
                      <a:endParaRPr lang="fr-FR" sz="1100" b="0" dirty="0">
                        <a:effectLst/>
                        <a:latin typeface="quote-cjk-patch"/>
                      </a:endParaRPr>
                    </a:p>
                  </a:txBody>
                  <a:tcPr marL="93630" marR="93630" marT="58519" marB="58519" anchor="ctr"/>
                </a:tc>
                <a:extLst>
                  <a:ext uri="{0D108BD9-81ED-4DB2-BD59-A6C34878D82A}">
                    <a16:rowId xmlns:a16="http://schemas.microsoft.com/office/drawing/2014/main" val="215426167"/>
                  </a:ext>
                </a:extLst>
              </a:tr>
              <a:tr h="370840">
                <a:tc>
                  <a:txBody>
                    <a:bodyPr/>
                    <a:lstStyle/>
                    <a:p>
                      <a:r>
                        <a:rPr lang="fr-FR" sz="1100" b="1">
                          <a:effectLst/>
                          <a:latin typeface="quote-cjk-patch"/>
                        </a:rPr>
                        <a:t>Accuracy</a:t>
                      </a:r>
                      <a:endParaRPr lang="fr-FR" sz="1100" b="0">
                        <a:effectLst/>
                        <a:latin typeface="quote-cjk-patch"/>
                      </a:endParaRPr>
                    </a:p>
                  </a:txBody>
                  <a:tcPr marL="70222" marR="93630" marT="58519" marB="58519" anchor="ctr"/>
                </a:tc>
                <a:tc>
                  <a:txBody>
                    <a:bodyPr/>
                    <a:lstStyle/>
                    <a:p>
                      <a:r>
                        <a:rPr lang="fr-FR" sz="1100" b="0">
                          <a:effectLst/>
                          <a:latin typeface="quote-cjk-patch"/>
                        </a:rPr>
                        <a:t>0.8667</a:t>
                      </a:r>
                    </a:p>
                  </a:txBody>
                  <a:tcPr marL="93630" marR="93630" marT="58519" marB="58519" anchor="ctr"/>
                </a:tc>
                <a:tc>
                  <a:txBody>
                    <a:bodyPr/>
                    <a:lstStyle/>
                    <a:p>
                      <a:r>
                        <a:rPr lang="fr-FR" sz="1100" b="0">
                          <a:effectLst/>
                          <a:latin typeface="quote-cjk-patch"/>
                        </a:rPr>
                        <a:t>0.8889</a:t>
                      </a:r>
                    </a:p>
                  </a:txBody>
                  <a:tcPr marL="93630" marR="93630" marT="58519" marB="58519" anchor="ctr"/>
                </a:tc>
                <a:extLst>
                  <a:ext uri="{0D108BD9-81ED-4DB2-BD59-A6C34878D82A}">
                    <a16:rowId xmlns:a16="http://schemas.microsoft.com/office/drawing/2014/main" val="900015085"/>
                  </a:ext>
                </a:extLst>
              </a:tr>
              <a:tr h="370840">
                <a:tc>
                  <a:txBody>
                    <a:bodyPr/>
                    <a:lstStyle/>
                    <a:p>
                      <a:r>
                        <a:rPr lang="fr-FR" sz="1100" b="1">
                          <a:effectLst/>
                          <a:latin typeface="quote-cjk-patch"/>
                        </a:rPr>
                        <a:t>Balanced Accuracy</a:t>
                      </a:r>
                      <a:endParaRPr lang="fr-FR" sz="1100" b="0">
                        <a:effectLst/>
                        <a:latin typeface="quote-cjk-patch"/>
                      </a:endParaRPr>
                    </a:p>
                  </a:txBody>
                  <a:tcPr marL="70222" marR="93630" marT="58519" marB="58519" anchor="ctr"/>
                </a:tc>
                <a:tc>
                  <a:txBody>
                    <a:bodyPr/>
                    <a:lstStyle/>
                    <a:p>
                      <a:r>
                        <a:rPr lang="fr-FR" sz="1100" b="0" dirty="0">
                          <a:effectLst/>
                          <a:latin typeface="quote-cjk-patch"/>
                        </a:rPr>
                        <a:t>0.8667</a:t>
                      </a:r>
                    </a:p>
                  </a:txBody>
                  <a:tcPr marL="93630" marR="93630" marT="58519" marB="58519" anchor="ctr"/>
                </a:tc>
                <a:tc>
                  <a:txBody>
                    <a:bodyPr/>
                    <a:lstStyle/>
                    <a:p>
                      <a:r>
                        <a:rPr lang="fr-FR" sz="1100" b="0" dirty="0">
                          <a:effectLst/>
                          <a:latin typeface="quote-cjk-patch"/>
                        </a:rPr>
                        <a:t>0.8889</a:t>
                      </a:r>
                    </a:p>
                  </a:txBody>
                  <a:tcPr marL="93630" marR="93630" marT="58519" marB="58519" anchor="ctr"/>
                </a:tc>
                <a:extLst>
                  <a:ext uri="{0D108BD9-81ED-4DB2-BD59-A6C34878D82A}">
                    <a16:rowId xmlns:a16="http://schemas.microsoft.com/office/drawing/2014/main" val="2341544766"/>
                  </a:ext>
                </a:extLst>
              </a:tr>
              <a:tr h="370840">
                <a:tc>
                  <a:txBody>
                    <a:bodyPr/>
                    <a:lstStyle/>
                    <a:p>
                      <a:r>
                        <a:rPr lang="fr-FR" sz="1100" b="1">
                          <a:effectLst/>
                          <a:latin typeface="quote-cjk-patch"/>
                        </a:rPr>
                        <a:t>Macro F1-Score</a:t>
                      </a:r>
                      <a:endParaRPr lang="fr-FR" sz="1100" b="0">
                        <a:effectLst/>
                        <a:latin typeface="quote-cjk-patch"/>
                      </a:endParaRPr>
                    </a:p>
                  </a:txBody>
                  <a:tcPr marL="70222" marR="93630" marT="58519" marB="58519" anchor="ctr"/>
                </a:tc>
                <a:tc>
                  <a:txBody>
                    <a:bodyPr/>
                    <a:lstStyle/>
                    <a:p>
                      <a:r>
                        <a:rPr lang="fr-FR" sz="1100" b="0">
                          <a:effectLst/>
                          <a:latin typeface="quote-cjk-patch"/>
                        </a:rPr>
                        <a:t>0.8646</a:t>
                      </a:r>
                    </a:p>
                  </a:txBody>
                  <a:tcPr marL="93630" marR="93630" marT="58519" marB="58519" anchor="ctr"/>
                </a:tc>
                <a:tc>
                  <a:txBody>
                    <a:bodyPr/>
                    <a:lstStyle/>
                    <a:p>
                      <a:r>
                        <a:rPr lang="fr-FR" sz="1100" b="0" dirty="0">
                          <a:effectLst/>
                          <a:latin typeface="quote-cjk-patch"/>
                        </a:rPr>
                        <a:t>0.8888</a:t>
                      </a:r>
                    </a:p>
                  </a:txBody>
                  <a:tcPr marL="93630" marR="93630" marT="58519" marB="58519" anchor="ctr"/>
                </a:tc>
                <a:extLst>
                  <a:ext uri="{0D108BD9-81ED-4DB2-BD59-A6C34878D82A}">
                    <a16:rowId xmlns:a16="http://schemas.microsoft.com/office/drawing/2014/main" val="2782050042"/>
                  </a:ext>
                </a:extLst>
              </a:tr>
              <a:tr h="370840">
                <a:tc>
                  <a:txBody>
                    <a:bodyPr/>
                    <a:lstStyle/>
                    <a:p>
                      <a:r>
                        <a:rPr lang="fr-FR" sz="1100" b="1">
                          <a:effectLst/>
                          <a:latin typeface="quote-cjk-patch"/>
                        </a:rPr>
                        <a:t>Weighted F1-Score</a:t>
                      </a:r>
                      <a:endParaRPr lang="fr-FR" sz="1100" b="0">
                        <a:effectLst/>
                        <a:latin typeface="quote-cjk-patch"/>
                      </a:endParaRPr>
                    </a:p>
                  </a:txBody>
                  <a:tcPr marL="70222" marR="93630" marT="58519" marB="58519" anchor="ctr"/>
                </a:tc>
                <a:tc>
                  <a:txBody>
                    <a:bodyPr/>
                    <a:lstStyle/>
                    <a:p>
                      <a:r>
                        <a:rPr lang="fr-FR" sz="1100" b="0" dirty="0">
                          <a:effectLst/>
                          <a:latin typeface="quote-cjk-patch"/>
                        </a:rPr>
                        <a:t>0.8646</a:t>
                      </a:r>
                    </a:p>
                  </a:txBody>
                  <a:tcPr marL="93630" marR="93630" marT="58519" marB="58519" anchor="ctr"/>
                </a:tc>
                <a:tc>
                  <a:txBody>
                    <a:bodyPr/>
                    <a:lstStyle/>
                    <a:p>
                      <a:r>
                        <a:rPr lang="fr-FR" sz="1100" b="0">
                          <a:effectLst/>
                          <a:latin typeface="quote-cjk-patch"/>
                        </a:rPr>
                        <a:t>0.8888</a:t>
                      </a:r>
                    </a:p>
                  </a:txBody>
                  <a:tcPr marL="93630" marR="93630" marT="58519" marB="58519" anchor="ctr"/>
                </a:tc>
                <a:extLst>
                  <a:ext uri="{0D108BD9-81ED-4DB2-BD59-A6C34878D82A}">
                    <a16:rowId xmlns:a16="http://schemas.microsoft.com/office/drawing/2014/main" val="817096880"/>
                  </a:ext>
                </a:extLst>
              </a:tr>
              <a:tr h="37084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100" b="1" dirty="0">
                          <a:effectLst/>
                          <a:latin typeface="quote-cjk-patch"/>
                        </a:rPr>
                        <a:t>Matrice Confusion</a:t>
                      </a:r>
                      <a:endParaRPr lang="fr-FR" sz="1100" b="0" dirty="0">
                        <a:effectLst/>
                        <a:latin typeface="quote-cjk-patch"/>
                      </a:endParaRPr>
                    </a:p>
                  </a:txBody>
                  <a:tcPr marL="70222" marR="93630" marT="58519" marB="58519" anchor="ct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100" b="0" dirty="0">
                          <a:effectLst/>
                          <a:latin typeface="quote-cjk-patch"/>
                        </a:rPr>
                        <a:t>3 erreurs</a:t>
                      </a:r>
                    </a:p>
                  </a:txBody>
                  <a:tcPr marL="93630" marR="93630" marT="58519" marB="58519" anchor="ct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100" b="0" dirty="0">
                          <a:effectLst/>
                          <a:latin typeface="quote-cjk-patch"/>
                        </a:rPr>
                        <a:t>3 erreurs</a:t>
                      </a:r>
                    </a:p>
                  </a:txBody>
                  <a:tcPr marL="93630" marR="93630" marT="58519" marB="58519" anchor="ctr"/>
                </a:tc>
                <a:extLst>
                  <a:ext uri="{0D108BD9-81ED-4DB2-BD59-A6C34878D82A}">
                    <a16:rowId xmlns:a16="http://schemas.microsoft.com/office/drawing/2014/main" val="586388405"/>
                  </a:ext>
                </a:extLst>
              </a:tr>
            </a:tbl>
          </a:graphicData>
        </a:graphic>
      </p:graphicFrame>
    </p:spTree>
    <p:extLst>
      <p:ext uri="{BB962C8B-B14F-4D97-AF65-F5344CB8AC3E}">
        <p14:creationId xmlns:p14="http://schemas.microsoft.com/office/powerpoint/2010/main" val="2711139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5"/>
          <p:cNvSpPr/>
          <p:nvPr/>
        </p:nvSpPr>
        <p:spPr>
          <a:xfrm>
            <a:off x="0" y="0"/>
            <a:ext cx="9144015" cy="822960"/>
          </a:xfrm>
          <a:prstGeom prst="rect">
            <a:avLst/>
          </a:prstGeom>
          <a:solidFill>
            <a:srgbClr val="19375F"/>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275" name="Google Shape;275;p35"/>
          <p:cNvSpPr txBox="1"/>
          <p:nvPr/>
        </p:nvSpPr>
        <p:spPr>
          <a:xfrm>
            <a:off x="342909" y="205740"/>
            <a:ext cx="8458197" cy="54864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2700" b="1" i="0" u="none" strike="noStrike" cap="none">
                <a:solidFill>
                  <a:srgbClr val="FFFFFF"/>
                </a:solidFill>
                <a:latin typeface="Calibri"/>
                <a:ea typeface="Calibri"/>
                <a:cs typeface="Calibri"/>
                <a:sym typeface="Calibri"/>
              </a:rPr>
              <a:t>Forces de QUEST</a:t>
            </a:r>
            <a:endParaRPr sz="1100"/>
          </a:p>
        </p:txBody>
      </p:sp>
      <p:sp>
        <p:nvSpPr>
          <p:cNvPr id="276" name="Google Shape;276;p35"/>
          <p:cNvSpPr/>
          <p:nvPr/>
        </p:nvSpPr>
        <p:spPr>
          <a:xfrm>
            <a:off x="342909" y="960120"/>
            <a:ext cx="4183492" cy="1234440"/>
          </a:xfrm>
          <a:prstGeom prst="roundRect">
            <a:avLst>
              <a:gd name="adj" fmla="val 16667"/>
            </a:avLst>
          </a:prstGeom>
          <a:solidFill>
            <a:srgbClr val="FFFFFF"/>
          </a:solidFill>
          <a:ln w="9525" cap="flat" cmpd="sng">
            <a:solidFill>
              <a:srgbClr val="27AE6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400" b="1" i="0" u="none" strike="noStrike" cap="none">
                <a:solidFill>
                  <a:srgbClr val="27AE60"/>
                </a:solidFill>
                <a:latin typeface="Calibri"/>
                <a:ea typeface="Calibri"/>
                <a:cs typeface="Calibri"/>
                <a:sym typeface="Calibri"/>
              </a:rPr>
              <a:t>Non Biaisé Statistiquement</a:t>
            </a:r>
            <a:endParaRPr sz="1100"/>
          </a:p>
          <a:p>
            <a:pPr marL="0" marR="0" lvl="0" indent="0" algn="l" rtl="0">
              <a:spcBef>
                <a:spcPts val="0"/>
              </a:spcBef>
              <a:spcAft>
                <a:spcPts val="0"/>
              </a:spcAft>
              <a:buNone/>
            </a:pPr>
            <a:br>
              <a:rPr lang="en" sz="1100" b="0" i="0" u="none" strike="noStrike" cap="none">
                <a:solidFill>
                  <a:srgbClr val="464646"/>
                </a:solidFill>
                <a:latin typeface="Calibri"/>
                <a:ea typeface="Calibri"/>
                <a:cs typeface="Calibri"/>
                <a:sym typeface="Calibri"/>
              </a:rPr>
            </a:br>
            <a:r>
              <a:rPr lang="en" sz="1100" b="0" i="0" u="none" strike="noStrike" cap="none">
                <a:solidFill>
                  <a:srgbClr val="464646"/>
                </a:solidFill>
                <a:latin typeface="Calibri"/>
                <a:ea typeface="Calibri"/>
                <a:cs typeface="Calibri"/>
                <a:sym typeface="Calibri"/>
              </a:rPr>
              <a:t>Sélection de variable basée sur les p-valeurs, pas sur le nombre de coupures. Traitement égal pour toutes.</a:t>
            </a:r>
            <a:endParaRPr sz="1100"/>
          </a:p>
        </p:txBody>
      </p:sp>
      <p:sp>
        <p:nvSpPr>
          <p:cNvPr id="277" name="Google Shape;277;p35"/>
          <p:cNvSpPr/>
          <p:nvPr/>
        </p:nvSpPr>
        <p:spPr>
          <a:xfrm>
            <a:off x="4732146" y="960120"/>
            <a:ext cx="4183492" cy="1234440"/>
          </a:xfrm>
          <a:prstGeom prst="roundRect">
            <a:avLst>
              <a:gd name="adj" fmla="val 16667"/>
            </a:avLst>
          </a:prstGeom>
          <a:solidFill>
            <a:srgbClr val="FFFFFF"/>
          </a:solidFill>
          <a:ln w="9525" cap="flat" cmpd="sng">
            <a:solidFill>
              <a:srgbClr val="2980B9"/>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400" b="1" i="0" u="none" strike="noStrike" cap="none">
                <a:solidFill>
                  <a:srgbClr val="2980B9"/>
                </a:solidFill>
                <a:latin typeface="Calibri"/>
                <a:ea typeface="Calibri"/>
                <a:cs typeface="Calibri"/>
                <a:sym typeface="Calibri"/>
              </a:rPr>
              <a:t>Efficace Computationnellement</a:t>
            </a:r>
            <a:endParaRPr sz="1100"/>
          </a:p>
          <a:p>
            <a:pPr marL="0" marR="0" lvl="0" indent="0" algn="l" rtl="0">
              <a:spcBef>
                <a:spcPts val="0"/>
              </a:spcBef>
              <a:spcAft>
                <a:spcPts val="0"/>
              </a:spcAft>
              <a:buNone/>
            </a:pPr>
            <a:br>
              <a:rPr lang="en" sz="1100" b="0" i="0" u="none" strike="noStrike" cap="none">
                <a:solidFill>
                  <a:srgbClr val="464646"/>
                </a:solidFill>
                <a:latin typeface="Calibri"/>
                <a:ea typeface="Calibri"/>
                <a:cs typeface="Calibri"/>
                <a:sym typeface="Calibri"/>
              </a:rPr>
            </a:br>
            <a:r>
              <a:rPr lang="en" sz="1100" b="0" i="0" u="none" strike="noStrike" cap="none">
                <a:solidFill>
                  <a:srgbClr val="464646"/>
                </a:solidFill>
                <a:latin typeface="Calibri"/>
                <a:ea typeface="Calibri"/>
                <a:cs typeface="Calibri"/>
                <a:sym typeface="Calibri"/>
              </a:rPr>
              <a:t>Complexité O(np) vs O(n²p) pour CART. Passe bien à l'échelle sur les grandes données.</a:t>
            </a:r>
            <a:endParaRPr sz="1100"/>
          </a:p>
        </p:txBody>
      </p:sp>
      <p:sp>
        <p:nvSpPr>
          <p:cNvPr id="278" name="Google Shape;278;p35"/>
          <p:cNvSpPr/>
          <p:nvPr/>
        </p:nvSpPr>
        <p:spPr>
          <a:xfrm>
            <a:off x="342909" y="2331720"/>
            <a:ext cx="4183492" cy="1234440"/>
          </a:xfrm>
          <a:prstGeom prst="roundRect">
            <a:avLst>
              <a:gd name="adj" fmla="val 16667"/>
            </a:avLst>
          </a:prstGeom>
          <a:solidFill>
            <a:srgbClr val="FFFFFF"/>
          </a:solidFill>
          <a:ln w="9525" cap="flat" cmpd="sng">
            <a:solidFill>
              <a:srgbClr val="8E44AD"/>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400" b="1" i="0" u="none" strike="noStrike" cap="none">
                <a:solidFill>
                  <a:srgbClr val="8E44AD"/>
                </a:solidFill>
                <a:latin typeface="Calibri"/>
                <a:ea typeface="Calibri"/>
                <a:cs typeface="Calibri"/>
                <a:sym typeface="Calibri"/>
              </a:rPr>
              <a:t>Séparation Propre des Préoccupations</a:t>
            </a:r>
            <a:endParaRPr sz="1100"/>
          </a:p>
          <a:p>
            <a:pPr marL="0" marR="0" lvl="0" indent="0" algn="l" rtl="0">
              <a:spcBef>
                <a:spcPts val="0"/>
              </a:spcBef>
              <a:spcAft>
                <a:spcPts val="0"/>
              </a:spcAft>
              <a:buNone/>
            </a:pPr>
            <a:br>
              <a:rPr lang="en" sz="1100" b="0" i="0" u="none" strike="noStrike" cap="none">
                <a:solidFill>
                  <a:srgbClr val="464646"/>
                </a:solidFill>
                <a:latin typeface="Calibri"/>
                <a:ea typeface="Calibri"/>
                <a:cs typeface="Calibri"/>
                <a:sym typeface="Calibri"/>
              </a:rPr>
            </a:br>
            <a:r>
              <a:rPr lang="en" sz="1100" b="0" i="0" u="none" strike="noStrike" cap="none">
                <a:solidFill>
                  <a:srgbClr val="464646"/>
                </a:solidFill>
                <a:latin typeface="Calibri"/>
                <a:ea typeface="Calibri"/>
                <a:cs typeface="Calibri"/>
                <a:sym typeface="Calibri"/>
              </a:rPr>
              <a:t>Sélection de variable et recherche de coupure sont découp lées. Chaque étape a une justification statistique claire.</a:t>
            </a:r>
            <a:endParaRPr sz="1100"/>
          </a:p>
        </p:txBody>
      </p:sp>
      <p:sp>
        <p:nvSpPr>
          <p:cNvPr id="279" name="Google Shape;279;p35"/>
          <p:cNvSpPr/>
          <p:nvPr/>
        </p:nvSpPr>
        <p:spPr>
          <a:xfrm>
            <a:off x="4732146" y="2331720"/>
            <a:ext cx="4183492" cy="1234440"/>
          </a:xfrm>
          <a:prstGeom prst="roundRect">
            <a:avLst>
              <a:gd name="adj" fmla="val 16667"/>
            </a:avLst>
          </a:prstGeom>
          <a:solidFill>
            <a:srgbClr val="FFFFFF"/>
          </a:solidFill>
          <a:ln w="9525" cap="flat" cmpd="sng">
            <a:solidFill>
              <a:srgbClr val="E67E2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400" b="1" i="0" u="none" strike="noStrike" cap="none">
                <a:solidFill>
                  <a:srgbClr val="E67E22"/>
                </a:solidFill>
                <a:latin typeface="Calibri"/>
                <a:ea typeface="Calibri"/>
                <a:cs typeface="Calibri"/>
                <a:sym typeface="Calibri"/>
              </a:rPr>
              <a:t>Traitement Robuste des Catégorielles</a:t>
            </a:r>
            <a:endParaRPr sz="1100"/>
          </a:p>
          <a:p>
            <a:pPr marL="0" marR="0" lvl="0" indent="0" algn="l" rtl="0">
              <a:spcBef>
                <a:spcPts val="0"/>
              </a:spcBef>
              <a:spcAft>
                <a:spcPts val="0"/>
              </a:spcAft>
              <a:buNone/>
            </a:pPr>
            <a:br>
              <a:rPr lang="en" sz="1100" b="0" i="0" u="none" strike="noStrike" cap="none">
                <a:solidFill>
                  <a:srgbClr val="464646"/>
                </a:solidFill>
                <a:latin typeface="Calibri"/>
                <a:ea typeface="Calibri"/>
                <a:cs typeface="Calibri"/>
                <a:sym typeface="Calibri"/>
              </a:rPr>
            </a:br>
            <a:r>
              <a:rPr lang="en" sz="1100" b="0" i="0" u="none" strike="noStrike" cap="none">
                <a:solidFill>
                  <a:srgbClr val="464646"/>
                </a:solidFill>
                <a:latin typeface="Calibri"/>
                <a:ea typeface="Calibri"/>
                <a:cs typeface="Calibri"/>
                <a:sym typeface="Calibri"/>
              </a:rPr>
              <a:t>Transformation CRIMCOORDS évite la recherche exponentielle de sous-ensembles. Pas de biais envers les variables multi-catégories.</a:t>
            </a:r>
            <a:endParaRPr sz="1100"/>
          </a:p>
        </p:txBody>
      </p:sp>
      <p:sp>
        <p:nvSpPr>
          <p:cNvPr id="280" name="Google Shape;280;p35"/>
          <p:cNvSpPr/>
          <p:nvPr/>
        </p:nvSpPr>
        <p:spPr>
          <a:xfrm>
            <a:off x="342909" y="3703320"/>
            <a:ext cx="4183492" cy="1234440"/>
          </a:xfrm>
          <a:prstGeom prst="roundRect">
            <a:avLst>
              <a:gd name="adj" fmla="val 16667"/>
            </a:avLst>
          </a:prstGeom>
          <a:solidFill>
            <a:srgbClr val="FFFFFF"/>
          </a:solidFill>
          <a:ln w="9525" cap="flat" cmpd="sng">
            <a:solidFill>
              <a:srgbClr val="34495E"/>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400" b="1" i="0" u="none" strike="noStrike" cap="none">
                <a:solidFill>
                  <a:srgbClr val="34495E"/>
                </a:solidFill>
                <a:latin typeface="Calibri"/>
                <a:ea typeface="Calibri"/>
                <a:cs typeface="Calibri"/>
                <a:sym typeface="Calibri"/>
              </a:rPr>
              <a:t>Rigueur Statistique</a:t>
            </a:r>
            <a:endParaRPr sz="1100"/>
          </a:p>
          <a:p>
            <a:pPr marL="0" marR="0" lvl="0" indent="0" algn="l" rtl="0">
              <a:spcBef>
                <a:spcPts val="0"/>
              </a:spcBef>
              <a:spcAft>
                <a:spcPts val="0"/>
              </a:spcAft>
              <a:buNone/>
            </a:pPr>
            <a:br>
              <a:rPr lang="en" sz="1100" b="0" i="0" u="none" strike="noStrike" cap="none">
                <a:solidFill>
                  <a:srgbClr val="464646"/>
                </a:solidFill>
                <a:latin typeface="Calibri"/>
                <a:ea typeface="Calibri"/>
                <a:cs typeface="Calibri"/>
                <a:sym typeface="Calibri"/>
              </a:rPr>
            </a:br>
            <a:r>
              <a:rPr lang="en" sz="1100" b="0" i="0" u="none" strike="noStrike" cap="none">
                <a:solidFill>
                  <a:srgbClr val="464646"/>
                </a:solidFill>
                <a:latin typeface="Calibri"/>
                <a:ea typeface="Calibri"/>
                <a:cs typeface="Calibri"/>
                <a:sym typeface="Calibri"/>
              </a:rPr>
              <a:t>Basé sur des tests bien établis : ANOVA, Chi-deux, Levene. Fondation théorique solide.</a:t>
            </a:r>
            <a:endParaRPr sz="1100"/>
          </a:p>
        </p:txBody>
      </p:sp>
      <p:sp>
        <p:nvSpPr>
          <p:cNvPr id="281" name="Google Shape;281;p35"/>
          <p:cNvSpPr/>
          <p:nvPr/>
        </p:nvSpPr>
        <p:spPr>
          <a:xfrm>
            <a:off x="4732146" y="3703320"/>
            <a:ext cx="4183492" cy="1234440"/>
          </a:xfrm>
          <a:prstGeom prst="roundRect">
            <a:avLst>
              <a:gd name="adj" fmla="val 16667"/>
            </a:avLst>
          </a:prstGeom>
          <a:solidFill>
            <a:srgbClr val="FFFFFF"/>
          </a:solidFill>
          <a:ln w="9525" cap="flat" cmpd="sng">
            <a:solidFill>
              <a:srgbClr val="1ABC9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400" b="1" i="0" u="none" strike="noStrike" cap="none">
                <a:solidFill>
                  <a:srgbClr val="1ABC9C"/>
                </a:solidFill>
                <a:latin typeface="Calibri"/>
                <a:ea typeface="Calibri"/>
                <a:cs typeface="Calibri"/>
                <a:sym typeface="Calibri"/>
              </a:rPr>
              <a:t>Résultats Interprétables</a:t>
            </a:r>
            <a:endParaRPr sz="1100"/>
          </a:p>
          <a:p>
            <a:pPr marL="0" marR="0" lvl="0" indent="0" algn="l" rtl="0">
              <a:spcBef>
                <a:spcPts val="0"/>
              </a:spcBef>
              <a:spcAft>
                <a:spcPts val="0"/>
              </a:spcAft>
              <a:buNone/>
            </a:pPr>
            <a:br>
              <a:rPr lang="en" sz="1100" b="0" i="0" u="none" strike="noStrike" cap="none">
                <a:solidFill>
                  <a:srgbClr val="464646"/>
                </a:solidFill>
                <a:latin typeface="Calibri"/>
                <a:ea typeface="Calibri"/>
                <a:cs typeface="Calibri"/>
                <a:sym typeface="Calibri"/>
              </a:rPr>
            </a:br>
            <a:r>
              <a:rPr lang="en" sz="1100" b="0" i="0" u="none" strike="noStrike" cap="none">
                <a:solidFill>
                  <a:srgbClr val="464646"/>
                </a:solidFill>
                <a:latin typeface="Calibri"/>
                <a:ea typeface="Calibri"/>
                <a:cs typeface="Calibri"/>
                <a:sym typeface="Calibri"/>
              </a:rPr>
              <a:t>La structure d'arbre binaire est facile à comprendre. Règles de décision claires à chaque nœud.</a:t>
            </a:r>
            <a:endParaRPr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6"/>
          <p:cNvSpPr/>
          <p:nvPr/>
        </p:nvSpPr>
        <p:spPr>
          <a:xfrm>
            <a:off x="0" y="0"/>
            <a:ext cx="9144015" cy="822960"/>
          </a:xfrm>
          <a:prstGeom prst="rect">
            <a:avLst/>
          </a:prstGeom>
          <a:solidFill>
            <a:srgbClr val="19375F"/>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288" name="Google Shape;288;p36"/>
          <p:cNvSpPr txBox="1"/>
          <p:nvPr/>
        </p:nvSpPr>
        <p:spPr>
          <a:xfrm>
            <a:off x="342909" y="205740"/>
            <a:ext cx="8458197" cy="54864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2700" b="1" i="0" u="none" strike="noStrike" cap="none">
                <a:solidFill>
                  <a:srgbClr val="FFFFFF"/>
                </a:solidFill>
                <a:latin typeface="Calibri"/>
                <a:ea typeface="Calibri"/>
                <a:cs typeface="Calibri"/>
                <a:sym typeface="Calibri"/>
              </a:rPr>
              <a:t>Limitations de QUEST</a:t>
            </a:r>
            <a:endParaRPr sz="1100"/>
          </a:p>
        </p:txBody>
      </p:sp>
      <p:sp>
        <p:nvSpPr>
          <p:cNvPr id="289" name="Google Shape;289;p36"/>
          <p:cNvSpPr/>
          <p:nvPr/>
        </p:nvSpPr>
        <p:spPr>
          <a:xfrm>
            <a:off x="342909" y="960120"/>
            <a:ext cx="4183492" cy="1234440"/>
          </a:xfrm>
          <a:prstGeom prst="roundRect">
            <a:avLst>
              <a:gd name="adj" fmla="val 16667"/>
            </a:avLst>
          </a:prstGeom>
          <a:solidFill>
            <a:srgbClr val="FFFCF8"/>
          </a:solidFill>
          <a:ln w="9525" cap="flat" cmpd="sng">
            <a:solidFill>
              <a:srgbClr val="C89664"/>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300" b="1" i="0" u="none" strike="noStrike" cap="none">
                <a:solidFill>
                  <a:srgbClr val="B46432"/>
                </a:solidFill>
                <a:latin typeface="Calibri"/>
                <a:ea typeface="Calibri"/>
                <a:cs typeface="Calibri"/>
                <a:sym typeface="Calibri"/>
              </a:rPr>
              <a:t>Coupures Binaires Uniquement</a:t>
            </a:r>
            <a:endParaRPr sz="1100"/>
          </a:p>
          <a:p>
            <a:pPr marL="0" marR="0" lvl="0" indent="0" algn="l" rtl="0">
              <a:spcBef>
                <a:spcPts val="0"/>
              </a:spcBef>
              <a:spcAft>
                <a:spcPts val="0"/>
              </a:spcAft>
              <a:buNone/>
            </a:pPr>
            <a:br>
              <a:rPr lang="en" sz="1000" b="0" i="0" u="none" strike="noStrike" cap="none">
                <a:solidFill>
                  <a:srgbClr val="50463C"/>
                </a:solidFill>
                <a:latin typeface="Calibri"/>
                <a:ea typeface="Calibri"/>
                <a:cs typeface="Calibri"/>
                <a:sym typeface="Calibri"/>
              </a:rPr>
            </a:br>
            <a:r>
              <a:rPr lang="en" sz="1000" b="0" i="0" u="none" strike="noStrike" cap="none">
                <a:solidFill>
                  <a:srgbClr val="50463C"/>
                </a:solidFill>
                <a:latin typeface="Calibri"/>
                <a:ea typeface="Calibri"/>
                <a:cs typeface="Calibri"/>
                <a:sym typeface="Calibri"/>
              </a:rPr>
              <a:t>Contrairement à C4.5, QUEST ne peut créer que des coupures à deux voies. Les coupures multi-voies catégorielles nécessitent plusieurs niveaux.</a:t>
            </a:r>
            <a:endParaRPr sz="1100"/>
          </a:p>
        </p:txBody>
      </p:sp>
      <p:sp>
        <p:nvSpPr>
          <p:cNvPr id="290" name="Google Shape;290;p36"/>
          <p:cNvSpPr/>
          <p:nvPr/>
        </p:nvSpPr>
        <p:spPr>
          <a:xfrm>
            <a:off x="4732146" y="960120"/>
            <a:ext cx="4183492" cy="1234440"/>
          </a:xfrm>
          <a:prstGeom prst="roundRect">
            <a:avLst>
              <a:gd name="adj" fmla="val 16667"/>
            </a:avLst>
          </a:prstGeom>
          <a:solidFill>
            <a:srgbClr val="FFFCF8"/>
          </a:solidFill>
          <a:ln w="9525" cap="flat" cmpd="sng">
            <a:solidFill>
              <a:srgbClr val="C89664"/>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300" b="1" i="0" u="none" strike="noStrike" cap="none">
                <a:solidFill>
                  <a:srgbClr val="B46432"/>
                </a:solidFill>
                <a:latin typeface="Calibri"/>
                <a:ea typeface="Calibri"/>
                <a:cs typeface="Calibri"/>
                <a:sym typeface="Calibri"/>
              </a:rPr>
              <a:t>Mathématiques Plus Complexes</a:t>
            </a:r>
            <a:endParaRPr sz="1100"/>
          </a:p>
          <a:p>
            <a:pPr marL="0" marR="0" lvl="0" indent="0" algn="l" rtl="0">
              <a:spcBef>
                <a:spcPts val="0"/>
              </a:spcBef>
              <a:spcAft>
                <a:spcPts val="0"/>
              </a:spcAft>
              <a:buNone/>
            </a:pPr>
            <a:br>
              <a:rPr lang="en" sz="1000" b="0" i="0" u="none" strike="noStrike" cap="none">
                <a:solidFill>
                  <a:srgbClr val="50463C"/>
                </a:solidFill>
                <a:latin typeface="Calibri"/>
                <a:ea typeface="Calibri"/>
                <a:cs typeface="Calibri"/>
                <a:sym typeface="Calibri"/>
              </a:rPr>
            </a:br>
            <a:r>
              <a:rPr lang="en" sz="1000" b="0" i="0" u="none" strike="noStrike" cap="none">
                <a:solidFill>
                  <a:srgbClr val="50463C"/>
                </a:solidFill>
                <a:latin typeface="Calibri"/>
                <a:ea typeface="Calibri"/>
                <a:cs typeface="Calibri"/>
                <a:sym typeface="Calibri"/>
              </a:rPr>
              <a:t>Nécessite de comprendre ANOVA, Chi-deux, ADQ et SVD. Plus difficile à implémenter de zéro que CART.</a:t>
            </a:r>
            <a:endParaRPr sz="1100"/>
          </a:p>
        </p:txBody>
      </p:sp>
      <p:sp>
        <p:nvSpPr>
          <p:cNvPr id="291" name="Google Shape;291;p36"/>
          <p:cNvSpPr/>
          <p:nvPr/>
        </p:nvSpPr>
        <p:spPr>
          <a:xfrm>
            <a:off x="342909" y="2331720"/>
            <a:ext cx="4183492" cy="1234440"/>
          </a:xfrm>
          <a:prstGeom prst="roundRect">
            <a:avLst>
              <a:gd name="adj" fmla="val 16667"/>
            </a:avLst>
          </a:prstGeom>
          <a:solidFill>
            <a:srgbClr val="FFFCF8"/>
          </a:solidFill>
          <a:ln w="9525" cap="flat" cmpd="sng">
            <a:solidFill>
              <a:srgbClr val="C89664"/>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300" b="1" i="0" u="none" strike="noStrike" cap="none">
                <a:solidFill>
                  <a:srgbClr val="B46432"/>
                </a:solidFill>
                <a:latin typeface="Calibri"/>
                <a:ea typeface="Calibri"/>
                <a:cs typeface="Calibri"/>
                <a:sym typeface="Calibri"/>
              </a:rPr>
              <a:t>Classification Uniquement</a:t>
            </a:r>
            <a:endParaRPr sz="1100"/>
          </a:p>
          <a:p>
            <a:pPr marL="0" marR="0" lvl="0" indent="0" algn="l" rtl="0">
              <a:spcBef>
                <a:spcPts val="0"/>
              </a:spcBef>
              <a:spcAft>
                <a:spcPts val="0"/>
              </a:spcAft>
              <a:buNone/>
            </a:pPr>
            <a:br>
              <a:rPr lang="en" sz="1000" b="0" i="0" u="none" strike="noStrike" cap="none">
                <a:solidFill>
                  <a:srgbClr val="50463C"/>
                </a:solidFill>
                <a:latin typeface="Calibri"/>
                <a:ea typeface="Calibri"/>
                <a:cs typeface="Calibri"/>
                <a:sym typeface="Calibri"/>
              </a:rPr>
            </a:br>
            <a:r>
              <a:rPr lang="en" sz="1000" b="0" i="0" u="none" strike="noStrike" cap="none">
                <a:solidFill>
                  <a:srgbClr val="50463C"/>
                </a:solidFill>
                <a:latin typeface="Calibri"/>
                <a:ea typeface="Calibri"/>
                <a:cs typeface="Calibri"/>
                <a:sym typeface="Calibri"/>
              </a:rPr>
              <a:t>Principalement conçu pour les tâches de classification. La régression nécessite des modifications (voir l'algorithme GUIDE).</a:t>
            </a:r>
            <a:endParaRPr sz="1100"/>
          </a:p>
        </p:txBody>
      </p:sp>
      <p:sp>
        <p:nvSpPr>
          <p:cNvPr id="292" name="Google Shape;292;p36"/>
          <p:cNvSpPr/>
          <p:nvPr/>
        </p:nvSpPr>
        <p:spPr>
          <a:xfrm>
            <a:off x="4732146" y="2331720"/>
            <a:ext cx="4183492" cy="1234440"/>
          </a:xfrm>
          <a:prstGeom prst="roundRect">
            <a:avLst>
              <a:gd name="adj" fmla="val 16667"/>
            </a:avLst>
          </a:prstGeom>
          <a:solidFill>
            <a:srgbClr val="FFFCF8"/>
          </a:solidFill>
          <a:ln w="9525" cap="flat" cmpd="sng">
            <a:solidFill>
              <a:srgbClr val="C89664"/>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300" b="1" i="0" u="none" strike="noStrike" cap="none">
                <a:solidFill>
                  <a:srgbClr val="B46432"/>
                </a:solidFill>
                <a:latin typeface="Calibri"/>
                <a:ea typeface="Calibri"/>
                <a:cs typeface="Calibri"/>
                <a:sym typeface="Calibri"/>
              </a:rPr>
              <a:t>Hypothèse de Normalité</a:t>
            </a:r>
            <a:endParaRPr sz="1100"/>
          </a:p>
          <a:p>
            <a:pPr marL="0" marR="0" lvl="0" indent="0" algn="l" rtl="0">
              <a:spcBef>
                <a:spcPts val="0"/>
              </a:spcBef>
              <a:spcAft>
                <a:spcPts val="0"/>
              </a:spcAft>
              <a:buNone/>
            </a:pPr>
            <a:br>
              <a:rPr lang="en" sz="1000" b="0" i="0" u="none" strike="noStrike" cap="none">
                <a:solidFill>
                  <a:srgbClr val="50463C"/>
                </a:solidFill>
                <a:latin typeface="Calibri"/>
                <a:ea typeface="Calibri"/>
                <a:cs typeface="Calibri"/>
                <a:sym typeface="Calibri"/>
              </a:rPr>
            </a:br>
            <a:r>
              <a:rPr lang="en" sz="1000" b="0" i="0" u="none" strike="noStrike" cap="none">
                <a:solidFill>
                  <a:srgbClr val="50463C"/>
                </a:solidFill>
                <a:latin typeface="Calibri"/>
                <a:ea typeface="Calibri"/>
                <a:cs typeface="Calibri"/>
                <a:sym typeface="Calibri"/>
              </a:rPr>
              <a:t>L'ADQ suppose la normalité conditionnelle à la classe. Peut ne pas trouver les coupures optimales pour des distributions très non-normales.</a:t>
            </a:r>
            <a:endParaRPr sz="1100"/>
          </a:p>
        </p:txBody>
      </p:sp>
      <p:sp>
        <p:nvSpPr>
          <p:cNvPr id="293" name="Google Shape;293;p36"/>
          <p:cNvSpPr/>
          <p:nvPr/>
        </p:nvSpPr>
        <p:spPr>
          <a:xfrm>
            <a:off x="342909" y="3703320"/>
            <a:ext cx="4183492" cy="1234440"/>
          </a:xfrm>
          <a:prstGeom prst="roundRect">
            <a:avLst>
              <a:gd name="adj" fmla="val 16667"/>
            </a:avLst>
          </a:prstGeom>
          <a:solidFill>
            <a:srgbClr val="FFFCF8"/>
          </a:solidFill>
          <a:ln w="9525" cap="flat" cmpd="sng">
            <a:solidFill>
              <a:srgbClr val="C89664"/>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300" b="1" i="0" u="none" strike="noStrike" cap="none">
                <a:solidFill>
                  <a:srgbClr val="B46432"/>
                </a:solidFill>
                <a:latin typeface="Calibri"/>
                <a:ea typeface="Calibri"/>
                <a:cs typeface="Calibri"/>
                <a:sym typeface="Calibri"/>
              </a:rPr>
              <a:t>Moins Intuitif que CART</a:t>
            </a:r>
            <a:endParaRPr sz="1100"/>
          </a:p>
          <a:p>
            <a:pPr marL="0" marR="0" lvl="0" indent="0" algn="l" rtl="0">
              <a:spcBef>
                <a:spcPts val="0"/>
              </a:spcBef>
              <a:spcAft>
                <a:spcPts val="0"/>
              </a:spcAft>
              <a:buNone/>
            </a:pPr>
            <a:br>
              <a:rPr lang="en" sz="1000" b="0" i="0" u="none" strike="noStrike" cap="none">
                <a:solidFill>
                  <a:srgbClr val="50463C"/>
                </a:solidFill>
                <a:latin typeface="Calibri"/>
                <a:ea typeface="Calibri"/>
                <a:cs typeface="Calibri"/>
                <a:sym typeface="Calibri"/>
              </a:rPr>
            </a:br>
            <a:r>
              <a:rPr lang="en" sz="1000" b="0" i="0" u="none" strike="noStrike" cap="none">
                <a:solidFill>
                  <a:srgbClr val="50463C"/>
                </a:solidFill>
                <a:latin typeface="Calibri"/>
                <a:ea typeface="Calibri"/>
                <a:cs typeface="Calibri"/>
                <a:sym typeface="Calibri"/>
              </a:rPr>
              <a:t>L'approche 'choisir la meilleure coupure' de CART est plus facile à expliquer que le cadre de tests statistiques de QUEST.</a:t>
            </a:r>
            <a:endParaRPr sz="1100"/>
          </a:p>
        </p:txBody>
      </p:sp>
      <p:sp>
        <p:nvSpPr>
          <p:cNvPr id="294" name="Google Shape;294;p36"/>
          <p:cNvSpPr/>
          <p:nvPr/>
        </p:nvSpPr>
        <p:spPr>
          <a:xfrm>
            <a:off x="4732146" y="3703320"/>
            <a:ext cx="4183492" cy="1234440"/>
          </a:xfrm>
          <a:prstGeom prst="roundRect">
            <a:avLst>
              <a:gd name="adj" fmla="val 16667"/>
            </a:avLst>
          </a:prstGeom>
          <a:solidFill>
            <a:srgbClr val="FFFCF8"/>
          </a:solidFill>
          <a:ln w="9525" cap="flat" cmpd="sng">
            <a:solidFill>
              <a:srgbClr val="C89664"/>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300" b="1" i="0" u="none" strike="noStrike" cap="none">
                <a:solidFill>
                  <a:srgbClr val="B46432"/>
                </a:solidFill>
                <a:latin typeface="Calibri"/>
                <a:ea typeface="Calibri"/>
                <a:cs typeface="Calibri"/>
                <a:sym typeface="Calibri"/>
              </a:rPr>
              <a:t>Sensibilité aux Petites Classes</a:t>
            </a:r>
            <a:endParaRPr sz="1100"/>
          </a:p>
          <a:p>
            <a:pPr marL="0" marR="0" lvl="0" indent="0" algn="l" rtl="0">
              <a:spcBef>
                <a:spcPts val="0"/>
              </a:spcBef>
              <a:spcAft>
                <a:spcPts val="0"/>
              </a:spcAft>
              <a:buNone/>
            </a:pPr>
            <a:br>
              <a:rPr lang="en" sz="1000" b="0" i="0" u="none" strike="noStrike" cap="none">
                <a:solidFill>
                  <a:srgbClr val="50463C"/>
                </a:solidFill>
                <a:latin typeface="Calibri"/>
                <a:ea typeface="Calibri"/>
                <a:cs typeface="Calibri"/>
                <a:sym typeface="Calibri"/>
              </a:rPr>
            </a:br>
            <a:r>
              <a:rPr lang="en" sz="1000" b="0" i="0" u="none" strike="noStrike" cap="none">
                <a:solidFill>
                  <a:srgbClr val="50463C"/>
                </a:solidFill>
                <a:latin typeface="Calibri"/>
                <a:ea typeface="Calibri"/>
                <a:cs typeface="Calibri"/>
                <a:sym typeface="Calibri"/>
              </a:rPr>
              <a:t>La mise au point sur deux classes dans l'Algorithme 1 peut mal fonctionner quand les classes importantes sont petites.</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1" name="Google Shape;301;p37"/>
          <p:cNvSpPr/>
          <p:nvPr/>
        </p:nvSpPr>
        <p:spPr>
          <a:xfrm>
            <a:off x="685818" y="1371600"/>
            <a:ext cx="7772378" cy="1028700"/>
          </a:xfrm>
          <a:prstGeom prst="roundRect">
            <a:avLst>
              <a:gd name="adj" fmla="val 16667"/>
            </a:avLst>
          </a:prstGeom>
          <a:solidFill>
            <a:srgbClr val="2980B9"/>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500" b="0" i="1" u="none" strike="noStrike" cap="none" dirty="0">
                <a:solidFill>
                  <a:srgbClr val="FFFFFF"/>
                </a:solidFill>
                <a:latin typeface="Calibri"/>
                <a:ea typeface="Calibri"/>
                <a:cs typeface="Calibri"/>
                <a:sym typeface="Calibri"/>
              </a:rPr>
              <a:t>QUEST fournit une approche statistiquement rigoureuse de la construction d'arbres de décision qui élimine le biais de sélection de variables tout en maintenant l'efficacité computationnelle.</a:t>
            </a:r>
            <a:endParaRPr sz="1100" dirty="0"/>
          </a:p>
        </p:txBody>
      </p:sp>
      <p:sp>
        <p:nvSpPr>
          <p:cNvPr id="302" name="Google Shape;302;p37"/>
          <p:cNvSpPr/>
          <p:nvPr/>
        </p:nvSpPr>
        <p:spPr>
          <a:xfrm>
            <a:off x="685818" y="2606040"/>
            <a:ext cx="3772001" cy="2057400"/>
          </a:xfrm>
          <a:prstGeom prst="roundRect">
            <a:avLst>
              <a:gd name="adj" fmla="val 16667"/>
            </a:avLst>
          </a:prstGeom>
          <a:solidFill>
            <a:srgbClr val="234169"/>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500" b="1" i="0" u="none" strike="noStrike" cap="none">
                <a:solidFill>
                  <a:srgbClr val="FFFFFF"/>
                </a:solidFill>
                <a:latin typeface="Calibri"/>
                <a:ea typeface="Calibri"/>
                <a:cs typeface="Calibri"/>
                <a:sym typeface="Calibri"/>
              </a:rPr>
              <a:t>Pourquoi QUEST Est Important</a:t>
            </a:r>
            <a:endParaRPr sz="1100"/>
          </a:p>
          <a:p>
            <a:pPr marL="0" marR="0" lvl="0" indent="0" algn="l" rtl="0">
              <a:spcBef>
                <a:spcPts val="0"/>
              </a:spcBef>
              <a:spcAft>
                <a:spcPts val="0"/>
              </a:spcAft>
              <a:buNone/>
            </a:pPr>
            <a:r>
              <a:rPr lang="en" sz="1200" b="0" i="0" u="none" strike="noStrike" cap="none">
                <a:solidFill>
                  <a:srgbClr val="C8D2DC"/>
                </a:solidFill>
                <a:latin typeface="Calibri"/>
                <a:ea typeface="Calibri"/>
                <a:cs typeface="Calibri"/>
                <a:sym typeface="Calibri"/>
              </a:rPr>
              <a:t>• Résout le biais de sélection de CART/C4.5</a:t>
            </a:r>
            <a:endParaRPr sz="1100"/>
          </a:p>
          <a:p>
            <a:pPr marL="0" marR="0" lvl="0" indent="0" algn="l" rtl="0">
              <a:spcBef>
                <a:spcPts val="0"/>
              </a:spcBef>
              <a:spcAft>
                <a:spcPts val="0"/>
              </a:spcAft>
              <a:buNone/>
            </a:pPr>
            <a:r>
              <a:rPr lang="en" sz="1200" b="0" i="0" u="none" strike="noStrike" cap="none">
                <a:solidFill>
                  <a:srgbClr val="C8D2DC"/>
                </a:solidFill>
                <a:latin typeface="Calibri"/>
                <a:ea typeface="Calibri"/>
                <a:cs typeface="Calibri"/>
                <a:sym typeface="Calibri"/>
              </a:rPr>
              <a:t>• Fondation statistique solide</a:t>
            </a:r>
            <a:endParaRPr sz="1100"/>
          </a:p>
          <a:p>
            <a:pPr marL="0" marR="0" lvl="0" indent="0" algn="l" rtl="0">
              <a:spcBef>
                <a:spcPts val="0"/>
              </a:spcBef>
              <a:spcAft>
                <a:spcPts val="0"/>
              </a:spcAft>
              <a:buNone/>
            </a:pPr>
            <a:r>
              <a:rPr lang="en" sz="1200" b="0" i="0" u="none" strike="noStrike" cap="none">
                <a:solidFill>
                  <a:srgbClr val="C8D2DC"/>
                </a:solidFill>
                <a:latin typeface="Calibri"/>
                <a:ea typeface="Calibri"/>
                <a:cs typeface="Calibri"/>
                <a:sym typeface="Calibri"/>
              </a:rPr>
              <a:t>• Passe bien à l'échelle sur les grands jeux de données</a:t>
            </a:r>
            <a:endParaRPr sz="1100"/>
          </a:p>
          <a:p>
            <a:pPr marL="0" marR="0" lvl="0" indent="0" algn="l" rtl="0">
              <a:spcBef>
                <a:spcPts val="0"/>
              </a:spcBef>
              <a:spcAft>
                <a:spcPts val="0"/>
              </a:spcAft>
              <a:buNone/>
            </a:pPr>
            <a:r>
              <a:rPr lang="en" sz="1200" b="0" i="0" u="none" strike="noStrike" cap="none">
                <a:solidFill>
                  <a:srgbClr val="C8D2DC"/>
                </a:solidFill>
                <a:latin typeface="Calibri"/>
                <a:ea typeface="Calibri"/>
                <a:cs typeface="Calibri"/>
                <a:sym typeface="Calibri"/>
              </a:rPr>
              <a:t>• Traitement équitable de tous les types de variables</a:t>
            </a:r>
            <a:endParaRPr sz="1100"/>
          </a:p>
        </p:txBody>
      </p:sp>
      <p:sp>
        <p:nvSpPr>
          <p:cNvPr id="303" name="Google Shape;303;p37"/>
          <p:cNvSpPr/>
          <p:nvPr/>
        </p:nvSpPr>
        <p:spPr>
          <a:xfrm>
            <a:off x="4686196" y="2606040"/>
            <a:ext cx="3772001" cy="2057400"/>
          </a:xfrm>
          <a:prstGeom prst="roundRect">
            <a:avLst>
              <a:gd name="adj" fmla="val 16667"/>
            </a:avLst>
          </a:prstGeom>
          <a:solidFill>
            <a:srgbClr val="234169"/>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r>
              <a:rPr lang="en" sz="1500" b="1" i="0" u="none" strike="noStrike" cap="none">
                <a:solidFill>
                  <a:srgbClr val="FFFFFF"/>
                </a:solidFill>
                <a:latin typeface="Calibri"/>
                <a:ea typeface="Calibri"/>
                <a:cs typeface="Calibri"/>
                <a:sym typeface="Calibri"/>
              </a:rPr>
              <a:t>Quand Choisir QUEST</a:t>
            </a:r>
            <a:endParaRPr sz="1100"/>
          </a:p>
          <a:p>
            <a:pPr marL="0" marR="0" lvl="0" indent="0" algn="l" rtl="0">
              <a:spcBef>
                <a:spcPts val="0"/>
              </a:spcBef>
              <a:spcAft>
                <a:spcPts val="0"/>
              </a:spcAft>
              <a:buNone/>
            </a:pPr>
            <a:r>
              <a:rPr lang="en" sz="1200" b="0" i="0" u="none" strike="noStrike" cap="none">
                <a:solidFill>
                  <a:srgbClr val="C8D2DC"/>
                </a:solidFill>
                <a:latin typeface="Calibri"/>
                <a:ea typeface="Calibri"/>
                <a:cs typeface="Calibri"/>
                <a:sym typeface="Calibri"/>
              </a:rPr>
              <a:t>• Variables continues ET catégorielles mixtes</a:t>
            </a:r>
            <a:endParaRPr sz="1100"/>
          </a:p>
          <a:p>
            <a:pPr marL="0" marR="0" lvl="0" indent="0" algn="l" rtl="0">
              <a:spcBef>
                <a:spcPts val="0"/>
              </a:spcBef>
              <a:spcAft>
                <a:spcPts val="0"/>
              </a:spcAft>
              <a:buNone/>
            </a:pPr>
            <a:r>
              <a:rPr lang="en" sz="1200" b="0" i="0" u="none" strike="noStrike" cap="none">
                <a:solidFill>
                  <a:srgbClr val="C8D2DC"/>
                </a:solidFill>
                <a:latin typeface="Calibri"/>
                <a:ea typeface="Calibri"/>
                <a:cs typeface="Calibri"/>
                <a:sym typeface="Calibri"/>
              </a:rPr>
              <a:t>• Variables catégorielles à haute cardinalité</a:t>
            </a:r>
            <a:endParaRPr sz="1100"/>
          </a:p>
          <a:p>
            <a:pPr marL="0" marR="0" lvl="0" indent="0" algn="l" rtl="0">
              <a:spcBef>
                <a:spcPts val="0"/>
              </a:spcBef>
              <a:spcAft>
                <a:spcPts val="0"/>
              </a:spcAft>
              <a:buNone/>
            </a:pPr>
            <a:r>
              <a:rPr lang="en" sz="1200" b="0" i="0" u="none" strike="noStrike" cap="none">
                <a:solidFill>
                  <a:srgbClr val="C8D2DC"/>
                </a:solidFill>
                <a:latin typeface="Calibri"/>
                <a:ea typeface="Calibri"/>
                <a:cs typeface="Calibri"/>
                <a:sym typeface="Calibri"/>
              </a:rPr>
              <a:t>• Besoin de résultats justifiés statistiquement</a:t>
            </a:r>
            <a:endParaRPr sz="1100"/>
          </a:p>
          <a:p>
            <a:pPr marL="0" marR="0" lvl="0" indent="0" algn="l" rtl="0">
              <a:spcBef>
                <a:spcPts val="0"/>
              </a:spcBef>
              <a:spcAft>
                <a:spcPts val="0"/>
              </a:spcAft>
              <a:buNone/>
            </a:pPr>
            <a:r>
              <a:rPr lang="en" sz="1200" b="0" i="0" u="none" strike="noStrike" cap="none">
                <a:solidFill>
                  <a:srgbClr val="C8D2DC"/>
                </a:solidFill>
                <a:latin typeface="Calibri"/>
                <a:ea typeface="Calibri"/>
                <a:cs typeface="Calibri"/>
                <a:sym typeface="Calibri"/>
              </a:rPr>
              <a:t>• Jeux de données volumineux nécessitant l'efficacité</a:t>
            </a:r>
            <a:endParaRPr sz="1100"/>
          </a:p>
        </p:txBody>
      </p:sp>
      <p:sp>
        <p:nvSpPr>
          <p:cNvPr id="6" name="Google Shape;309;p38"/>
          <p:cNvSpPr/>
          <p:nvPr/>
        </p:nvSpPr>
        <p:spPr>
          <a:xfrm>
            <a:off x="0" y="0"/>
            <a:ext cx="9144015" cy="822960"/>
          </a:xfrm>
          <a:prstGeom prst="rect">
            <a:avLst/>
          </a:prstGeom>
          <a:solidFill>
            <a:srgbClr val="19375F"/>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lvl="0" algn="ctr"/>
            <a:r>
              <a:rPr lang="en" sz="3200" b="1" dirty="0">
                <a:solidFill>
                  <a:srgbClr val="FFFFFF"/>
                </a:solidFill>
                <a:latin typeface="Calibri"/>
                <a:ea typeface="Calibri"/>
                <a:cs typeface="Calibri"/>
                <a:sym typeface="Calibri"/>
              </a:rPr>
              <a:t>Conclusion</a:t>
            </a:r>
            <a:endParaRPr sz="32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8"/>
          <p:cNvSpPr/>
          <p:nvPr/>
        </p:nvSpPr>
        <p:spPr>
          <a:xfrm>
            <a:off x="0" y="0"/>
            <a:ext cx="9144015" cy="822960"/>
          </a:xfrm>
          <a:prstGeom prst="rect">
            <a:avLst/>
          </a:prstGeom>
          <a:solidFill>
            <a:srgbClr val="19375F"/>
          </a:solidFill>
          <a:ln>
            <a:noFill/>
          </a:ln>
          <a:effectLst>
            <a:outerShdw blurRad="40000" dist="2300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11" name="Google Shape;311;p38"/>
          <p:cNvSpPr txBox="1"/>
          <p:nvPr/>
        </p:nvSpPr>
        <p:spPr>
          <a:xfrm>
            <a:off x="480073" y="960120"/>
            <a:ext cx="8229819" cy="23849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b="0" i="0" u="none" strike="noStrike" cap="none" dirty="0">
                <a:solidFill>
                  <a:srgbClr val="3C3C3C"/>
                </a:solidFill>
                <a:latin typeface="Calibri"/>
                <a:ea typeface="Calibri"/>
                <a:cs typeface="Calibri"/>
                <a:sym typeface="Calibri"/>
              </a:rPr>
              <a:t>.</a:t>
            </a:r>
            <a:endParaRPr sz="1100" dirty="0"/>
          </a:p>
        </p:txBody>
      </p:sp>
      <p:sp>
        <p:nvSpPr>
          <p:cNvPr id="312" name="Google Shape;312;p38"/>
          <p:cNvSpPr txBox="1"/>
          <p:nvPr/>
        </p:nvSpPr>
        <p:spPr>
          <a:xfrm>
            <a:off x="0" y="2617611"/>
            <a:ext cx="8458197" cy="50010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2800" b="1" i="0" u="none" strike="noStrike" cap="none" dirty="0">
                <a:solidFill>
                  <a:srgbClr val="19375F"/>
                </a:solidFill>
                <a:latin typeface="Calibri"/>
                <a:ea typeface="Calibri"/>
                <a:cs typeface="Calibri"/>
                <a:sym typeface="Calibri"/>
              </a:rPr>
              <a:t>Merci de votre attention !</a:t>
            </a:r>
            <a:endParaRPr sz="2800"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765</TotalTime>
  <Words>4216</Words>
  <Application>Microsoft Office PowerPoint</Application>
  <PresentationFormat>Affichage à l'écran (16:9)</PresentationFormat>
  <Paragraphs>569</Paragraphs>
  <Slides>16</Slides>
  <Notes>14</Notes>
  <HiddenSlides>0</HiddenSlides>
  <MMClips>0</MMClips>
  <ScaleCrop>false</ScaleCrop>
  <HeadingPairs>
    <vt:vector size="6" baseType="variant">
      <vt:variant>
        <vt:lpstr>Polices utilisées</vt:lpstr>
      </vt:variant>
      <vt:variant>
        <vt:i4>3</vt:i4>
      </vt:variant>
      <vt:variant>
        <vt:lpstr>Thème</vt:lpstr>
      </vt:variant>
      <vt:variant>
        <vt:i4>2</vt:i4>
      </vt:variant>
      <vt:variant>
        <vt:lpstr>Titres des diapositives</vt:lpstr>
      </vt:variant>
      <vt:variant>
        <vt:i4>16</vt:i4>
      </vt:variant>
    </vt:vector>
  </HeadingPairs>
  <TitlesOfParts>
    <vt:vector size="21" baseType="lpstr">
      <vt:lpstr>Arial</vt:lpstr>
      <vt:lpstr>Calibri</vt:lpstr>
      <vt:lpstr>quote-cjk-patch</vt:lpstr>
      <vt:lpstr>Simple Light</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HP PRO</dc:creator>
  <cp:lastModifiedBy>HP PRO</cp:lastModifiedBy>
  <cp:revision>10</cp:revision>
  <dcterms:modified xsi:type="dcterms:W3CDTF">2025-12-17T09:14:49Z</dcterms:modified>
</cp:coreProperties>
</file>